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9"/>
    <p:restoredTop sz="94610"/>
  </p:normalViewPr>
  <p:slideViewPr>
    <p:cSldViewPr snapToGrid="0" snapToObjects="1">
      <p:cViewPr varScale="1">
        <p:scale>
          <a:sx n="203" d="100"/>
          <a:sy n="203" d="100"/>
        </p:scale>
        <p:origin x="8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086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  ·  BRUGKLAS  ·  LES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zegt wat?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en rechts — welke waarden sturen standpunten?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0" y="4297680"/>
            <a:ext cx="1371600" cy="13716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0" y="42976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 je schrift — werk in stilte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54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658368" y="1984248"/>
            <a:ext cx="493776" cy="493776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58368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speelden we vorige les? Noem de naam van het spel en één spelregel.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54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6419088" y="1984248"/>
            <a:ext cx="493776" cy="493776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19088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86600" y="178308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nieuwe regel zou jij op school invoeren? Leg uit waarom.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54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658368" y="3319272"/>
            <a:ext cx="493776" cy="493776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658368" y="3319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118104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iets dat jij oneerlijk vindt in onze samenleving? Leg uit.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026664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54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6419088" y="3319272"/>
            <a:ext cx="493776" cy="493776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6419088" y="3319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86600" y="3118104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 is… Maak de zin af in maximaal twee regels.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361688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5400000" algn="bl" rotWithShape="0">
              <a:srgbClr val="888888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658368" y="4654296"/>
            <a:ext cx="493776" cy="493776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658368" y="46542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445312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Weet jij wat je ouders stemmen? Of — wat denk jij dat ze zouden stemmen?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Maak kennis met vier mensen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heeft een eigen kijk op de wereld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4206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84CC1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2651760" cy="9144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4C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jaar · basisschoolleerkracht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 overheid moet zorgen voor wie het zelf niet redt. We doen het samen.”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02152" y="1783080"/>
            <a:ext cx="2651760" cy="4206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3502152" y="178308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3502152" y="1901952"/>
            <a:ext cx="265176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4416552" y="228600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416552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85032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85032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jaar · eigenaar bouwbedrijf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30752" y="41605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heb veel geluk gehad. Daarom betaal ik graag meer belasting voor de zorg en het onderwijs.”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47104" y="1783080"/>
            <a:ext cx="2651760" cy="4206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6547104" y="178308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6547104" y="1901952"/>
            <a:ext cx="2651760" cy="914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7461504" y="228600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461504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29984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29984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jaar · student rechten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75704" y="41605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“Vrijheid eerst. Mensen moeten zelf keuzes maken — de overheid moet zich er niet mee bemoeien.”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92056" y="1783080"/>
            <a:ext cx="2651760" cy="4206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9592056" y="178308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9592056" y="1901952"/>
            <a:ext cx="2651760" cy="914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10506456" y="228600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10506456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774936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774936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jaar · oud-vrachtwagenchauffeur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20656" y="41605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“Wie werkt, mag houden. Geen geklets, gewoon je broek ophouden.”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DE SLAG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het sorteerspel op je apparaat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658368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1415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KOM JE ERBIJ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adejeger.nl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 1  &gt;  Les 3  &gt;  sorteerspel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80960" y="27432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Sorteer de uitspraken bij de juiste persoon. Je werkt eerst zelf — daarna bespreken we het samen.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STELLING OM MEE TE STARTEN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1415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 overheid moet alle schoolboeken gratis maken voor iedere leerling.”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GROEN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Ja, de overheid moet dit regelen.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315468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26364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4652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Nee, mensen betalen dat zelf wel.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manieren van denken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2578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257800" cy="32004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Gelijkheid voorop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2798064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1024128" y="27066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dat de overheid zorgt voor wie het zelf niet redt.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9808" y="3511296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1024128" y="34198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Vindt dat rijken meer belasting mogen betalen: eerlijk delen.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" y="4224528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1024128" y="41330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Kiest eerder voor gratis zorg, hogere lonen, meer hulp van de staat.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9808" y="4937760"/>
            <a:ext cx="146304" cy="146304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1024128" y="4846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Kernwaarde: gelijkheid.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73952" y="1417320"/>
            <a:ext cx="52578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6473952" y="141732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6473952" y="1737360"/>
            <a:ext cx="525780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6473952" y="14173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48272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Vrijheid voorop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66560" y="2798064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7040880" y="27066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dat mensen zelf verantwoordelijk zijn voor hun eigen leven.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66560" y="35112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7040880" y="34198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Vindt dat je minder belasting moet betalen: je hebt het zelf verdiend.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66560" y="4224528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7040880" y="41330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Kiest eerder voor eigen keuze in zorg, minder regels, meer markt.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766560" y="4937760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7040880" y="4846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Kernwaarde: vrijheid.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het midden? Dat bestaat 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meeste partijen staan niet helemaal links of helemaal rechts, maar ergens daartussenin.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88720" y="2468880"/>
            <a:ext cx="9784080" cy="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1097280" y="1901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90008" y="1901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8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0" y="1901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57984" y="2386584"/>
            <a:ext cx="164592" cy="16459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2240280" y="2468880"/>
            <a:ext cx="0" cy="548640"/>
          </a:xfrm>
          <a:prstGeom prst="line">
            <a:avLst/>
          </a:prstGeom>
          <a:noFill/>
          <a:ln w="19050">
            <a:solidFill>
              <a:srgbClr val="15803D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320040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3200400" cy="25603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Linkse partijen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gelijkheid voorop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GroenLinks-PvdA · SP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16752" y="2386584"/>
            <a:ext cx="164592" cy="164592"/>
          </a:xfrm>
          <a:prstGeom prst="ellipse">
            <a:avLst/>
          </a:prstGeom>
          <a:solidFill>
            <a:srgbClr val="7C8B9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6099048" y="2468880"/>
            <a:ext cx="0" cy="548640"/>
          </a:xfrm>
          <a:prstGeom prst="line">
            <a:avLst/>
          </a:prstGeom>
          <a:noFill/>
          <a:ln w="19050">
            <a:solidFill>
              <a:srgbClr val="7C8B9B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4498848" y="3017520"/>
            <a:ext cx="320040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4498848" y="301752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7C8B9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0" name="Shape 18"/>
          <p:cNvSpPr/>
          <p:nvPr/>
        </p:nvSpPr>
        <p:spPr>
          <a:xfrm>
            <a:off x="4498848" y="3264408"/>
            <a:ext cx="3200400" cy="256032"/>
          </a:xfrm>
          <a:prstGeom prst="rect">
            <a:avLst/>
          </a:prstGeom>
          <a:solidFill>
            <a:srgbClr val="7C8B9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4498848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Middenpartijen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81728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 links én rechts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81728" y="4160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CDA · D66 · NSC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866376" y="2386584"/>
            <a:ext cx="164592" cy="164592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Shape 23"/>
          <p:cNvSpPr/>
          <p:nvPr/>
        </p:nvSpPr>
        <p:spPr>
          <a:xfrm>
            <a:off x="9948672" y="2468880"/>
            <a:ext cx="0" cy="54864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</a:ln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8348472" y="3017520"/>
            <a:ext cx="320040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8348472" y="301752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8348472" y="3264408"/>
            <a:ext cx="3200400" cy="25603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8348472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Rechtse partijen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31352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vrijheid voorop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31352" y="41605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VVD · PVV · BBB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ECHT VOORBEELD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 kinderopvang voor iedereen?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Stel: de overheid maakt kinderopvang helemaal gratis. Goed idee? Links en rechts denken hier anders over.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457200" y="2523744"/>
            <a:ext cx="5257800" cy="283464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zegt: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“Doen!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kan iedereen werken en krijgt elk kind dezelfde kans, ook als je ouders weinig geld hebben. We betalen het samen, via belasting van wie meer heeft.”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73952" y="224028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6473952" y="224028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6473952" y="2523744"/>
            <a:ext cx="5257800" cy="2834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6748272" y="22402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RECHTS zegt: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93992" y="301752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“Liever niet.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bestaat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iemand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betaalt het, en dat zijn hogere belastingen voor iedereen. Wie kinderen kiest, mag daar ook zelf voor zorgen en betalen.”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DE VIER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70225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was links, en wie rechts?</a:t>
            </a:r>
            <a:endParaRPr lang="en-US" sz="3200" dirty="0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F730F505-929A-6E91-E586-8DE5E7CEEFFA}"/>
              </a:ext>
            </a:extLst>
          </p:cNvPr>
          <p:cNvSpPr/>
          <p:nvPr/>
        </p:nvSpPr>
        <p:spPr>
          <a:xfrm>
            <a:off x="457200" y="1783080"/>
            <a:ext cx="2651760" cy="3275763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3DF6858-59E0-2730-B8F4-EC6FD8BBFC66}"/>
              </a:ext>
            </a:extLst>
          </p:cNvPr>
          <p:cNvSpPr/>
          <p:nvPr/>
        </p:nvSpPr>
        <p:spPr>
          <a:xfrm>
            <a:off x="457200" y="178308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84CC1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9C6FF3BE-636C-D31D-E095-078D6AB8F8E4}"/>
              </a:ext>
            </a:extLst>
          </p:cNvPr>
          <p:cNvSpPr/>
          <p:nvPr/>
        </p:nvSpPr>
        <p:spPr>
          <a:xfrm>
            <a:off x="457200" y="1901952"/>
            <a:ext cx="2651760" cy="9144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14040C91-21DC-CF3B-15FB-C416BB9B29F2}"/>
              </a:ext>
            </a:extLst>
          </p:cNvPr>
          <p:cNvSpPr/>
          <p:nvPr/>
        </p:nvSpPr>
        <p:spPr>
          <a:xfrm>
            <a:off x="1371600" y="228600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481AFFE0-688E-1E73-A6F7-58ADFD145DC4}"/>
              </a:ext>
            </a:extLst>
          </p:cNvPr>
          <p:cNvSpPr/>
          <p:nvPr/>
        </p:nvSpPr>
        <p:spPr>
          <a:xfrm>
            <a:off x="13716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4C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FE6C2A1D-CF51-FF80-90FF-ED77425A595E}"/>
              </a:ext>
            </a:extLst>
          </p:cNvPr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</a:t>
            </a:r>
            <a:endParaRPr lang="en-US" sz="2000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9DE6E33D-F3EB-A8D0-3FE1-336F4E16A123}"/>
              </a:ext>
            </a:extLst>
          </p:cNvPr>
          <p:cNvSpPr/>
          <p:nvPr/>
        </p:nvSpPr>
        <p:spPr>
          <a:xfrm>
            <a:off x="64008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jaar · basisschoolleerkracht</a:t>
            </a:r>
            <a:endParaRPr lang="en-US" sz="1150" dirty="0"/>
          </a:p>
        </p:txBody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A9AF4FB7-D4EE-B7AC-1698-62D245ADCB7F}"/>
              </a:ext>
            </a:extLst>
          </p:cNvPr>
          <p:cNvSpPr/>
          <p:nvPr/>
        </p:nvSpPr>
        <p:spPr>
          <a:xfrm>
            <a:off x="685800" y="41605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 overheid moet zorgen voor wie het zelf niet redt. We doen het samen.”</a:t>
            </a:r>
            <a:endParaRPr lang="en-US" sz="1300" dirty="0"/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8588CDC6-7625-5BA0-84E0-BD9A87EFCE86}"/>
              </a:ext>
            </a:extLst>
          </p:cNvPr>
          <p:cNvSpPr/>
          <p:nvPr/>
        </p:nvSpPr>
        <p:spPr>
          <a:xfrm>
            <a:off x="3291840" y="1783080"/>
            <a:ext cx="2651760" cy="3275763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8FFB77CE-E56E-F823-D385-37E667CC2896}"/>
              </a:ext>
            </a:extLst>
          </p:cNvPr>
          <p:cNvSpPr/>
          <p:nvPr/>
        </p:nvSpPr>
        <p:spPr>
          <a:xfrm>
            <a:off x="3291840" y="178308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C007D324-B13A-19C1-BC96-3B34EE8DF47F}"/>
              </a:ext>
            </a:extLst>
          </p:cNvPr>
          <p:cNvSpPr/>
          <p:nvPr/>
        </p:nvSpPr>
        <p:spPr>
          <a:xfrm>
            <a:off x="3291840" y="1901952"/>
            <a:ext cx="265176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545CECAF-8122-8C38-58FE-FD2A52E705A0}"/>
              </a:ext>
            </a:extLst>
          </p:cNvPr>
          <p:cNvSpPr/>
          <p:nvPr/>
        </p:nvSpPr>
        <p:spPr>
          <a:xfrm>
            <a:off x="4206240" y="228600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5F72EA0F-A5D1-7807-7515-17D6AFD65D6A}"/>
              </a:ext>
            </a:extLst>
          </p:cNvPr>
          <p:cNvSpPr/>
          <p:nvPr/>
        </p:nvSpPr>
        <p:spPr>
          <a:xfrm>
            <a:off x="42062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615316BA-9E8A-675E-68DC-D54331A06B40}"/>
              </a:ext>
            </a:extLst>
          </p:cNvPr>
          <p:cNvSpPr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</a:t>
            </a:r>
            <a:endParaRPr lang="en-US" sz="2000" dirty="0"/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B2E37023-ACAE-8B0E-78CC-9C81AC589E47}"/>
              </a:ext>
            </a:extLst>
          </p:cNvPr>
          <p:cNvSpPr/>
          <p:nvPr/>
        </p:nvSpPr>
        <p:spPr>
          <a:xfrm>
            <a:off x="347472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jaar · eigenaar bouwbedrijf</a:t>
            </a:r>
            <a:endParaRPr lang="en-US" sz="1150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9526DB25-C9CC-5151-A6B7-A770D3D889B2}"/>
              </a:ext>
            </a:extLst>
          </p:cNvPr>
          <p:cNvSpPr/>
          <p:nvPr/>
        </p:nvSpPr>
        <p:spPr>
          <a:xfrm>
            <a:off x="3566160" y="4082471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heb veel geluk gehad. Daarom betaal ik graag meer belasting voor de zorg en het onderwijs.”</a:t>
            </a:r>
            <a:endParaRPr lang="en-US" sz="1300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3BEF7AE9-AB93-963E-2402-2847AFD2B2A2}"/>
              </a:ext>
            </a:extLst>
          </p:cNvPr>
          <p:cNvSpPr/>
          <p:nvPr/>
        </p:nvSpPr>
        <p:spPr>
          <a:xfrm>
            <a:off x="6172200" y="1783080"/>
            <a:ext cx="2651760" cy="3275763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4" name="Shape 19">
            <a:extLst>
              <a:ext uri="{FF2B5EF4-FFF2-40B4-BE49-F238E27FC236}">
                <a16:creationId xmlns:a16="http://schemas.microsoft.com/office/drawing/2014/main" id="{944724CC-D2E4-36BA-B5D1-FCE661947C1F}"/>
              </a:ext>
            </a:extLst>
          </p:cNvPr>
          <p:cNvSpPr/>
          <p:nvPr/>
        </p:nvSpPr>
        <p:spPr>
          <a:xfrm>
            <a:off x="6172200" y="178308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D8EA9160-B88C-C110-256A-73C1A714E834}"/>
              </a:ext>
            </a:extLst>
          </p:cNvPr>
          <p:cNvSpPr/>
          <p:nvPr/>
        </p:nvSpPr>
        <p:spPr>
          <a:xfrm>
            <a:off x="6172200" y="1901952"/>
            <a:ext cx="2651760" cy="914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2A68CCD8-C1F5-7D8E-E5A8-7A777E41F6FE}"/>
              </a:ext>
            </a:extLst>
          </p:cNvPr>
          <p:cNvSpPr/>
          <p:nvPr/>
        </p:nvSpPr>
        <p:spPr>
          <a:xfrm>
            <a:off x="7086600" y="2286000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7" name="Text 22">
            <a:extLst>
              <a:ext uri="{FF2B5EF4-FFF2-40B4-BE49-F238E27FC236}">
                <a16:creationId xmlns:a16="http://schemas.microsoft.com/office/drawing/2014/main" id="{36C0893C-CF8A-E018-6EDD-419183EEF33A}"/>
              </a:ext>
            </a:extLst>
          </p:cNvPr>
          <p:cNvSpPr/>
          <p:nvPr/>
        </p:nvSpPr>
        <p:spPr>
          <a:xfrm>
            <a:off x="70866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114668E2-7106-C20F-52DF-9E0DDEE12A99}"/>
              </a:ext>
            </a:extLst>
          </p:cNvPr>
          <p:cNvSpPr/>
          <p:nvPr/>
        </p:nvSpPr>
        <p:spPr>
          <a:xfrm>
            <a:off x="6355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Lisa</a:t>
            </a:r>
            <a:endParaRPr lang="en-US" sz="2000" dirty="0"/>
          </a:p>
        </p:txBody>
      </p:sp>
      <p:sp>
        <p:nvSpPr>
          <p:cNvPr id="79" name="Text 24">
            <a:extLst>
              <a:ext uri="{FF2B5EF4-FFF2-40B4-BE49-F238E27FC236}">
                <a16:creationId xmlns:a16="http://schemas.microsoft.com/office/drawing/2014/main" id="{1600E4CF-ABEB-8BE9-2AAC-EE64DDEF7522}"/>
              </a:ext>
            </a:extLst>
          </p:cNvPr>
          <p:cNvSpPr/>
          <p:nvPr/>
        </p:nvSpPr>
        <p:spPr>
          <a:xfrm>
            <a:off x="635508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jaar · student rechten</a:t>
            </a:r>
            <a:endParaRPr lang="en-US" sz="1150" dirty="0"/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2FBF03C8-0576-8670-2CFC-E328BA354DAA}"/>
              </a:ext>
            </a:extLst>
          </p:cNvPr>
          <p:cNvSpPr/>
          <p:nvPr/>
        </p:nvSpPr>
        <p:spPr>
          <a:xfrm>
            <a:off x="6501885" y="4111511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“Vrijheid eerst. Mensen moeten zelf keuzes maken — de overheid moet zich er niet mee bemoeien.”</a:t>
            </a:r>
            <a:endParaRPr lang="en-US" sz="1300" dirty="0"/>
          </a:p>
        </p:txBody>
      </p:sp>
      <p:sp>
        <p:nvSpPr>
          <p:cNvPr id="86" name="Shape 18">
            <a:extLst>
              <a:ext uri="{FF2B5EF4-FFF2-40B4-BE49-F238E27FC236}">
                <a16:creationId xmlns:a16="http://schemas.microsoft.com/office/drawing/2014/main" id="{B91E3CA1-68B6-D870-BCE8-CEA5D77485EA}"/>
              </a:ext>
            </a:extLst>
          </p:cNvPr>
          <p:cNvSpPr/>
          <p:nvPr/>
        </p:nvSpPr>
        <p:spPr>
          <a:xfrm>
            <a:off x="9079992" y="1875538"/>
            <a:ext cx="2651760" cy="3211755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76200" dist="25400" dir="5400000" algn="bl" rotWithShape="0">
              <a:srgbClr val="888888">
                <a:alpha val="13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81" name="Shape 29">
            <a:extLst>
              <a:ext uri="{FF2B5EF4-FFF2-40B4-BE49-F238E27FC236}">
                <a16:creationId xmlns:a16="http://schemas.microsoft.com/office/drawing/2014/main" id="{1CD07018-DD22-E225-4E74-711088E60982}"/>
              </a:ext>
            </a:extLst>
          </p:cNvPr>
          <p:cNvSpPr/>
          <p:nvPr/>
        </p:nvSpPr>
        <p:spPr>
          <a:xfrm>
            <a:off x="10046208" y="2259586"/>
            <a:ext cx="822960" cy="8229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B1A8BD60-F020-0B8D-D9C3-E7B4F8FF099D}"/>
              </a:ext>
            </a:extLst>
          </p:cNvPr>
          <p:cNvSpPr/>
          <p:nvPr/>
        </p:nvSpPr>
        <p:spPr>
          <a:xfrm>
            <a:off x="10046208" y="225958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600" dirty="0"/>
          </a:p>
        </p:txBody>
      </p:sp>
      <p:sp>
        <p:nvSpPr>
          <p:cNvPr id="83" name="Text 31">
            <a:extLst>
              <a:ext uri="{FF2B5EF4-FFF2-40B4-BE49-F238E27FC236}">
                <a16:creationId xmlns:a16="http://schemas.microsoft.com/office/drawing/2014/main" id="{073E8378-1597-7419-9310-493CA7EA3A89}"/>
              </a:ext>
            </a:extLst>
          </p:cNvPr>
          <p:cNvSpPr/>
          <p:nvPr/>
        </p:nvSpPr>
        <p:spPr>
          <a:xfrm>
            <a:off x="9314688" y="317398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Wim</a:t>
            </a:r>
            <a:endParaRPr lang="en-US" sz="2000" dirty="0"/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29E4F6EE-38F1-1D74-455C-CBF8FF155785}"/>
              </a:ext>
            </a:extLst>
          </p:cNvPr>
          <p:cNvSpPr/>
          <p:nvPr/>
        </p:nvSpPr>
        <p:spPr>
          <a:xfrm>
            <a:off x="9314688" y="353974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jaar · oud-vrachtwagenchauffeur</a:t>
            </a:r>
            <a:endParaRPr lang="en-US" sz="1150" dirty="0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18C32100-5242-CD35-4077-629D3BCAEB10}"/>
              </a:ext>
            </a:extLst>
          </p:cNvPr>
          <p:cNvSpPr/>
          <p:nvPr/>
        </p:nvSpPr>
        <p:spPr>
          <a:xfrm>
            <a:off x="9323247" y="4121063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“Wie werkt, mag houden. Geen geklets, gewoon je broek ophouden.”</a:t>
            </a:r>
            <a:endParaRPr lang="en-US" sz="1300" dirty="0"/>
          </a:p>
        </p:txBody>
      </p:sp>
      <p:sp>
        <p:nvSpPr>
          <p:cNvPr id="87" name="Shape 27">
            <a:extLst>
              <a:ext uri="{FF2B5EF4-FFF2-40B4-BE49-F238E27FC236}">
                <a16:creationId xmlns:a16="http://schemas.microsoft.com/office/drawing/2014/main" id="{662CC808-2124-FE75-3E74-B4AC95666C90}"/>
              </a:ext>
            </a:extLst>
          </p:cNvPr>
          <p:cNvSpPr/>
          <p:nvPr/>
        </p:nvSpPr>
        <p:spPr>
          <a:xfrm>
            <a:off x="9079992" y="1811530"/>
            <a:ext cx="2651760" cy="201168"/>
          </a:xfrm>
          <a:prstGeom prst="roundRect">
            <a:avLst>
              <a:gd name="adj" fmla="val 27273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457200" y="5305638"/>
            <a:ext cx="11622024" cy="1095234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1314207" y="5388500"/>
            <a:ext cx="9642182" cy="33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IN JE SCHRIFT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1854" y="5765764"/>
            <a:ext cx="10546080" cy="90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Noteer bij elke persoon: was die </a:t>
            </a:r>
            <a:r>
              <a:rPr lang="en-US" sz="18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r>
              <a:rPr lang="en-US" sz="1800" b="1" dirty="0" err="1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waarom?  Schrijf bij iedereen één zin die jouw keuze uitlegt.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Nog even doordenken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uitspraken vond je het lastigst om te plaatsen — en waarom?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880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heeft een eigen bouwbedrijf, maar denkt links. Wie had dat verwacht? Wat zegt dat?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023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op het ene onderwerp links denken, en op het andere rechts? Geef een voorbeeld.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VOORDAT JE GAAT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kant spreekt jou meer aan — links of rechts?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op waarom. Geef een voorbeeld van een standpunt dat bij jou past.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1560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1415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188720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wil ______________________________________________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45262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 wil _____________________________________________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in bij de deur.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1677</Words>
  <Application>Microsoft Macintosh PowerPoint</Application>
  <PresentationFormat>Widescreen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2 — Wie zegt wat?</dc:title>
  <dc:subject>PptxGenJS Presentation</dc:subject>
  <dc:creator>Levensbeschouwing — klas 1</dc:creator>
  <cp:lastModifiedBy>Alexander de Jeger</cp:lastModifiedBy>
  <cp:revision>2</cp:revision>
  <dcterms:created xsi:type="dcterms:W3CDTF">2026-06-29T06:30:13Z</dcterms:created>
  <dcterms:modified xsi:type="dcterms:W3CDTF">2026-06-29T10:36:07Z</dcterms:modified>
</cp:coreProperties>
</file>