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6301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ander de Jeger" userId="384ee8c3-c117-4237-b086-9811125ef759" providerId="ADAL" clId="{C95C0903-D049-56F1-87DE-19361C0ACDBD}"/>
    <pc:docChg chg="custSel modSld">
      <pc:chgData name="Alexander de Jeger" userId="384ee8c3-c117-4237-b086-9811125ef759" providerId="ADAL" clId="{C95C0903-D049-56F1-87DE-19361C0ACDBD}" dt="2026-06-29T09:29:41.380" v="4" actId="478"/>
      <pc:docMkLst>
        <pc:docMk/>
      </pc:docMkLst>
      <pc:sldChg chg="delSp mod">
        <pc:chgData name="Alexander de Jeger" userId="384ee8c3-c117-4237-b086-9811125ef759" providerId="ADAL" clId="{C95C0903-D049-56F1-87DE-19361C0ACDBD}" dt="2026-06-29T09:29:09.271" v="1" actId="478"/>
        <pc:sldMkLst>
          <pc:docMk/>
          <pc:sldMk cId="0" sldId="259"/>
        </pc:sldMkLst>
        <pc:spChg chg="del">
          <ac:chgData name="Alexander de Jeger" userId="384ee8c3-c117-4237-b086-9811125ef759" providerId="ADAL" clId="{C95C0903-D049-56F1-87DE-19361C0ACDBD}" dt="2026-06-29T09:29:07.887" v="0" actId="478"/>
          <ac:spMkLst>
            <pc:docMk/>
            <pc:sldMk cId="0" sldId="259"/>
            <ac:spMk id="15" creationId="{00000000-0000-0000-0000-000000000000}"/>
          </ac:spMkLst>
        </pc:spChg>
        <pc:spChg chg="del">
          <ac:chgData name="Alexander de Jeger" userId="384ee8c3-c117-4237-b086-9811125ef759" providerId="ADAL" clId="{C95C0903-D049-56F1-87DE-19361C0ACDBD}" dt="2026-06-29T09:29:09.271" v="1" actId="478"/>
          <ac:spMkLst>
            <pc:docMk/>
            <pc:sldMk cId="0" sldId="259"/>
            <ac:spMk id="16" creationId="{00000000-0000-0000-0000-000000000000}"/>
          </ac:spMkLst>
        </pc:spChg>
      </pc:sldChg>
      <pc:sldChg chg="delSp mod">
        <pc:chgData name="Alexander de Jeger" userId="384ee8c3-c117-4237-b086-9811125ef759" providerId="ADAL" clId="{C95C0903-D049-56F1-87DE-19361C0ACDBD}" dt="2026-06-29T09:29:28.602" v="2" actId="478"/>
        <pc:sldMkLst>
          <pc:docMk/>
          <pc:sldMk cId="0" sldId="264"/>
        </pc:sldMkLst>
        <pc:spChg chg="del">
          <ac:chgData name="Alexander de Jeger" userId="384ee8c3-c117-4237-b086-9811125ef759" providerId="ADAL" clId="{C95C0903-D049-56F1-87DE-19361C0ACDBD}" dt="2026-06-29T09:29:28.602" v="2" actId="478"/>
          <ac:spMkLst>
            <pc:docMk/>
            <pc:sldMk cId="0" sldId="264"/>
            <ac:spMk id="10" creationId="{00000000-0000-0000-0000-000000000000}"/>
          </ac:spMkLst>
        </pc:spChg>
      </pc:sldChg>
      <pc:sldChg chg="delSp mod">
        <pc:chgData name="Alexander de Jeger" userId="384ee8c3-c117-4237-b086-9811125ef759" providerId="ADAL" clId="{C95C0903-D049-56F1-87DE-19361C0ACDBD}" dt="2026-06-29T09:29:41.380" v="4" actId="478"/>
        <pc:sldMkLst>
          <pc:docMk/>
          <pc:sldMk cId="0" sldId="265"/>
        </pc:sldMkLst>
        <pc:spChg chg="del">
          <ac:chgData name="Alexander de Jeger" userId="384ee8c3-c117-4237-b086-9811125ef759" providerId="ADAL" clId="{C95C0903-D049-56F1-87DE-19361C0ACDBD}" dt="2026-06-29T09:29:39.627" v="3" actId="478"/>
          <ac:spMkLst>
            <pc:docMk/>
            <pc:sldMk cId="0" sldId="265"/>
            <ac:spMk id="7" creationId="{00000000-0000-0000-0000-000000000000}"/>
          </ac:spMkLst>
        </pc:spChg>
        <pc:spChg chg="del">
          <ac:chgData name="Alexander de Jeger" userId="384ee8c3-c117-4237-b086-9811125ef759" providerId="ADAL" clId="{C95C0903-D049-56F1-87DE-19361C0ACDBD}" dt="2026-06-29T09:29:41.380" v="4" actId="478"/>
          <ac:spMkLst>
            <pc:docMk/>
            <pc:sldMk cId="0" sldId="265"/>
            <ac:spMk id="8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96507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1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731520"/>
            <a:ext cx="2560320" cy="2560320"/>
          </a:xfrm>
          <a:prstGeom prst="ellipse">
            <a:avLst/>
          </a:prstGeom>
          <a:solidFill>
            <a:srgbClr val="C8932F">
              <a:alpha val="20000"/>
            </a:srgbClr>
          </a:solidFill>
          <a:ln w="12700">
            <a:solidFill>
              <a:srgbClr val="C8932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C89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LEVENSBESCHOUWING · LES 7 · WERELDRELIGIES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7772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4EC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Winti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8A7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Afro-Surinaamse religie &amp; culturele veerkracht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4663440"/>
            <a:ext cx="3200400" cy="36576"/>
          </a:xfrm>
          <a:prstGeom prst="rect">
            <a:avLst/>
          </a:prstGeom>
          <a:solidFill>
            <a:srgbClr val="C8932F"/>
          </a:solidFill>
          <a:ln w="12700">
            <a:solidFill>
              <a:srgbClr val="C8932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B23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Stille Start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A7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minuten · individueel · schrift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046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0D4B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5" name="Shape 3"/>
          <p:cNvSpPr/>
          <p:nvPr/>
        </p:nvSpPr>
        <p:spPr>
          <a:xfrm>
            <a:off x="777240" y="1600200"/>
            <a:ext cx="438912" cy="438912"/>
          </a:xfrm>
          <a:prstGeom prst="ellipse">
            <a:avLst/>
          </a:prstGeom>
          <a:solidFill>
            <a:srgbClr val="C8932F"/>
          </a:solidFill>
          <a:ln w="12700">
            <a:solidFill>
              <a:srgbClr val="C8932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" name="Text 4"/>
          <p:cNvSpPr/>
          <p:nvPr/>
        </p:nvSpPr>
        <p:spPr>
          <a:xfrm>
            <a:off x="777240" y="1600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17320" y="1481328"/>
            <a:ext cx="6949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betekent het gezegde "Ik ben omdat wij zijn"? Welke religie hoort daarbij?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8046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0D4B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9" name="Shape 7"/>
          <p:cNvSpPr/>
          <p:nvPr/>
        </p:nvSpPr>
        <p:spPr>
          <a:xfrm>
            <a:off x="777240" y="2697480"/>
            <a:ext cx="438912" cy="438912"/>
          </a:xfrm>
          <a:prstGeom prst="ellipse">
            <a:avLst/>
          </a:prstGeom>
          <a:solidFill>
            <a:srgbClr val="C8932F"/>
          </a:solidFill>
          <a:ln w="12700">
            <a:solidFill>
              <a:srgbClr val="C8932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0" name="Text 8"/>
          <p:cNvSpPr/>
          <p:nvPr/>
        </p:nvSpPr>
        <p:spPr>
          <a:xfrm>
            <a:off x="777240" y="26974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17320" y="2578608"/>
            <a:ext cx="6949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is karma? Noem ook een ander kernbegrip uit diezelfde religie.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3566160"/>
            <a:ext cx="8046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0D4B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13" name="Shape 11"/>
          <p:cNvSpPr/>
          <p:nvPr/>
        </p:nvSpPr>
        <p:spPr>
          <a:xfrm>
            <a:off x="777240" y="3794760"/>
            <a:ext cx="438912" cy="438912"/>
          </a:xfrm>
          <a:prstGeom prst="ellipse">
            <a:avLst/>
          </a:prstGeom>
          <a:solidFill>
            <a:srgbClr val="C8932F"/>
          </a:solidFill>
          <a:ln w="12700">
            <a:solidFill>
              <a:srgbClr val="C8932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4" name="Text 12"/>
          <p:cNvSpPr/>
          <p:nvPr/>
        </p:nvSpPr>
        <p:spPr>
          <a:xfrm>
            <a:off x="777240" y="37947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17320" y="3675888"/>
            <a:ext cx="6949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Noem twee van de Vier Edele Waarheden van het boeddhisme.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B1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C89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juli 1863.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i="1" dirty="0">
                <a:solidFill>
                  <a:srgbClr val="F4EC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Keti Koti.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A7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"Gebroken ketens"  —  Sranan Tongo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8046720" cy="27432"/>
          </a:xfrm>
          <a:prstGeom prst="rect">
            <a:avLst/>
          </a:prstGeom>
          <a:solidFill>
            <a:srgbClr val="C8932F">
              <a:alpha val="50000"/>
            </a:srgbClr>
          </a:solidFill>
          <a:ln w="12700">
            <a:solidFill>
              <a:srgbClr val="C8932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" name="Text 4"/>
          <p:cNvSpPr/>
          <p:nvPr/>
        </p:nvSpPr>
        <p:spPr>
          <a:xfrm>
            <a:off x="548640" y="27889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4E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Elke 1 juli komen duizenden mensen samen in het Oosterpark in Amsterdam.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32918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89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denk je dat zij vieren of herdenken?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" y="44805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7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Rood / groen  -&gt;  Cold Call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B23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Vandaag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80467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6350">
            <a:solidFill>
              <a:srgbClr val="E0D4B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4" name="Shape 2"/>
          <p:cNvSpPr/>
          <p:nvPr/>
        </p:nvSpPr>
        <p:spPr>
          <a:xfrm>
            <a:off x="777240" y="1115568"/>
            <a:ext cx="420624" cy="420624"/>
          </a:xfrm>
          <a:prstGeom prst="ellipse">
            <a:avLst/>
          </a:prstGeom>
          <a:solidFill>
            <a:srgbClr val="2C5040"/>
          </a:solidFill>
          <a:ln w="12700">
            <a:solidFill>
              <a:srgbClr val="2C5040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5" name="Text 3"/>
          <p:cNvSpPr/>
          <p:nvPr/>
        </p:nvSpPr>
        <p:spPr>
          <a:xfrm>
            <a:off x="777240" y="11155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17320" y="1033272"/>
            <a:ext cx="6949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 kan uitleggen wat Winti is en hoe het is ontstaan.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80467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6350">
            <a:solidFill>
              <a:srgbClr val="E0D4B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8" name="Shape 6"/>
          <p:cNvSpPr/>
          <p:nvPr/>
        </p:nvSpPr>
        <p:spPr>
          <a:xfrm>
            <a:off x="777240" y="2029968"/>
            <a:ext cx="420624" cy="420624"/>
          </a:xfrm>
          <a:prstGeom prst="ellipse">
            <a:avLst/>
          </a:prstGeom>
          <a:solidFill>
            <a:srgbClr val="2C5040"/>
          </a:solidFill>
          <a:ln w="12700">
            <a:solidFill>
              <a:srgbClr val="2C5040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9" name="Text 7"/>
          <p:cNvSpPr/>
          <p:nvPr/>
        </p:nvSpPr>
        <p:spPr>
          <a:xfrm>
            <a:off x="777240" y="2029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17320" y="1947672"/>
            <a:ext cx="6949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 kan de verbinding leggen tussen Winti, slavernij en Keti Koti.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2788920"/>
            <a:ext cx="80467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6350">
            <a:solidFill>
              <a:srgbClr val="E0D4B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12" name="Shape 10"/>
          <p:cNvSpPr/>
          <p:nvPr/>
        </p:nvSpPr>
        <p:spPr>
          <a:xfrm>
            <a:off x="777240" y="2944368"/>
            <a:ext cx="420624" cy="420624"/>
          </a:xfrm>
          <a:prstGeom prst="ellipse">
            <a:avLst/>
          </a:prstGeom>
          <a:solidFill>
            <a:srgbClr val="2C5040"/>
          </a:solidFill>
          <a:ln w="12700">
            <a:solidFill>
              <a:srgbClr val="2C5040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3" name="Text 11"/>
          <p:cNvSpPr/>
          <p:nvPr/>
        </p:nvSpPr>
        <p:spPr>
          <a:xfrm>
            <a:off x="777240" y="29443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17320" y="2862072"/>
            <a:ext cx="6949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 kan vanuit een ander perspectief nadenken over cultuur en onderdrukking.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B23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Van slavernij naar Keti Koti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B5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17e–19e eeuw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056132" y="1097280"/>
            <a:ext cx="310896" cy="310896"/>
          </a:xfrm>
          <a:prstGeom prst="ellipse">
            <a:avLst/>
          </a:prstGeom>
          <a:solidFill>
            <a:srgbClr val="8B5E3C"/>
          </a:solidFill>
          <a:ln w="12700">
            <a:solidFill>
              <a:srgbClr val="8B5E3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5" name="Shape 3"/>
          <p:cNvSpPr/>
          <p:nvPr/>
        </p:nvSpPr>
        <p:spPr>
          <a:xfrm>
            <a:off x="1367028" y="1225296"/>
            <a:ext cx="1344168" cy="54864"/>
          </a:xfrm>
          <a:prstGeom prst="rect">
            <a:avLst/>
          </a:prstGeom>
          <a:solidFill>
            <a:srgbClr val="C4B49A"/>
          </a:solidFill>
          <a:ln w="12700">
            <a:solidFill>
              <a:srgbClr val="C4B49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1508760" cy="237744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6350">
            <a:solidFill>
              <a:srgbClr val="E0D4B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7" name="Text 5"/>
          <p:cNvSpPr/>
          <p:nvPr/>
        </p:nvSpPr>
        <p:spPr>
          <a:xfrm>
            <a:off x="530352" y="1627632"/>
            <a:ext cx="136245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B5E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Slavernij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8B5E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Suriname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0352" y="2514600"/>
            <a:ext cx="1362456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7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Afrikanen meegenomen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A7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naar plantages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075688" y="68580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C6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1800s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674620" y="1097280"/>
            <a:ext cx="310896" cy="310896"/>
          </a:xfrm>
          <a:prstGeom prst="ellipse">
            <a:avLst/>
          </a:prstGeom>
          <a:solidFill>
            <a:srgbClr val="9C6B42"/>
          </a:solidFill>
          <a:ln w="12700">
            <a:solidFill>
              <a:srgbClr val="9C6B4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1" name="Shape 9"/>
          <p:cNvSpPr/>
          <p:nvPr/>
        </p:nvSpPr>
        <p:spPr>
          <a:xfrm>
            <a:off x="2985516" y="1225296"/>
            <a:ext cx="1344168" cy="54864"/>
          </a:xfrm>
          <a:prstGeom prst="rect">
            <a:avLst/>
          </a:prstGeom>
          <a:solidFill>
            <a:srgbClr val="C4B49A"/>
          </a:solidFill>
          <a:ln w="12700">
            <a:solidFill>
              <a:srgbClr val="C4B49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2" name="Shape 10"/>
          <p:cNvSpPr/>
          <p:nvPr/>
        </p:nvSpPr>
        <p:spPr>
          <a:xfrm>
            <a:off x="2075688" y="1508760"/>
            <a:ext cx="1508760" cy="237744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6350">
            <a:solidFill>
              <a:srgbClr val="E0D4B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13" name="Text 11"/>
          <p:cNvSpPr/>
          <p:nvPr/>
        </p:nvSpPr>
        <p:spPr>
          <a:xfrm>
            <a:off x="2148840" y="1627632"/>
            <a:ext cx="136245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C6B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Winti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9C6B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verboden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148840" y="2514600"/>
            <a:ext cx="1362456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7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Plantage-eigenaren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A7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verbieden Afrikaanse religies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94176" y="68580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8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1820–1862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293108" y="1097280"/>
            <a:ext cx="310896" cy="310896"/>
          </a:xfrm>
          <a:prstGeom prst="ellipse">
            <a:avLst/>
          </a:prstGeom>
          <a:solidFill>
            <a:srgbClr val="A87A52"/>
          </a:solidFill>
          <a:ln w="12700">
            <a:solidFill>
              <a:srgbClr val="A87A5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7" name="Shape 15"/>
          <p:cNvSpPr/>
          <p:nvPr/>
        </p:nvSpPr>
        <p:spPr>
          <a:xfrm>
            <a:off x="4604004" y="1225296"/>
            <a:ext cx="1344168" cy="54864"/>
          </a:xfrm>
          <a:prstGeom prst="rect">
            <a:avLst/>
          </a:prstGeom>
          <a:solidFill>
            <a:srgbClr val="C4B49A"/>
          </a:solidFill>
          <a:ln w="12700">
            <a:solidFill>
              <a:srgbClr val="C4B49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8" name="Shape 16"/>
          <p:cNvSpPr/>
          <p:nvPr/>
        </p:nvSpPr>
        <p:spPr>
          <a:xfrm>
            <a:off x="3694176" y="1508760"/>
            <a:ext cx="1508760" cy="237744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6350">
            <a:solidFill>
              <a:srgbClr val="E0D4B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19" name="Text 17"/>
          <p:cNvSpPr/>
          <p:nvPr/>
        </p:nvSpPr>
        <p:spPr>
          <a:xfrm>
            <a:off x="3767328" y="1627632"/>
            <a:ext cx="136245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87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Geheime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A87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praktijk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767328" y="2514600"/>
            <a:ext cx="1362456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7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Trommen en dans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A7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het verborgen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312664" y="68580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88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juli 1863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911596" y="1097280"/>
            <a:ext cx="310896" cy="310896"/>
          </a:xfrm>
          <a:prstGeom prst="ellipse">
            <a:avLst/>
          </a:prstGeom>
          <a:solidFill>
            <a:srgbClr val="B88A62"/>
          </a:solidFill>
          <a:ln w="12700">
            <a:solidFill>
              <a:srgbClr val="B88A6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3" name="Shape 21"/>
          <p:cNvSpPr/>
          <p:nvPr/>
        </p:nvSpPr>
        <p:spPr>
          <a:xfrm>
            <a:off x="6222492" y="1225296"/>
            <a:ext cx="1344168" cy="54864"/>
          </a:xfrm>
          <a:prstGeom prst="rect">
            <a:avLst/>
          </a:prstGeom>
          <a:solidFill>
            <a:srgbClr val="C4B49A"/>
          </a:solidFill>
          <a:ln w="12700">
            <a:solidFill>
              <a:srgbClr val="C4B49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4" name="Shape 22"/>
          <p:cNvSpPr/>
          <p:nvPr/>
        </p:nvSpPr>
        <p:spPr>
          <a:xfrm>
            <a:off x="5312664" y="1508760"/>
            <a:ext cx="1508760" cy="237744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6350">
            <a:solidFill>
              <a:srgbClr val="E0D4B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25" name="Text 23"/>
          <p:cNvSpPr/>
          <p:nvPr/>
        </p:nvSpPr>
        <p:spPr>
          <a:xfrm>
            <a:off x="5385816" y="1627632"/>
            <a:ext cx="136245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88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Keti Koti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B88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emancipatie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385816" y="2514600"/>
            <a:ext cx="1362456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7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Afschaffing slavernij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A7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 kolonien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931152" y="68580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C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Vandaag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530084" y="1097280"/>
            <a:ext cx="310896" cy="310896"/>
          </a:xfrm>
          <a:prstGeom prst="ellipse">
            <a:avLst/>
          </a:prstGeom>
          <a:solidFill>
            <a:srgbClr val="2C5040"/>
          </a:solidFill>
          <a:ln w="12700">
            <a:solidFill>
              <a:srgbClr val="2C5040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9" name="Shape 27"/>
          <p:cNvSpPr/>
          <p:nvPr/>
        </p:nvSpPr>
        <p:spPr>
          <a:xfrm>
            <a:off x="6931152" y="1508760"/>
            <a:ext cx="1508760" cy="237744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6350">
            <a:solidFill>
              <a:srgbClr val="E0D4B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30" name="Text 28"/>
          <p:cNvSpPr/>
          <p:nvPr/>
        </p:nvSpPr>
        <p:spPr>
          <a:xfrm>
            <a:off x="7004304" y="1627632"/>
            <a:ext cx="136245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5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Winti erkend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2C5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Keti Koti herdacht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004304" y="2514600"/>
            <a:ext cx="1362456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7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Jaarlijks Oosterpark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A7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Amsterdam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B23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Winti: wat is het?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41148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E0D4B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4" name="Text 2"/>
          <p:cNvSpPr/>
          <p:nvPr/>
        </p:nvSpPr>
        <p:spPr>
          <a:xfrm>
            <a:off x="685800" y="1051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89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371600"/>
            <a:ext cx="3657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Afro-Surinaamse religie en levenswijze, ontstaan tijdens de slavernij. Mengreligie met Afrikaanse, inheemse Surinaamse en Europese elementen.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960120"/>
            <a:ext cx="39319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E0D4B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7" name="Text 5"/>
          <p:cNvSpPr/>
          <p:nvPr/>
        </p:nvSpPr>
        <p:spPr>
          <a:xfrm>
            <a:off x="4983480" y="10515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C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BONUMAN / DUMAN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983480" y="1371600"/>
            <a:ext cx="3474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Geestelijk leider, genezer en bemiddelaar. Legt contact met de winti's en geeft advies aan de gemeenschap.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37744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B23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vier winti's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816352"/>
            <a:ext cx="20116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6350">
            <a:solidFill>
              <a:srgbClr val="E0D4B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11" name="Shape 9"/>
          <p:cNvSpPr/>
          <p:nvPr/>
        </p:nvSpPr>
        <p:spPr>
          <a:xfrm>
            <a:off x="548640" y="2907792"/>
            <a:ext cx="1828800" cy="475488"/>
          </a:xfrm>
          <a:prstGeom prst="roundRect">
            <a:avLst>
              <a:gd name="adj" fmla="val 13462"/>
            </a:avLst>
          </a:prstGeom>
          <a:solidFill>
            <a:srgbClr val="8B5E3C">
              <a:alpha val="90000"/>
            </a:srgbClr>
          </a:solidFill>
          <a:ln w="12700">
            <a:solidFill>
              <a:srgbClr val="8B5E3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2" name="Text 10"/>
          <p:cNvSpPr/>
          <p:nvPr/>
        </p:nvSpPr>
        <p:spPr>
          <a:xfrm>
            <a:off x="548640" y="290779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Aarde-winti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6928" y="3438144"/>
            <a:ext cx="1792224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Verbonden met grond en aardse bestaan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633472" y="2816352"/>
            <a:ext cx="20116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6350">
            <a:solidFill>
              <a:srgbClr val="E0D4B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15" name="Shape 13"/>
          <p:cNvSpPr/>
          <p:nvPr/>
        </p:nvSpPr>
        <p:spPr>
          <a:xfrm>
            <a:off x="2724912" y="2907792"/>
            <a:ext cx="1828800" cy="475488"/>
          </a:xfrm>
          <a:prstGeom prst="roundRect">
            <a:avLst>
              <a:gd name="adj" fmla="val 13462"/>
            </a:avLst>
          </a:prstGeom>
          <a:solidFill>
            <a:srgbClr val="2C6B8A">
              <a:alpha val="90000"/>
            </a:srgbClr>
          </a:solidFill>
          <a:ln w="12700">
            <a:solidFill>
              <a:srgbClr val="2C6B8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6" name="Text 14"/>
          <p:cNvSpPr/>
          <p:nvPr/>
        </p:nvSpPr>
        <p:spPr>
          <a:xfrm>
            <a:off x="2724912" y="290779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Water-winti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43200" y="3438144"/>
            <a:ext cx="1792224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Verbonden met rivieren, zee en genezing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09744" y="2816352"/>
            <a:ext cx="20116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6350">
            <a:solidFill>
              <a:srgbClr val="E0D4B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19" name="Shape 17"/>
          <p:cNvSpPr/>
          <p:nvPr/>
        </p:nvSpPr>
        <p:spPr>
          <a:xfrm>
            <a:off x="4901184" y="2907792"/>
            <a:ext cx="1828800" cy="475488"/>
          </a:xfrm>
          <a:prstGeom prst="roundRect">
            <a:avLst>
              <a:gd name="adj" fmla="val 13462"/>
            </a:avLst>
          </a:prstGeom>
          <a:solidFill>
            <a:srgbClr val="2C5040">
              <a:alpha val="90000"/>
            </a:srgbClr>
          </a:solidFill>
          <a:ln w="12700">
            <a:solidFill>
              <a:srgbClr val="2C504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0" name="Text 18"/>
          <p:cNvSpPr/>
          <p:nvPr/>
        </p:nvSpPr>
        <p:spPr>
          <a:xfrm>
            <a:off x="4901184" y="290779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Bos-winti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19472" y="3438144"/>
            <a:ext cx="1792224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Verbonden met natuur en planten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986016" y="2816352"/>
            <a:ext cx="20116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6350">
            <a:solidFill>
              <a:srgbClr val="E0D4B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23" name="Shape 21"/>
          <p:cNvSpPr/>
          <p:nvPr/>
        </p:nvSpPr>
        <p:spPr>
          <a:xfrm>
            <a:off x="7077456" y="2907792"/>
            <a:ext cx="1828800" cy="475488"/>
          </a:xfrm>
          <a:prstGeom prst="roundRect">
            <a:avLst>
              <a:gd name="adj" fmla="val 13462"/>
            </a:avLst>
          </a:prstGeom>
          <a:solidFill>
            <a:srgbClr val="7A6A4A">
              <a:alpha val="90000"/>
            </a:srgbClr>
          </a:solidFill>
          <a:ln w="12700">
            <a:solidFill>
              <a:srgbClr val="7A6A4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4" name="Text 22"/>
          <p:cNvSpPr/>
          <p:nvPr/>
        </p:nvSpPr>
        <p:spPr>
          <a:xfrm>
            <a:off x="7077456" y="290779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Lucht-winti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095744" y="3438144"/>
            <a:ext cx="1792224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Verbonden met de hemel en voorspoed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B1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89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Schrijfmoment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7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minuten · individueel · schrift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8046720" cy="1645920"/>
          </a:xfrm>
          <a:prstGeom prst="roundRect">
            <a:avLst>
              <a:gd name="adj" fmla="val 6667"/>
            </a:avLst>
          </a:prstGeom>
          <a:solidFill>
            <a:srgbClr val="3B2010"/>
          </a:solidFill>
          <a:ln w="12700">
            <a:solidFill>
              <a:srgbClr val="C8932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5" name="Text 3"/>
          <p:cNvSpPr/>
          <p:nvPr/>
        </p:nvSpPr>
        <p:spPr>
          <a:xfrm>
            <a:off x="868680" y="1389888"/>
            <a:ext cx="74066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Stel: je bent een tot slaaf gemaakte Afro-Surinamer op een plantage in 1800. De eigenaar heeft zojuist al je religieuze objecten verbrand en Winti verboden.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30632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89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Schrijf 3 zinnen: wat doe jij? En waarom?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3639312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7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goed of fout antwoord — schrijf wat je echt denkt.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B1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89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Buffalo Soldier — Bob Marley (1983)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4572000" cy="3977640"/>
          </a:xfrm>
          <a:prstGeom prst="roundRect">
            <a:avLst>
              <a:gd name="adj" fmla="val 2299"/>
            </a:avLst>
          </a:prstGeom>
          <a:solidFill>
            <a:srgbClr val="3B2010"/>
          </a:solidFill>
          <a:ln w="10160">
            <a:solidFill>
              <a:srgbClr val="5C3A2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411480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4E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Stolen from Africa, brought to America
Fighting on arrival, fighting for survival
If you know your history
Then you would know where you coming from
</a:t>
            </a:r>
            <a:r>
              <a:rPr lang="en-US" sz="1300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
</a:t>
            </a:r>
            <a:r>
              <a:rPr lang="en-US" sz="1300" dirty="0">
                <a:solidFill>
                  <a:srgbClr val="D0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Gestolen uit Afrika, naar Amerika gebracht
Vechten bij aankomst, vechten om te overleven
Als je je geschiedenis kent
Dan weet je waar je vandaan komt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166360" y="822960"/>
            <a:ext cx="3566160" cy="3977640"/>
          </a:xfrm>
          <a:prstGeom prst="roundRect">
            <a:avLst>
              <a:gd name="adj" fmla="val 2564"/>
            </a:avLst>
          </a:prstGeom>
          <a:solidFill>
            <a:srgbClr val="FFFFFF">
              <a:alpha val="95000"/>
            </a:srgbClr>
          </a:solidFill>
          <a:ln w="10160">
            <a:solidFill>
              <a:srgbClr val="5C3A2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" name="Text 4"/>
          <p:cNvSpPr/>
          <p:nvPr/>
        </p:nvSpPr>
        <p:spPr>
          <a:xfrm>
            <a:off x="5394960" y="93268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89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JE SCHRIFT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49240" y="1371600"/>
            <a:ext cx="3200400" cy="960120"/>
          </a:xfrm>
          <a:prstGeom prst="roundRect">
            <a:avLst>
              <a:gd name="adj" fmla="val 7619"/>
            </a:avLst>
          </a:prstGeom>
          <a:solidFill>
            <a:srgbClr val="3B2010"/>
          </a:solidFill>
          <a:ln w="7620">
            <a:solidFill>
              <a:srgbClr val="7A5535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8" name="Text 6"/>
          <p:cNvSpPr/>
          <p:nvPr/>
        </p:nvSpPr>
        <p:spPr>
          <a:xfrm>
            <a:off x="5532120" y="1444752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4E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Wat heeft dit lied te maken met wat je nu over Winti weet?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349240" y="2468880"/>
            <a:ext cx="3200400" cy="960120"/>
          </a:xfrm>
          <a:prstGeom prst="roundRect">
            <a:avLst>
              <a:gd name="adj" fmla="val 7619"/>
            </a:avLst>
          </a:prstGeom>
          <a:solidFill>
            <a:srgbClr val="3B2010"/>
          </a:solidFill>
          <a:ln w="7620">
            <a:solidFill>
              <a:srgbClr val="7A5535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0" name="Text 8"/>
          <p:cNvSpPr/>
          <p:nvPr/>
        </p:nvSpPr>
        <p:spPr>
          <a:xfrm>
            <a:off x="5532120" y="2542032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4E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Wat hebben de Buffalo Soldiers en Afro-Surinamers gemeen?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349240" y="3566160"/>
            <a:ext cx="3200400" cy="960120"/>
          </a:xfrm>
          <a:prstGeom prst="roundRect">
            <a:avLst>
              <a:gd name="adj" fmla="val 7619"/>
            </a:avLst>
          </a:prstGeom>
          <a:solidFill>
            <a:srgbClr val="3B2010"/>
          </a:solidFill>
          <a:ln w="7620">
            <a:solidFill>
              <a:srgbClr val="7A5535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2" name="Text 10"/>
          <p:cNvSpPr/>
          <p:nvPr/>
        </p:nvSpPr>
        <p:spPr>
          <a:xfrm>
            <a:off x="5532120" y="3639312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4E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Muziek, dans en religie werden allebei verboden. Wat zegt dat?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B23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Stelling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804672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E0D4B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4" name="Text 2"/>
          <p:cNvSpPr/>
          <p:nvPr/>
        </p:nvSpPr>
        <p:spPr>
          <a:xfrm>
            <a:off x="822960" y="1051560"/>
            <a:ext cx="749808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3B23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"Keti Koti zou een nationale feestdag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i="1" dirty="0">
                <a:solidFill>
                  <a:srgbClr val="3B23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moeten zijn in Nederland."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30175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8A7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 je kaart. Schrijf in je schrift: wat is jouw standpunt en waarom?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3566160"/>
            <a:ext cx="3794760" cy="685800"/>
          </a:xfrm>
          <a:prstGeom prst="roundRect">
            <a:avLst>
              <a:gd name="adj" fmla="val 13333"/>
            </a:avLst>
          </a:prstGeom>
          <a:solidFill>
            <a:srgbClr val="A23C2B"/>
          </a:solidFill>
          <a:ln w="12700">
            <a:solidFill>
              <a:srgbClr val="A23C2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7" name="Text 5"/>
          <p:cNvSpPr/>
          <p:nvPr/>
        </p:nvSpPr>
        <p:spPr>
          <a:xfrm>
            <a:off x="548640" y="3566160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ROOD — niet mee eens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00600" y="3566160"/>
            <a:ext cx="3794760" cy="685800"/>
          </a:xfrm>
          <a:prstGeom prst="roundRect">
            <a:avLst>
              <a:gd name="adj" fmla="val 13333"/>
            </a:avLst>
          </a:prstGeom>
          <a:solidFill>
            <a:srgbClr val="5C7A4A"/>
          </a:solidFill>
          <a:ln w="12700">
            <a:solidFill>
              <a:srgbClr val="5C7A4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9" name="Text 7"/>
          <p:cNvSpPr/>
          <p:nvPr/>
        </p:nvSpPr>
        <p:spPr>
          <a:xfrm>
            <a:off x="4800600" y="3566160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GROEN — mee eens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B1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89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Exit ticket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09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Wordt de Stille Start van de volgende les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046720" cy="1828800"/>
          </a:xfrm>
          <a:prstGeom prst="roundRect">
            <a:avLst>
              <a:gd name="adj" fmla="val 6000"/>
            </a:avLst>
          </a:prstGeom>
          <a:solidFill>
            <a:srgbClr val="3B2010"/>
          </a:solidFill>
          <a:ln w="12700">
            <a:solidFill>
              <a:srgbClr val="C8932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5" name="Text 3"/>
          <p:cNvSpPr/>
          <p:nvPr/>
        </p:nvSpPr>
        <p:spPr>
          <a:xfrm>
            <a:off x="822960" y="1508760"/>
            <a:ext cx="7498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 in een zin uit: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waarom was Winti meer dan alleen een religie?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33375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A09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Schrift — laatste 3 minuten van de les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915</Words>
  <Application>Microsoft Macintosh PowerPoint</Application>
  <PresentationFormat>On-screen Show (16:9)</PresentationFormat>
  <Paragraphs>106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Winti — Levensbeschouwing</dc:title>
  <dc:subject>PptxGenJS Presentation</dc:subject>
  <dc:creator>PptxGenJS</dc:creator>
  <cp:lastModifiedBy>Alexander de Jeger</cp:lastModifiedBy>
  <cp:revision>1</cp:revision>
  <dcterms:created xsi:type="dcterms:W3CDTF">2026-06-27T18:34:44Z</dcterms:created>
  <dcterms:modified xsi:type="dcterms:W3CDTF">2026-06-29T09:29:48Z</dcterms:modified>
</cp:coreProperties>
</file>