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356" r:id="rId8"/>
    <p:sldId id="262" r:id="rId9"/>
    <p:sldId id="357" r:id="rId1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164"/>
  </p:normalViewPr>
  <p:slideViewPr>
    <p:cSldViewPr snapToGrid="0" snapToObjects="1">
      <p:cViewPr varScale="1">
        <p:scale>
          <a:sx n="163" d="100"/>
          <a:sy n="163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de Jeger" userId="384ee8c3-c117-4237-b086-9811125ef759" providerId="ADAL" clId="{C95C0903-D049-56F1-87DE-19361C0ACDBD}"/>
    <pc:docChg chg="custSel modSld">
      <pc:chgData name="Alexander de Jeger" userId="384ee8c3-c117-4237-b086-9811125ef759" providerId="ADAL" clId="{C95C0903-D049-56F1-87DE-19361C0ACDBD}" dt="2026-06-29T09:29:41.380" v="4" actId="478"/>
      <pc:docMkLst>
        <pc:docMk/>
      </pc:docMkLst>
      <pc:sldChg chg="delSp mod">
        <pc:chgData name="Alexander de Jeger" userId="384ee8c3-c117-4237-b086-9811125ef759" providerId="ADAL" clId="{C95C0903-D049-56F1-87DE-19361C0ACDBD}" dt="2026-06-29T09:29:09.271" v="1" actId="478"/>
        <pc:sldMkLst>
          <pc:docMk/>
          <pc:sldMk cId="0" sldId="259"/>
        </pc:sldMkLst>
        <pc:spChg chg="del">
          <ac:chgData name="Alexander de Jeger" userId="384ee8c3-c117-4237-b086-9811125ef759" providerId="ADAL" clId="{C95C0903-D049-56F1-87DE-19361C0ACDBD}" dt="2026-06-29T09:29:07.887" v="0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Alexander de Jeger" userId="384ee8c3-c117-4237-b086-9811125ef759" providerId="ADAL" clId="{C95C0903-D049-56F1-87DE-19361C0ACDBD}" dt="2026-06-29T09:29:09.271" v="1" actId="478"/>
          <ac:spMkLst>
            <pc:docMk/>
            <pc:sldMk cId="0" sldId="259"/>
            <ac:spMk id="16" creationId="{00000000-0000-0000-0000-000000000000}"/>
          </ac:spMkLst>
        </pc:spChg>
      </pc:sldChg>
      <pc:sldChg chg="delSp mod">
        <pc:chgData name="Alexander de Jeger" userId="384ee8c3-c117-4237-b086-9811125ef759" providerId="ADAL" clId="{C95C0903-D049-56F1-87DE-19361C0ACDBD}" dt="2026-06-29T09:29:28.602" v="2" actId="478"/>
        <pc:sldMkLst>
          <pc:docMk/>
          <pc:sldMk cId="0" sldId="264"/>
        </pc:sldMkLst>
        <pc:spChg chg="del">
          <ac:chgData name="Alexander de Jeger" userId="384ee8c3-c117-4237-b086-9811125ef759" providerId="ADAL" clId="{C95C0903-D049-56F1-87DE-19361C0ACDBD}" dt="2026-06-29T09:29:28.602" v="2" actId="478"/>
          <ac:spMkLst>
            <pc:docMk/>
            <pc:sldMk cId="0" sldId="264"/>
            <ac:spMk id="10" creationId="{00000000-0000-0000-0000-000000000000}"/>
          </ac:spMkLst>
        </pc:spChg>
      </pc:sldChg>
      <pc:sldChg chg="delSp mod">
        <pc:chgData name="Alexander de Jeger" userId="384ee8c3-c117-4237-b086-9811125ef759" providerId="ADAL" clId="{C95C0903-D049-56F1-87DE-19361C0ACDBD}" dt="2026-06-29T09:29:41.380" v="4" actId="478"/>
        <pc:sldMkLst>
          <pc:docMk/>
          <pc:sldMk cId="0" sldId="265"/>
        </pc:sldMkLst>
        <pc:spChg chg="del">
          <ac:chgData name="Alexander de Jeger" userId="384ee8c3-c117-4237-b086-9811125ef759" providerId="ADAL" clId="{C95C0903-D049-56F1-87DE-19361C0ACDBD}" dt="2026-06-29T09:29:39.627" v="3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Alexander de Jeger" userId="384ee8c3-c117-4237-b086-9811125ef759" providerId="ADAL" clId="{C95C0903-D049-56F1-87DE-19361C0ACDBD}" dt="2026-06-29T09:29:41.380" v="4" actId="478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65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E224-B970-6FC3-39BB-62382B3E4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50E2B-04B8-9F2A-BDD9-B81F029AA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284B8-801A-E7DC-A677-92C97681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18170-B114-314D-AEBB-8224A3D13567}" type="datetimeFigureOut">
              <a:rPr lang="en-NL" smtClean="0"/>
              <a:t>29/06/2026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F0837-DB30-AB15-FEB1-AA7867B7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0D315-5B90-604D-8F82-B5E964E3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2ED7-3695-5A4C-B912-63A590CD72E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192352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ATAIiOIeTKg?feature=oembed" TargetMode="Externa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2" Type="http://schemas.microsoft.com/office/2007/relationships/media" Target="../media/media1.m4a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C8932F">
              <a:alpha val="20000"/>
            </a:srgbClr>
          </a:solidFill>
          <a:ln w="12700">
            <a:solidFill>
              <a:srgbClr val="C8932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LES 7 · WERELDRELIGIES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4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Afro-Surinaamse religie &amp; culturele veerkracht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3200400" cy="36576"/>
          </a:xfrm>
          <a:prstGeom prst="rect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Stille Start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38912" cy="438912"/>
          </a:xfrm>
          <a:prstGeom prst="ellipse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48132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alle Nederlanders opeens in een ander continent moesten wonen, zouden ze dan denk je dezelfde cultuur behouden? Schrijf twee zinnen.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438912" cy="438912"/>
          </a:xfrm>
          <a:prstGeom prst="ellipse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7860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Stel: jouw religie of culturele gewoonten worden door de overheid verboden. Wat doe jij? Schrijf twee zinnen en leg uit waarom.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777240" y="3794760"/>
            <a:ext cx="438912" cy="438912"/>
          </a:xfrm>
          <a:prstGeom prst="ellipse">
            <a:avLst/>
          </a:prstGeom>
          <a:solidFill>
            <a:srgbClr val="C8932F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67588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één gewoonte, verhaal of ritueel dat van generatie op generatie wordt doorgegeven in jouw familie of omgeving. Beschrijf het in twee zinnen.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juli 1863.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F4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 Koti.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"Gebroken ketens"  —  Sranan Tongo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27432"/>
          </a:xfrm>
          <a:prstGeom prst="rect">
            <a:avLst/>
          </a:prstGeom>
          <a:solidFill>
            <a:srgbClr val="C8932F">
              <a:alpha val="50000"/>
            </a:srgbClr>
          </a:solidFill>
          <a:ln w="12700">
            <a:solidFill>
              <a:srgbClr val="C8932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1 juli komen duizenden mensen samen in het Oosterpark in Amsterdam.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denk je dat zij vieren of herdenken?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/ groen  -&gt;  Cold Call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Vandaag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Shape 2"/>
          <p:cNvSpPr/>
          <p:nvPr/>
        </p:nvSpPr>
        <p:spPr>
          <a:xfrm>
            <a:off x="777240" y="1115568"/>
            <a:ext cx="420624" cy="420624"/>
          </a:xfrm>
          <a:prstGeom prst="ellipse">
            <a:avLst/>
          </a:prstGeom>
          <a:solidFill>
            <a:srgbClr val="2C5040"/>
          </a:solidFill>
          <a:ln w="12700">
            <a:solidFill>
              <a:srgbClr val="2C50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77240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0332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uitleggen wat Winti is en hoe het is ontstaan.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777240" y="2029968"/>
            <a:ext cx="420624" cy="420624"/>
          </a:xfrm>
          <a:prstGeom prst="ellipse">
            <a:avLst/>
          </a:prstGeom>
          <a:solidFill>
            <a:srgbClr val="2C5040"/>
          </a:solidFill>
          <a:ln w="12700">
            <a:solidFill>
              <a:srgbClr val="2C50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9476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de verbinding leggen tussen Winti, slavernij en Keti Koti.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777240" y="2944368"/>
            <a:ext cx="420624" cy="420624"/>
          </a:xfrm>
          <a:prstGeom prst="ellipse">
            <a:avLst/>
          </a:prstGeom>
          <a:solidFill>
            <a:srgbClr val="2C5040"/>
          </a:solidFill>
          <a:ln w="12700">
            <a:solidFill>
              <a:srgbClr val="2C50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77724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vanuit een ander perspectief nadenken over cultuur en onderdrukking.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slavernij naar Keti Koti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17e–19e eeuw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" y="1097280"/>
            <a:ext cx="310896" cy="310896"/>
          </a:xfrm>
          <a:prstGeom prst="ellipse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367028" y="1225296"/>
            <a:ext cx="1344168" cy="54864"/>
          </a:xfrm>
          <a:prstGeom prst="rect">
            <a:avLst/>
          </a:prstGeom>
          <a:solidFill>
            <a:srgbClr val="C4B49A"/>
          </a:solidFill>
          <a:ln w="1270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Slavernij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Suriname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Afrikanen meegenomen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plantages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75688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74620" y="1097280"/>
            <a:ext cx="310896" cy="310896"/>
          </a:xfrm>
          <a:prstGeom prst="ellipse">
            <a:avLst/>
          </a:prstGeom>
          <a:solidFill>
            <a:srgbClr val="9C6B42"/>
          </a:solidFill>
          <a:ln w="12700">
            <a:solidFill>
              <a:srgbClr val="9C6B4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2985516" y="1225296"/>
            <a:ext cx="1344168" cy="54864"/>
          </a:xfrm>
          <a:prstGeom prst="rect">
            <a:avLst/>
          </a:prstGeom>
          <a:solidFill>
            <a:srgbClr val="C4B49A"/>
          </a:solidFill>
          <a:ln w="1270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2075688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2148840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6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C6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verboden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Plantage-eigenaren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verbieden Afrikaanse religies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94176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1820–1862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3108" y="1097280"/>
            <a:ext cx="310896" cy="310896"/>
          </a:xfrm>
          <a:prstGeom prst="ellipse">
            <a:avLst/>
          </a:prstGeom>
          <a:solidFill>
            <a:srgbClr val="A87A52"/>
          </a:solidFill>
          <a:ln w="12700">
            <a:solidFill>
              <a:srgbClr val="A87A5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4604004" y="1225296"/>
            <a:ext cx="1344168" cy="54864"/>
          </a:xfrm>
          <a:prstGeom prst="rect">
            <a:avLst/>
          </a:prstGeom>
          <a:solidFill>
            <a:srgbClr val="C4B49A"/>
          </a:solidFill>
          <a:ln w="1270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3694176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3767328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Geheime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praktijk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67328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Trommen en dans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het verborgen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12664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juli 1863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11596" y="1097280"/>
            <a:ext cx="310896" cy="310896"/>
          </a:xfrm>
          <a:prstGeom prst="ellipse">
            <a:avLst/>
          </a:prstGeom>
          <a:solidFill>
            <a:srgbClr val="B88A62"/>
          </a:solidFill>
          <a:ln w="12700">
            <a:solidFill>
              <a:srgbClr val="B88A6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6222492" y="1225296"/>
            <a:ext cx="1344168" cy="54864"/>
          </a:xfrm>
          <a:prstGeom prst="rect">
            <a:avLst/>
          </a:prstGeom>
          <a:solidFill>
            <a:srgbClr val="C4B49A"/>
          </a:solidFill>
          <a:ln w="12700">
            <a:solidFill>
              <a:srgbClr val="C4B4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5312664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5385816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 Koti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88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emancipatie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5816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Afschaffing slavernij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kolonien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31152" y="685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30084" y="1097280"/>
            <a:ext cx="310896" cy="310896"/>
          </a:xfrm>
          <a:prstGeom prst="ellipse">
            <a:avLst/>
          </a:prstGeom>
          <a:solidFill>
            <a:srgbClr val="2C5040"/>
          </a:solidFill>
          <a:ln w="12700">
            <a:solidFill>
              <a:srgbClr val="2C504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6931152" y="15087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004304" y="1627632"/>
            <a:ext cx="1362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Winti erkend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C5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 Koti herdacht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04304" y="2514600"/>
            <a:ext cx="13624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Jaarlijks Oosterpark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Winti: wat is het?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Afro-Surinaamse religie en levenswijze, ontstaan tijdens de slavernij. Mengreligie met Afrikaanse, inheemse Surinaamse en Europese elementen.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49834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BONUMAN / DUMAN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Geestelijk leider, genezer en bemiddelaar. Legt contact met de winti's en geeft advies aan de gemeenschap.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vier winti's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8B5E3C">
              <a:alpha val="90000"/>
            </a:srgbClr>
          </a:solidFill>
          <a:ln w="12700">
            <a:solidFill>
              <a:srgbClr val="8B5E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548640" y="2907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Aarde-winti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438144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Verbonden met grond en aardse bestaan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33472" y="2816352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2724912" y="2907792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2C6B8A">
              <a:alpha val="90000"/>
            </a:srgbClr>
          </a:solidFill>
          <a:ln w="12700">
            <a:solidFill>
              <a:srgbClr val="2C6B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724912" y="2907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Water-winti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438144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Verbonden met rivieren, zee en genezing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9744" y="2816352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4901184" y="2907792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2C5040">
              <a:alpha val="90000"/>
            </a:srgbClr>
          </a:solidFill>
          <a:ln w="12700">
            <a:solidFill>
              <a:srgbClr val="2C504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4901184" y="2907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Bos-winti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3438144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Verbonden met natuur en planten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86016" y="2816352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7077456" y="2907792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7A6A4A">
              <a:alpha val="90000"/>
            </a:srgbClr>
          </a:solidFill>
          <a:ln w="12700">
            <a:solidFill>
              <a:srgbClr val="7A6A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077456" y="2907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Lucht-winti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95744" y="3438144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Verbonden met de hemel en voorspoed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BB0A-29CB-F7FD-CD6F-C21ACA6B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4" name="Online Media 3" title="Surinam/Winti/trailer doc">
            <a:hlinkClick r:id="" action="ppaction://media"/>
            <a:extLst>
              <a:ext uri="{FF2B5EF4-FFF2-40B4-BE49-F238E27FC236}">
                <a16:creationId xmlns:a16="http://schemas.microsoft.com/office/drawing/2014/main" id="{F016A91D-DAC1-1385-6EEE-0CBD4020EBB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76555" y="142329"/>
            <a:ext cx="8599805" cy="485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Schrijfmoment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645920"/>
          </a:xfrm>
          <a:prstGeom prst="roundRect">
            <a:avLst>
              <a:gd name="adj" fmla="val 6667"/>
            </a:avLst>
          </a:prstGeom>
          <a:solidFill>
            <a:srgbClr val="3B2010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68680" y="1389888"/>
            <a:ext cx="7406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Stel: je bent een tot slaaf gemaakte Afro-Surinamer op een plantage in 1800. De eigenaar heeft zojuist al je religieuze objecten verbrand en Winti verboden.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Schrijf 3 zinnen: wat doe jij? En waarom?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393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goed of fout antwoord — schrijf wat je echt denkt.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00000"/>
            <a:ext cx="804672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800" b="1" dirty="0">
                <a:solidFill>
                  <a:srgbClr val="3B2314"/>
                </a:solidFill>
                <a:latin typeface="Cambria" pitchFamily="34" charset="0"/>
              </a:rPr>
              <a:t>Twee Waarheden, Één Leugen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100000"/>
            <a:ext cx="8046720" cy="3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Circle1"/>
          <p:cNvSpPr/>
          <p:nvPr/>
        </p:nvSpPr>
        <p:spPr>
          <a:xfrm>
            <a:off x="820000" y="1350000"/>
            <a:ext cx="480000" cy="480000"/>
          </a:xfrm>
          <a:prstGeom prst="ellipse">
            <a:avLst/>
          </a:prstGeom>
          <a:solidFill>
            <a:srgbClr val="C8932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nl-NL" sz="14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5" name="Step1Text"/>
          <p:cNvSpPr/>
          <p:nvPr/>
        </p:nvSpPr>
        <p:spPr>
          <a:xfrm>
            <a:off x="1450000" y="1300000"/>
            <a:ext cx="6900000" cy="5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600" b="1" dirty="0">
                <a:solidFill>
                  <a:srgbClr val="3B2314"/>
                </a:solidFill>
                <a:latin typeface="Calibri" pitchFamily="34" charset="0"/>
              </a:rPr>
              <a:t>Ga naar de website van de docent.</a:t>
            </a:r>
          </a:p>
        </p:txBody>
      </p:sp>
      <p:sp>
        <p:nvSpPr>
          <p:cNvPr id="10" name="Div1"/>
          <p:cNvSpPr/>
          <p:nvPr/>
        </p:nvSpPr>
        <p:spPr>
          <a:xfrm>
            <a:off x="820000" y="1950000"/>
            <a:ext cx="7500000" cy="2"/>
          </a:xfrm>
          <a:prstGeom prst="rect">
            <a:avLst/>
          </a:prstGeom>
          <a:solidFill>
            <a:srgbClr val="E0D4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6" name="Circle2"/>
          <p:cNvSpPr/>
          <p:nvPr/>
        </p:nvSpPr>
        <p:spPr>
          <a:xfrm>
            <a:off x="820000" y="2050000"/>
            <a:ext cx="480000" cy="480000"/>
          </a:xfrm>
          <a:prstGeom prst="ellipse">
            <a:avLst/>
          </a:prstGeom>
          <a:solidFill>
            <a:srgbClr val="C8932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nl-NL" sz="14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7" name="Step2Text"/>
          <p:cNvSpPr/>
          <p:nvPr/>
        </p:nvSpPr>
        <p:spPr>
          <a:xfrm>
            <a:off x="1450000" y="2000000"/>
            <a:ext cx="6900000" cy="5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600" b="1" dirty="0">
                <a:solidFill>
                  <a:srgbClr val="3B2314"/>
                </a:solidFill>
                <a:latin typeface="Calibri" pitchFamily="34" charset="0"/>
              </a:rPr>
              <a:t xml:space="preserve">Open de pagina </a:t>
            </a:r>
            <a:r>
              <a:rPr lang="nl-NL" sz="1600" b="1" i="1" dirty="0">
                <a:solidFill>
                  <a:srgbClr val="C8932F"/>
                </a:solidFill>
                <a:latin typeface="Calibri" pitchFamily="34" charset="0"/>
              </a:rPr>
              <a:t>Winti</a:t>
            </a:r>
            <a:r>
              <a:rPr lang="nl-NL" sz="1600" b="1" dirty="0">
                <a:solidFill>
                  <a:srgbClr val="3B2314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11" name="Div2"/>
          <p:cNvSpPr/>
          <p:nvPr/>
        </p:nvSpPr>
        <p:spPr>
          <a:xfrm>
            <a:off x="820000" y="2660000"/>
            <a:ext cx="7500000" cy="2"/>
          </a:xfrm>
          <a:prstGeom prst="rect">
            <a:avLst/>
          </a:prstGeom>
          <a:solidFill>
            <a:srgbClr val="E0D4B8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8" name="Circle3"/>
          <p:cNvSpPr/>
          <p:nvPr/>
        </p:nvSpPr>
        <p:spPr>
          <a:xfrm>
            <a:off x="820000" y="2760000"/>
            <a:ext cx="480000" cy="480000"/>
          </a:xfrm>
          <a:prstGeom prst="ellipse">
            <a:avLst/>
          </a:prstGeom>
          <a:solidFill>
            <a:srgbClr val="C8932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nl-NL" sz="14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9" name="Step3Text"/>
          <p:cNvSpPr/>
          <p:nvPr/>
        </p:nvSpPr>
        <p:spPr>
          <a:xfrm>
            <a:off x="1450000" y="2710000"/>
            <a:ext cx="6900000" cy="5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600" b="1" dirty="0">
                <a:solidFill>
                  <a:srgbClr val="3B2314"/>
                </a:solidFill>
                <a:latin typeface="Calibri" pitchFamily="34" charset="0"/>
              </a:rPr>
              <a:t xml:space="preserve">Maak de opdracht </a:t>
            </a:r>
            <a:r>
              <a:rPr lang="nl-NL" sz="1600" b="1" i="1" dirty="0">
                <a:solidFill>
                  <a:srgbClr val="C8932F"/>
                </a:solidFill>
                <a:latin typeface="Calibri" pitchFamily="34" charset="0"/>
              </a:rPr>
              <a:t>Twee Waarheden, Één Leugen</a:t>
            </a:r>
            <a:r>
              <a:rPr lang="nl-NL" sz="1600" b="1" dirty="0">
                <a:solidFill>
                  <a:srgbClr val="3B2314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82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Buffalo Soldier — Bob Marley (1983)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572000" cy="3977640"/>
          </a:xfrm>
          <a:prstGeom prst="roundRect">
            <a:avLst>
              <a:gd name="adj" fmla="val 2299"/>
            </a:avLst>
          </a:prstGeom>
          <a:solidFill>
            <a:srgbClr val="3B2010"/>
          </a:solidFill>
          <a:ln w="10160">
            <a:solidFill>
              <a:srgbClr val="5C3A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from Africa, brought to America
Fighting on arrival, fighting for survival
If you know your history
Then you would know where you coming from
</a:t>
            </a:r>
            <a:r>
              <a:rPr lang="en-US" sz="13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
</a:t>
            </a:r>
            <a:r>
              <a:rPr lang="en-US" sz="1300" dirty="0">
                <a:solidFill>
                  <a:srgbClr val="D0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Gestolen uit Afrika, naar Amerika gebracht
Vechten bij aankomst, vechten om te overleven
Als je je geschiedenis kent
Dan weet je waar je vandaan komt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66360" y="822960"/>
            <a:ext cx="3566160" cy="3977640"/>
          </a:xfrm>
          <a:prstGeom prst="roundRect">
            <a:avLst>
              <a:gd name="adj" fmla="val 2564"/>
            </a:avLst>
          </a:prstGeom>
          <a:solidFill>
            <a:srgbClr val="FFFFFF">
              <a:alpha val="95000"/>
            </a:srgbClr>
          </a:solidFill>
          <a:ln w="10160">
            <a:solidFill>
              <a:srgbClr val="5C3A2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5394960" y="9326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JE SCHRIFT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3B2010"/>
          </a:solidFill>
          <a:ln w="7620">
            <a:solidFill>
              <a:srgbClr val="7A553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532120" y="144475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Wat heeft dit lied te maken met wat je nu over Winti weet?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49240" y="246888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3B2010"/>
          </a:solidFill>
          <a:ln w="7620">
            <a:solidFill>
              <a:srgbClr val="7A553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5532120" y="25420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Wat hebben de Buffalo Soldiers en Afro-Surinamers gemeen?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49240" y="35661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3B2010"/>
          </a:solidFill>
          <a:ln w="7620">
            <a:solidFill>
              <a:srgbClr val="7A553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5532120" y="363931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 xml:space="preserve">3. Wat </a:t>
            </a:r>
            <a:r>
              <a:rPr lang="en-US" sz="1250" dirty="0" err="1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wordt</a:t>
            </a:r>
            <a:r>
              <a:rPr lang="en-US" sz="125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 xml:space="preserve"> er </a:t>
            </a:r>
            <a:r>
              <a:rPr lang="en-US" sz="1250" dirty="0" err="1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denk</a:t>
            </a:r>
            <a:r>
              <a:rPr lang="en-US" sz="125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 xml:space="preserve"> je </a:t>
            </a:r>
            <a:r>
              <a:rPr lang="en-US" sz="1250" dirty="0" err="1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bedoeld</a:t>
            </a:r>
            <a:r>
              <a:rPr lang="en-US" sz="125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 xml:space="preserve"> met ”</a:t>
            </a:r>
            <a:r>
              <a:rPr lang="en-US" sz="1250" dirty="0" err="1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gestolen</a:t>
            </a:r>
            <a:r>
              <a:rPr lang="en-US" sz="1250" dirty="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50" dirty="0" err="1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>uit</a:t>
            </a:r>
            <a:r>
              <a:rPr lang="en-US" sz="1250">
                <a:solidFill>
                  <a:srgbClr val="F4ECD8"/>
                </a:solidFill>
                <a:latin typeface="Calibri" pitchFamily="34" charset="0"/>
                <a:cs typeface="Calibri" pitchFamily="34" charset="-120"/>
              </a:rPr>
              <a:t xml:space="preserve"> Afrika”?</a:t>
            </a:r>
            <a:endParaRPr lang="en-US" sz="1250" dirty="0"/>
          </a:p>
        </p:txBody>
      </p:sp>
      <p:pic>
        <p:nvPicPr>
          <p:cNvPr id="13" name="Song fragment bob marley">
            <a:hlinkClick r:id="" action="ppaction://media"/>
            <a:extLst>
              <a:ext uri="{FF2B5EF4-FFF2-40B4-BE49-F238E27FC236}">
                <a16:creationId xmlns:a16="http://schemas.microsoft.com/office/drawing/2014/main" id="{FE7F1875-9CD7-3248-8308-8425AAAC1C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>
                  <p14:trim st="58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 rot="431262">
            <a:off x="8248514" y="111019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99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9388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0D4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498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"Keti Koti zou een nationale feestdag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moeten zijn in Nederland."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je kaart. Schrijf in je schrift: wat is jouw standpunt en waarom?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A23C2B"/>
          </a:solidFill>
          <a:ln w="12700">
            <a:solidFill>
              <a:srgbClr val="A23C2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— niet mee eens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356616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5C7A4A"/>
          </a:solidFill>
          <a:ln w="12700">
            <a:solidFill>
              <a:srgbClr val="5C7A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80060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— mee eens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de Stille Start van de volgende 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828800"/>
          </a:xfrm>
          <a:prstGeom prst="roundRect">
            <a:avLst>
              <a:gd name="adj" fmla="val 6000"/>
            </a:avLst>
          </a:prstGeom>
          <a:solidFill>
            <a:srgbClr val="3B2010"/>
          </a:solidFill>
          <a:ln w="12700">
            <a:solidFill>
              <a:srgbClr val="C8932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in een zin uit: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was Winti meer dan alleen een religie?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 — laatste 3 minuten van de 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908</Words>
  <Application>Microsoft Macintosh PowerPoint</Application>
  <PresentationFormat>On-screen Show (16:9)</PresentationFormat>
  <Paragraphs>105</Paragraphs>
  <Slides>11</Slides>
  <Notes>10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Winti — Levensbeschouwing</dc:title>
  <dc:subject>PptxGenJS Presentation</dc:subject>
  <dc:creator>PptxGenJS</dc:creator>
  <cp:lastModifiedBy>Alexander de Jeger</cp:lastModifiedBy>
  <cp:revision>2</cp:revision>
  <dcterms:created xsi:type="dcterms:W3CDTF">2026-06-27T18:34:44Z</dcterms:created>
  <dcterms:modified xsi:type="dcterms:W3CDTF">2026-06-29T09:36:15Z</dcterms:modified>
</cp:coreProperties>
</file>