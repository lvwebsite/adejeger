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6/27/26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B18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554480"/>
            <a:ext cx="5303520" cy="5303520"/>
          </a:xfrm>
          <a:prstGeom prst="ellipse">
            <a:avLst/>
          </a:prstGeom>
          <a:solidFill>
            <a:srgbClr val="3A2615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3" name="Shape 1"/>
          <p:cNvSpPr/>
          <p:nvPr/>
        </p:nvSpPr>
        <p:spPr>
          <a:xfrm>
            <a:off x="9784080" y="-640080"/>
            <a:ext cx="3291840" cy="3291840"/>
          </a:xfrm>
          <a:prstGeom prst="ellipse">
            <a:avLst/>
          </a:prstGeom>
          <a:solidFill>
            <a:srgbClr val="C8772E">
              <a:alpha val="22000"/>
            </a:srgbClr>
          </a:solidFill>
          <a:ln/>
        </p:spPr>
        <p:txBody>
          <a:bodyPr/>
          <a:lstStyle/>
          <a:p>
            <a:endParaRPr lang="en-NL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alphaModFix amt="45000"/>
          </a:blip>
          <a:stretch>
            <a:fillRect/>
          </a:stretch>
        </p:blipFill>
        <p:spPr>
          <a:xfrm>
            <a:off x="10058400" y="502920"/>
            <a:ext cx="1828800" cy="18288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12344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E0A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LEVENSBESCHOUWING · 3E JAAR · WERELDRELIGIES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777240" y="1691640"/>
            <a:ext cx="10058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E8D5B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Boeddhisme</a:t>
            </a:r>
            <a:endParaRPr lang="en-US" sz="6000" dirty="0"/>
          </a:p>
        </p:txBody>
      </p:sp>
      <p:sp>
        <p:nvSpPr>
          <p:cNvPr id="7" name="Text 4"/>
          <p:cNvSpPr/>
          <p:nvPr/>
        </p:nvSpPr>
        <p:spPr>
          <a:xfrm>
            <a:off x="822960" y="32461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i="1" dirty="0">
                <a:solidFill>
                  <a:srgbClr val="CDB9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Hoe wordt een mens vrij van lijden?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822960" y="4709160"/>
            <a:ext cx="10515600" cy="1417320"/>
          </a:xfrm>
          <a:prstGeom prst="roundRect">
            <a:avLst>
              <a:gd name="adj" fmla="val 6452"/>
            </a:avLst>
          </a:prstGeom>
          <a:solidFill>
            <a:srgbClr val="3A2615"/>
          </a:solidFill>
          <a:ln/>
          <a:effectLst>
            <a:outerShdw blurRad="88900" dist="38100" dir="54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NL"/>
          </a:p>
        </p:txBody>
      </p:sp>
      <p:sp>
        <p:nvSpPr>
          <p:cNvPr id="9" name="Shape 6"/>
          <p:cNvSpPr/>
          <p:nvPr/>
        </p:nvSpPr>
        <p:spPr>
          <a:xfrm>
            <a:off x="1143000" y="5074920"/>
            <a:ext cx="713232" cy="713232"/>
          </a:xfrm>
          <a:prstGeom prst="ellipse">
            <a:avLst/>
          </a:prstGeom>
          <a:solidFill>
            <a:srgbClr val="C8772E"/>
          </a:solidFill>
          <a:ln/>
          <a:effectLst>
            <a:outerShdw blurRad="88900" dist="38100" dir="54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NL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8440" y="5260360"/>
            <a:ext cx="342351" cy="342351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148840" y="5074920"/>
            <a:ext cx="8778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Pak je schrift en pen. Laptop dicht. </a:t>
            </a:r>
            <a:r>
              <a:rPr lang="en-US" sz="1800" dirty="0">
                <a:solidFill>
                  <a:srgbClr val="CDB9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beginnen zo in stilte.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B18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777240"/>
            <a:ext cx="868680" cy="868680"/>
          </a:xfrm>
          <a:prstGeom prst="ellipse">
            <a:avLst/>
          </a:prstGeom>
          <a:solidFill>
            <a:srgbClr val="C8772E"/>
          </a:solidFill>
          <a:ln/>
          <a:effectLst>
            <a:outerShdw blurRad="88900" dist="38100" dir="54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NL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8817" y="1003097"/>
            <a:ext cx="416966" cy="41696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965960" y="77724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E8D5B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Stille start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868680" y="178308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CDB9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Werk in stilte. Zonder overleg, zonder laptop voor iets anders.</a:t>
            </a:r>
            <a:endParaRPr lang="en-US" sz="1700" dirty="0"/>
          </a:p>
        </p:txBody>
      </p:sp>
      <p:sp>
        <p:nvSpPr>
          <p:cNvPr id="6" name="Shape 3"/>
          <p:cNvSpPr/>
          <p:nvPr/>
        </p:nvSpPr>
        <p:spPr>
          <a:xfrm>
            <a:off x="822960" y="2423160"/>
            <a:ext cx="10515600" cy="1600200"/>
          </a:xfrm>
          <a:prstGeom prst="roundRect">
            <a:avLst>
              <a:gd name="adj" fmla="val 5714"/>
            </a:avLst>
          </a:prstGeom>
          <a:solidFill>
            <a:srgbClr val="3A2615"/>
          </a:solidFill>
          <a:ln/>
          <a:effectLst>
            <a:outerShdw blurRad="88900" dist="38100" dir="54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NL"/>
          </a:p>
        </p:txBody>
      </p:sp>
      <p:sp>
        <p:nvSpPr>
          <p:cNvPr id="7" name="Shape 4"/>
          <p:cNvSpPr/>
          <p:nvPr/>
        </p:nvSpPr>
        <p:spPr>
          <a:xfrm>
            <a:off x="1188720" y="2880360"/>
            <a:ext cx="713232" cy="713232"/>
          </a:xfrm>
          <a:prstGeom prst="ellipse">
            <a:avLst/>
          </a:prstGeom>
          <a:solidFill>
            <a:srgbClr val="C8772E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8" name="Text 5"/>
          <p:cNvSpPr/>
          <p:nvPr/>
        </p:nvSpPr>
        <p:spPr>
          <a:xfrm>
            <a:off x="1188720" y="2880360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C110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2240280" y="2715768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8D5B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Lees paragraaf 5: Boeddhisme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2240280" y="3264408"/>
            <a:ext cx="8778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CDB9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Lees de tekst rustig en aandachtig door. Onderstreep wat je nog niet kent.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822960" y="4206240"/>
            <a:ext cx="10515600" cy="1600200"/>
          </a:xfrm>
          <a:prstGeom prst="roundRect">
            <a:avLst>
              <a:gd name="adj" fmla="val 5714"/>
            </a:avLst>
          </a:prstGeom>
          <a:solidFill>
            <a:srgbClr val="3A2615"/>
          </a:solidFill>
          <a:ln/>
          <a:effectLst>
            <a:outerShdw blurRad="88900" dist="38100" dir="54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NL"/>
          </a:p>
        </p:txBody>
      </p:sp>
      <p:sp>
        <p:nvSpPr>
          <p:cNvPr id="12" name="Shape 9"/>
          <p:cNvSpPr/>
          <p:nvPr/>
        </p:nvSpPr>
        <p:spPr>
          <a:xfrm>
            <a:off x="1188720" y="4663440"/>
            <a:ext cx="713232" cy="713232"/>
          </a:xfrm>
          <a:prstGeom prst="ellipse">
            <a:avLst/>
          </a:prstGeom>
          <a:solidFill>
            <a:srgbClr val="C8772E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13" name="Text 10"/>
          <p:cNvSpPr/>
          <p:nvPr/>
        </p:nvSpPr>
        <p:spPr>
          <a:xfrm>
            <a:off x="1188720" y="4663440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C110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000" dirty="0"/>
          </a:p>
        </p:txBody>
      </p:sp>
      <p:sp>
        <p:nvSpPr>
          <p:cNvPr id="14" name="Text 11"/>
          <p:cNvSpPr/>
          <p:nvPr/>
        </p:nvSpPr>
        <p:spPr>
          <a:xfrm>
            <a:off x="2240280" y="4498848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8D5B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Maak de werkvorm “Diagnose &amp; Recept”</a:t>
            </a:r>
            <a:endParaRPr lang="en-US" sz="2400" dirty="0"/>
          </a:p>
        </p:txBody>
      </p:sp>
      <p:sp>
        <p:nvSpPr>
          <p:cNvPr id="15" name="Text 12"/>
          <p:cNvSpPr/>
          <p:nvPr/>
        </p:nvSpPr>
        <p:spPr>
          <a:xfrm>
            <a:off x="2240280" y="5047488"/>
            <a:ext cx="8778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CDB9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de werkvorm op de website en werk je door de stappen. De tekst helpt je bij de antwoorden.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EC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2B18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Leerdoelen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841248" y="128016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6B60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Aan het eind van deze les…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22960" y="1874520"/>
            <a:ext cx="105156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NL"/>
          </a:p>
        </p:txBody>
      </p:sp>
      <p:sp>
        <p:nvSpPr>
          <p:cNvPr id="5" name="Shape 3"/>
          <p:cNvSpPr/>
          <p:nvPr/>
        </p:nvSpPr>
        <p:spPr>
          <a:xfrm>
            <a:off x="1143000" y="2121408"/>
            <a:ext cx="457200" cy="457200"/>
          </a:xfrm>
          <a:prstGeom prst="ellipse">
            <a:avLst/>
          </a:prstGeom>
          <a:solidFill>
            <a:srgbClr val="C8772E"/>
          </a:solidFill>
          <a:ln/>
        </p:spPr>
        <p:txBody>
          <a:bodyPr/>
          <a:lstStyle/>
          <a:p>
            <a:endParaRPr lang="en-NL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1872" y="2240280"/>
            <a:ext cx="219456" cy="2194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920240" y="1965960"/>
            <a:ext cx="9144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415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Ik kan </a:t>
            </a:r>
            <a:r>
              <a:rPr lang="en-US" sz="1700" dirty="0">
                <a:solidFill>
                  <a:srgbClr val="2415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Vier Edele Waarheden uitleggen en in de juiste volgorde zetten.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822960" y="2971800"/>
            <a:ext cx="105156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NL"/>
          </a:p>
        </p:txBody>
      </p:sp>
      <p:sp>
        <p:nvSpPr>
          <p:cNvPr id="9" name="Shape 6"/>
          <p:cNvSpPr/>
          <p:nvPr/>
        </p:nvSpPr>
        <p:spPr>
          <a:xfrm>
            <a:off x="1143000" y="3218688"/>
            <a:ext cx="457200" cy="457200"/>
          </a:xfrm>
          <a:prstGeom prst="ellipse">
            <a:avLst/>
          </a:prstGeom>
          <a:solidFill>
            <a:srgbClr val="3E6B5A"/>
          </a:solidFill>
          <a:ln/>
        </p:spPr>
        <p:txBody>
          <a:bodyPr/>
          <a:lstStyle/>
          <a:p>
            <a:endParaRPr lang="en-NL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61872" y="3337560"/>
            <a:ext cx="219456" cy="21945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920240" y="3063240"/>
            <a:ext cx="9144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415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Ik kan </a:t>
            </a:r>
            <a:r>
              <a:rPr lang="en-US" sz="1700" dirty="0">
                <a:solidFill>
                  <a:srgbClr val="2415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drie delen van het Achtvoudige Pad (wijsheid, moreel gedrag, geestelijke training) herkennen.</a:t>
            </a:r>
            <a:endParaRPr lang="en-US" sz="1700" dirty="0"/>
          </a:p>
        </p:txBody>
      </p:sp>
      <p:sp>
        <p:nvSpPr>
          <p:cNvPr id="12" name="Shape 8"/>
          <p:cNvSpPr/>
          <p:nvPr/>
        </p:nvSpPr>
        <p:spPr>
          <a:xfrm>
            <a:off x="822960" y="4069080"/>
            <a:ext cx="105156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NL"/>
          </a:p>
        </p:txBody>
      </p:sp>
      <p:sp>
        <p:nvSpPr>
          <p:cNvPr id="13" name="Shape 9"/>
          <p:cNvSpPr/>
          <p:nvPr/>
        </p:nvSpPr>
        <p:spPr>
          <a:xfrm>
            <a:off x="1143000" y="4315968"/>
            <a:ext cx="457200" cy="457200"/>
          </a:xfrm>
          <a:prstGeom prst="ellipse">
            <a:avLst/>
          </a:prstGeom>
          <a:solidFill>
            <a:srgbClr val="6E4A5A"/>
          </a:solidFill>
          <a:ln/>
        </p:spPr>
        <p:txBody>
          <a:bodyPr/>
          <a:lstStyle/>
          <a:p>
            <a:endParaRPr lang="en-NL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61872" y="4434840"/>
            <a:ext cx="219456" cy="21945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920240" y="4160520"/>
            <a:ext cx="9144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415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Ik kan </a:t>
            </a:r>
            <a:r>
              <a:rPr lang="en-US" sz="1700" dirty="0">
                <a:solidFill>
                  <a:srgbClr val="2415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uitleggen waarom het boeddhisme een levenswijze is en geen geloof in een scheppergod.</a:t>
            </a:r>
            <a:endParaRPr lang="en-US" sz="1700" dirty="0"/>
          </a:p>
        </p:txBody>
      </p:sp>
      <p:sp>
        <p:nvSpPr>
          <p:cNvPr id="16" name="Shape 11"/>
          <p:cNvSpPr/>
          <p:nvPr/>
        </p:nvSpPr>
        <p:spPr>
          <a:xfrm>
            <a:off x="822960" y="5166360"/>
            <a:ext cx="105156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NL"/>
          </a:p>
        </p:txBody>
      </p:sp>
      <p:sp>
        <p:nvSpPr>
          <p:cNvPr id="17" name="Shape 12"/>
          <p:cNvSpPr/>
          <p:nvPr/>
        </p:nvSpPr>
        <p:spPr>
          <a:xfrm>
            <a:off x="1143000" y="5413248"/>
            <a:ext cx="457200" cy="457200"/>
          </a:xfrm>
          <a:prstGeom prst="ellipse">
            <a:avLst/>
          </a:prstGeom>
          <a:solidFill>
            <a:srgbClr val="7A6A3A"/>
          </a:solidFill>
          <a:ln/>
        </p:spPr>
        <p:txBody>
          <a:bodyPr/>
          <a:lstStyle/>
          <a:p>
            <a:endParaRPr lang="en-NL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61872" y="5532120"/>
            <a:ext cx="219456" cy="21945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920240" y="5257800"/>
            <a:ext cx="9144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415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Ik kan </a:t>
            </a:r>
            <a:r>
              <a:rPr lang="en-US" sz="1700" dirty="0">
                <a:solidFill>
                  <a:srgbClr val="2415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voorbeelden uit het dagelijks leven koppelen aan het juiste deel van het pad.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EC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548640"/>
            <a:ext cx="777240" cy="777240"/>
          </a:xfrm>
          <a:prstGeom prst="ellipse">
            <a:avLst/>
          </a:prstGeom>
          <a:solidFill>
            <a:srgbClr val="C8772E"/>
          </a:solidFill>
          <a:ln/>
          <a:effectLst>
            <a:outerShdw blurRad="88900" dist="38100" dir="54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NL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5042" y="750722"/>
            <a:ext cx="373075" cy="37307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28800" y="566928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B18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Nabespreking: de diagnose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822960" y="15544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87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Boeddha redeneert als een arts: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822960" y="2148840"/>
            <a:ext cx="10515600" cy="896112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NL"/>
          </a:p>
        </p:txBody>
      </p:sp>
      <p:sp>
        <p:nvSpPr>
          <p:cNvPr id="7" name="Shape 4"/>
          <p:cNvSpPr/>
          <p:nvPr/>
        </p:nvSpPr>
        <p:spPr>
          <a:xfrm>
            <a:off x="1097280" y="2368296"/>
            <a:ext cx="457200" cy="457200"/>
          </a:xfrm>
          <a:prstGeom prst="ellipse">
            <a:avLst/>
          </a:prstGeom>
          <a:solidFill>
            <a:srgbClr val="3E6B5A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8" name="Text 5"/>
          <p:cNvSpPr/>
          <p:nvPr/>
        </p:nvSpPr>
        <p:spPr>
          <a:xfrm>
            <a:off x="1097280" y="23682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828800" y="2258568"/>
            <a:ext cx="26517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87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symptoom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4480560" y="2258568"/>
            <a:ext cx="66751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2415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 is lijden — in ieders leven.</a:t>
            </a:r>
            <a:endParaRPr lang="en-US" sz="1550" dirty="0"/>
          </a:p>
        </p:txBody>
      </p:sp>
      <p:sp>
        <p:nvSpPr>
          <p:cNvPr id="11" name="Shape 8"/>
          <p:cNvSpPr/>
          <p:nvPr/>
        </p:nvSpPr>
        <p:spPr>
          <a:xfrm>
            <a:off x="822960" y="3154680"/>
            <a:ext cx="10515600" cy="896112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NL"/>
          </a:p>
        </p:txBody>
      </p:sp>
      <p:sp>
        <p:nvSpPr>
          <p:cNvPr id="12" name="Shape 9"/>
          <p:cNvSpPr/>
          <p:nvPr/>
        </p:nvSpPr>
        <p:spPr>
          <a:xfrm>
            <a:off x="1097280" y="3374136"/>
            <a:ext cx="457200" cy="457200"/>
          </a:xfrm>
          <a:prstGeom prst="ellipse">
            <a:avLst/>
          </a:prstGeom>
          <a:solidFill>
            <a:srgbClr val="3E6B5A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13" name="Text 10"/>
          <p:cNvSpPr/>
          <p:nvPr/>
        </p:nvSpPr>
        <p:spPr>
          <a:xfrm>
            <a:off x="1097280" y="33741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1828800" y="3264408"/>
            <a:ext cx="26517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87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oorzaak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4480560" y="3264408"/>
            <a:ext cx="66751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2415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Lijden komt door verlangen en gehechtheid.</a:t>
            </a:r>
            <a:endParaRPr lang="en-US" sz="1550" dirty="0"/>
          </a:p>
        </p:txBody>
      </p:sp>
      <p:sp>
        <p:nvSpPr>
          <p:cNvPr id="16" name="Shape 13"/>
          <p:cNvSpPr/>
          <p:nvPr/>
        </p:nvSpPr>
        <p:spPr>
          <a:xfrm>
            <a:off x="822960" y="4160520"/>
            <a:ext cx="10515600" cy="896112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NL"/>
          </a:p>
        </p:txBody>
      </p:sp>
      <p:sp>
        <p:nvSpPr>
          <p:cNvPr id="17" name="Shape 14"/>
          <p:cNvSpPr/>
          <p:nvPr/>
        </p:nvSpPr>
        <p:spPr>
          <a:xfrm>
            <a:off x="1097280" y="4379976"/>
            <a:ext cx="457200" cy="457200"/>
          </a:xfrm>
          <a:prstGeom prst="ellipse">
            <a:avLst/>
          </a:prstGeom>
          <a:solidFill>
            <a:srgbClr val="3E6B5A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18" name="Text 15"/>
          <p:cNvSpPr/>
          <p:nvPr/>
        </p:nvSpPr>
        <p:spPr>
          <a:xfrm>
            <a:off x="1097280" y="43799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1828800" y="4270248"/>
            <a:ext cx="26517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87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prognose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4480560" y="4270248"/>
            <a:ext cx="66751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2415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 is een einde aan lijden mogelijk — door los te laten.</a:t>
            </a:r>
            <a:endParaRPr lang="en-US" sz="1550" dirty="0"/>
          </a:p>
        </p:txBody>
      </p:sp>
      <p:sp>
        <p:nvSpPr>
          <p:cNvPr id="21" name="Shape 18"/>
          <p:cNvSpPr/>
          <p:nvPr/>
        </p:nvSpPr>
        <p:spPr>
          <a:xfrm>
            <a:off x="822960" y="5166360"/>
            <a:ext cx="10515600" cy="896112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NL"/>
          </a:p>
        </p:txBody>
      </p:sp>
      <p:sp>
        <p:nvSpPr>
          <p:cNvPr id="22" name="Shape 19"/>
          <p:cNvSpPr/>
          <p:nvPr/>
        </p:nvSpPr>
        <p:spPr>
          <a:xfrm>
            <a:off x="1097280" y="5385816"/>
            <a:ext cx="457200" cy="457200"/>
          </a:xfrm>
          <a:prstGeom prst="ellipse">
            <a:avLst/>
          </a:prstGeom>
          <a:solidFill>
            <a:srgbClr val="3E6B5A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23" name="Text 20"/>
          <p:cNvSpPr/>
          <p:nvPr/>
        </p:nvSpPr>
        <p:spPr>
          <a:xfrm>
            <a:off x="1097280" y="53858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4" name="Text 21"/>
          <p:cNvSpPr/>
          <p:nvPr/>
        </p:nvSpPr>
        <p:spPr>
          <a:xfrm>
            <a:off x="1828800" y="5276088"/>
            <a:ext cx="26517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87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behandelplan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4480560" y="5276088"/>
            <a:ext cx="66751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2415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weg ernaartoe is het Achtvoudige Pad.</a:t>
            </a:r>
            <a:endParaRPr lang="en-US" sz="15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EC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548640"/>
            <a:ext cx="777240" cy="777240"/>
          </a:xfrm>
          <a:prstGeom prst="ellipse">
            <a:avLst/>
          </a:prstGeom>
          <a:solidFill>
            <a:srgbClr val="3E6B5A"/>
          </a:solidFill>
          <a:ln/>
          <a:effectLst>
            <a:outerShdw blurRad="88900" dist="38100" dir="54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NL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5042" y="750722"/>
            <a:ext cx="373075" cy="37307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28800" y="566928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B18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Nabespreking: het recept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822960" y="146304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E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Achtvoudige Pad in drie groepen: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822960" y="2011680"/>
            <a:ext cx="338328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NL"/>
          </a:p>
        </p:txBody>
      </p:sp>
      <p:sp>
        <p:nvSpPr>
          <p:cNvPr id="7" name="Shape 4"/>
          <p:cNvSpPr/>
          <p:nvPr/>
        </p:nvSpPr>
        <p:spPr>
          <a:xfrm>
            <a:off x="822960" y="2011680"/>
            <a:ext cx="3383280" cy="109728"/>
          </a:xfrm>
          <a:prstGeom prst="rect">
            <a:avLst/>
          </a:prstGeom>
          <a:solidFill>
            <a:srgbClr val="C8772E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8" name="Text 5"/>
          <p:cNvSpPr/>
          <p:nvPr/>
        </p:nvSpPr>
        <p:spPr>
          <a:xfrm>
            <a:off x="1051560" y="22402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C87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Wijsheid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1051560" y="274320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dirty="0">
                <a:solidFill>
                  <a:srgbClr val="2415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begrijpen hoe het leven echt in elkaar zit (juist begrip, juist denken)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4389120" y="2011680"/>
            <a:ext cx="338328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NL"/>
          </a:p>
        </p:txBody>
      </p:sp>
      <p:sp>
        <p:nvSpPr>
          <p:cNvPr id="11" name="Shape 8"/>
          <p:cNvSpPr/>
          <p:nvPr/>
        </p:nvSpPr>
        <p:spPr>
          <a:xfrm>
            <a:off x="4389120" y="2011680"/>
            <a:ext cx="3383280" cy="109728"/>
          </a:xfrm>
          <a:prstGeom prst="rect">
            <a:avLst/>
          </a:prstGeom>
          <a:solidFill>
            <a:srgbClr val="6E4A5A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12" name="Text 9"/>
          <p:cNvSpPr/>
          <p:nvPr/>
        </p:nvSpPr>
        <p:spPr>
          <a:xfrm>
            <a:off x="4617720" y="22402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6E4A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Moreel gedrag</a:t>
            </a:r>
            <a:endParaRPr lang="en-US" sz="2100" dirty="0"/>
          </a:p>
        </p:txBody>
      </p:sp>
      <p:sp>
        <p:nvSpPr>
          <p:cNvPr id="13" name="Text 10"/>
          <p:cNvSpPr/>
          <p:nvPr/>
        </p:nvSpPr>
        <p:spPr>
          <a:xfrm>
            <a:off x="4617720" y="274320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dirty="0">
                <a:solidFill>
                  <a:srgbClr val="2415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hoe je met anderen omgaat (juist spreken, handelen, manier van leven)</a:t>
            </a:r>
            <a:endParaRPr lang="en-US" sz="1450" dirty="0"/>
          </a:p>
        </p:txBody>
      </p:sp>
      <p:sp>
        <p:nvSpPr>
          <p:cNvPr id="14" name="Shape 11"/>
          <p:cNvSpPr/>
          <p:nvPr/>
        </p:nvSpPr>
        <p:spPr>
          <a:xfrm>
            <a:off x="7955280" y="2011680"/>
            <a:ext cx="338328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NL"/>
          </a:p>
        </p:txBody>
      </p:sp>
      <p:sp>
        <p:nvSpPr>
          <p:cNvPr id="15" name="Shape 12"/>
          <p:cNvSpPr/>
          <p:nvPr/>
        </p:nvSpPr>
        <p:spPr>
          <a:xfrm>
            <a:off x="7955280" y="2011680"/>
            <a:ext cx="3383280" cy="109728"/>
          </a:xfrm>
          <a:prstGeom prst="rect">
            <a:avLst/>
          </a:prstGeom>
          <a:solidFill>
            <a:srgbClr val="3E6B5A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16" name="Text 13"/>
          <p:cNvSpPr/>
          <p:nvPr/>
        </p:nvSpPr>
        <p:spPr>
          <a:xfrm>
            <a:off x="8183880" y="22402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3E6B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Geestelijke training</a:t>
            </a:r>
            <a:endParaRPr lang="en-US" sz="2100" dirty="0"/>
          </a:p>
        </p:txBody>
      </p:sp>
      <p:sp>
        <p:nvSpPr>
          <p:cNvPr id="17" name="Text 14"/>
          <p:cNvSpPr/>
          <p:nvPr/>
        </p:nvSpPr>
        <p:spPr>
          <a:xfrm>
            <a:off x="8183880" y="274320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dirty="0">
                <a:solidFill>
                  <a:srgbClr val="2415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geest oefenen (juiste inspanning, aandacht, meditatie)</a:t>
            </a:r>
            <a:endParaRPr lang="en-US" sz="1450" dirty="0"/>
          </a:p>
        </p:txBody>
      </p:sp>
      <p:sp>
        <p:nvSpPr>
          <p:cNvPr id="18" name="Shape 15"/>
          <p:cNvSpPr/>
          <p:nvPr/>
        </p:nvSpPr>
        <p:spPr>
          <a:xfrm>
            <a:off x="822960" y="4160520"/>
            <a:ext cx="10515600" cy="1783080"/>
          </a:xfrm>
          <a:prstGeom prst="roundRect">
            <a:avLst>
              <a:gd name="adj" fmla="val 5128"/>
            </a:avLst>
          </a:prstGeom>
          <a:solidFill>
            <a:srgbClr val="2B1810"/>
          </a:solidFill>
          <a:ln/>
          <a:effectLst>
            <a:outerShdw blurRad="88900" dist="38100" dir="54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NL"/>
          </a:p>
        </p:txBody>
      </p:sp>
      <p:sp>
        <p:nvSpPr>
          <p:cNvPr id="19" name="Text 16"/>
          <p:cNvSpPr/>
          <p:nvPr/>
        </p:nvSpPr>
        <p:spPr>
          <a:xfrm>
            <a:off x="1143000" y="438912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0A8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Welke kaarten pasten nergens?</a:t>
            </a:r>
            <a:endParaRPr lang="en-US" sz="2200" dirty="0"/>
          </a:p>
        </p:txBody>
      </p:sp>
      <p:sp>
        <p:nvSpPr>
          <p:cNvPr id="20" name="Text 17"/>
          <p:cNvSpPr/>
          <p:nvPr/>
        </p:nvSpPr>
        <p:spPr>
          <a:xfrm>
            <a:off x="1143000" y="4892040"/>
            <a:ext cx="9921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550" i="1" dirty="0">
                <a:solidFill>
                  <a:srgbClr val="E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“Een scheppergod bepaalt of jij verlost wordt”</a:t>
            </a:r>
            <a:r>
              <a:rPr lang="en-US" sz="1550" dirty="0">
                <a:solidFill>
                  <a:srgbClr val="E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en </a:t>
            </a:r>
            <a:r>
              <a:rPr lang="en-US" sz="1550" i="1" dirty="0">
                <a:solidFill>
                  <a:srgbClr val="E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“offers brengen aan de goden”</a:t>
            </a:r>
            <a:r>
              <a:rPr lang="en-US" sz="1550" dirty="0">
                <a:solidFill>
                  <a:srgbClr val="E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horen niet bij het boeddhisme. Er is </a:t>
            </a:r>
            <a:r>
              <a:rPr lang="en-US" sz="1550" b="1" dirty="0">
                <a:solidFill>
                  <a:srgbClr val="E0A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geen scheppergod</a:t>
            </a:r>
            <a:r>
              <a:rPr lang="en-US" sz="1550" dirty="0">
                <a:solidFill>
                  <a:srgbClr val="E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die je lot bepaalt — je loopt het pad zelf. Daarom is boeddhisme meer een </a:t>
            </a:r>
            <a:r>
              <a:rPr lang="en-US" sz="1550" b="1" dirty="0">
                <a:solidFill>
                  <a:srgbClr val="E0A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levenswijze</a:t>
            </a:r>
            <a:r>
              <a:rPr lang="en-US" sz="1550" dirty="0">
                <a:solidFill>
                  <a:srgbClr val="E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dan een geloof in een god.</a:t>
            </a:r>
            <a:endParaRPr lang="en-US" sz="15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EC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548640"/>
            <a:ext cx="777240" cy="777240"/>
          </a:xfrm>
          <a:prstGeom prst="ellipse">
            <a:avLst/>
          </a:prstGeom>
          <a:solidFill>
            <a:srgbClr val="C8772E"/>
          </a:solidFill>
          <a:ln/>
          <a:effectLst>
            <a:outerShdw blurRad="88900" dist="38100" dir="54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NL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5042" y="750722"/>
            <a:ext cx="373075" cy="37307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28800" y="566928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B18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Samenvatting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822960" y="141732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C87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boeddhisme in het kort:</a:t>
            </a:r>
            <a:endParaRPr lang="en-US" sz="1700" dirty="0"/>
          </a:p>
        </p:txBody>
      </p:sp>
      <p:sp>
        <p:nvSpPr>
          <p:cNvPr id="6" name="Shape 3"/>
          <p:cNvSpPr/>
          <p:nvPr/>
        </p:nvSpPr>
        <p:spPr>
          <a:xfrm>
            <a:off x="822960" y="1965960"/>
            <a:ext cx="1051560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NL"/>
          </a:p>
        </p:txBody>
      </p:sp>
      <p:sp>
        <p:nvSpPr>
          <p:cNvPr id="7" name="Shape 4"/>
          <p:cNvSpPr/>
          <p:nvPr/>
        </p:nvSpPr>
        <p:spPr>
          <a:xfrm>
            <a:off x="1143000" y="2249424"/>
            <a:ext cx="457200" cy="457200"/>
          </a:xfrm>
          <a:prstGeom prst="ellipse">
            <a:avLst/>
          </a:prstGeom>
          <a:solidFill>
            <a:srgbClr val="C8772E"/>
          </a:solidFill>
          <a:ln/>
        </p:spPr>
        <p:txBody>
          <a:bodyPr/>
          <a:lstStyle/>
          <a:p>
            <a:endParaRPr lang="en-NL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61872" y="2368296"/>
            <a:ext cx="219456" cy="21945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920240" y="2093976"/>
            <a:ext cx="9235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B18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Het probleem en de oplossing</a:t>
            </a:r>
            <a:endParaRPr lang="en-US" sz="1800" dirty="0"/>
          </a:p>
        </p:txBody>
      </p:sp>
      <p:sp>
        <p:nvSpPr>
          <p:cNvPr id="10" name="Text 6"/>
          <p:cNvSpPr/>
          <p:nvPr/>
        </p:nvSpPr>
        <p:spPr>
          <a:xfrm>
            <a:off x="1920240" y="2441448"/>
            <a:ext cx="9235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2415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Boeddha zag dat er lijden (dukkha) is, dat het komt door verlangen en gehechtheid, en dat je het kunt verminderen door los te laten.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822960" y="3118104"/>
            <a:ext cx="1051560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NL"/>
          </a:p>
        </p:txBody>
      </p:sp>
      <p:sp>
        <p:nvSpPr>
          <p:cNvPr id="12" name="Shape 8"/>
          <p:cNvSpPr/>
          <p:nvPr/>
        </p:nvSpPr>
        <p:spPr>
          <a:xfrm>
            <a:off x="1143000" y="3401568"/>
            <a:ext cx="457200" cy="457200"/>
          </a:xfrm>
          <a:prstGeom prst="ellipse">
            <a:avLst/>
          </a:prstGeom>
          <a:solidFill>
            <a:srgbClr val="3E6B5A"/>
          </a:solidFill>
          <a:ln/>
        </p:spPr>
        <p:txBody>
          <a:bodyPr/>
          <a:lstStyle/>
          <a:p>
            <a:endParaRPr lang="en-NL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61872" y="3520440"/>
            <a:ext cx="219456" cy="21945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920240" y="3246120"/>
            <a:ext cx="9235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B18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Het Achtvoudige Pad</a:t>
            </a:r>
            <a:endParaRPr lang="en-US" sz="1800" dirty="0"/>
          </a:p>
        </p:txBody>
      </p:sp>
      <p:sp>
        <p:nvSpPr>
          <p:cNvPr id="15" name="Text 10"/>
          <p:cNvSpPr/>
          <p:nvPr/>
        </p:nvSpPr>
        <p:spPr>
          <a:xfrm>
            <a:off x="1920240" y="3593592"/>
            <a:ext cx="9235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2415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praktische gids om daar te komen: wijsheid, moreel gedrag en geestelijke training — te oefenen in het dagelijks leven.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822960" y="4270248"/>
            <a:ext cx="1051560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NL"/>
          </a:p>
        </p:txBody>
      </p:sp>
      <p:sp>
        <p:nvSpPr>
          <p:cNvPr id="17" name="Shape 12"/>
          <p:cNvSpPr/>
          <p:nvPr/>
        </p:nvSpPr>
        <p:spPr>
          <a:xfrm>
            <a:off x="1143000" y="4553712"/>
            <a:ext cx="457200" cy="457200"/>
          </a:xfrm>
          <a:prstGeom prst="ellipse">
            <a:avLst/>
          </a:prstGeom>
          <a:solidFill>
            <a:srgbClr val="6E4A5A"/>
          </a:solidFill>
          <a:ln/>
        </p:spPr>
        <p:txBody>
          <a:bodyPr/>
          <a:lstStyle/>
          <a:p>
            <a:endParaRPr lang="en-NL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1872" y="4672584"/>
            <a:ext cx="219456" cy="21945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920240" y="4398264"/>
            <a:ext cx="9235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B18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Een levenswijze, geen scheppergod</a:t>
            </a:r>
            <a:endParaRPr lang="en-US" sz="1800" dirty="0"/>
          </a:p>
        </p:txBody>
      </p:sp>
      <p:sp>
        <p:nvSpPr>
          <p:cNvPr id="20" name="Text 14"/>
          <p:cNvSpPr/>
          <p:nvPr/>
        </p:nvSpPr>
        <p:spPr>
          <a:xfrm>
            <a:off x="1920240" y="4745736"/>
            <a:ext cx="9235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2415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boeddhisme kent geen god die je lot bepaalt. Je loopt het pad zelf. Alles is veranderlijk (anicca); er is geen blijvend zelf (anatta).</a:t>
            </a:r>
            <a:endParaRPr lang="en-US" sz="1350" dirty="0"/>
          </a:p>
        </p:txBody>
      </p:sp>
      <p:sp>
        <p:nvSpPr>
          <p:cNvPr id="21" name="Shape 15"/>
          <p:cNvSpPr/>
          <p:nvPr/>
        </p:nvSpPr>
        <p:spPr>
          <a:xfrm>
            <a:off x="822960" y="5422392"/>
            <a:ext cx="1051560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NL"/>
          </a:p>
        </p:txBody>
      </p:sp>
      <p:sp>
        <p:nvSpPr>
          <p:cNvPr id="22" name="Shape 16"/>
          <p:cNvSpPr/>
          <p:nvPr/>
        </p:nvSpPr>
        <p:spPr>
          <a:xfrm>
            <a:off x="1143000" y="5705856"/>
            <a:ext cx="457200" cy="457200"/>
          </a:xfrm>
          <a:prstGeom prst="ellipse">
            <a:avLst/>
          </a:prstGeom>
          <a:solidFill>
            <a:srgbClr val="7A6A3A"/>
          </a:solidFill>
          <a:ln/>
        </p:spPr>
        <p:txBody>
          <a:bodyPr/>
          <a:lstStyle/>
          <a:p>
            <a:endParaRPr lang="en-NL"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61872" y="5824728"/>
            <a:ext cx="219456" cy="219456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1920240" y="5550408"/>
            <a:ext cx="9235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B18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Wedergeboorte richting nirwana</a:t>
            </a:r>
            <a:endParaRPr lang="en-US" sz="1800" dirty="0"/>
          </a:p>
        </p:txBody>
      </p:sp>
      <p:sp>
        <p:nvSpPr>
          <p:cNvPr id="25" name="Text 18"/>
          <p:cNvSpPr/>
          <p:nvPr/>
        </p:nvSpPr>
        <p:spPr>
          <a:xfrm>
            <a:off x="1920240" y="5897880"/>
            <a:ext cx="9235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2415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Boeddhisten geloven in wedergeboorte. Het uiteindelijke doel is nirwana: het einde van de kringloop van lijden.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B18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777240"/>
            <a:ext cx="868680" cy="868680"/>
          </a:xfrm>
          <a:prstGeom prst="ellipse">
            <a:avLst/>
          </a:prstGeom>
          <a:solidFill>
            <a:srgbClr val="C8772E"/>
          </a:solidFill>
          <a:ln/>
          <a:effectLst>
            <a:outerShdw blurRad="88900" dist="38100" dir="54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NL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8817" y="1003097"/>
            <a:ext cx="416966" cy="41696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965960" y="77724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E8D5B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Exit ticket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868680" y="17830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DB9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je schrift — individueel, in stilte. Laptop dicht.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822960" y="2468880"/>
            <a:ext cx="10515600" cy="1280160"/>
          </a:xfrm>
          <a:prstGeom prst="roundRect">
            <a:avLst>
              <a:gd name="adj" fmla="val 7143"/>
            </a:avLst>
          </a:prstGeom>
          <a:solidFill>
            <a:srgbClr val="3A2615"/>
          </a:solidFill>
          <a:ln/>
          <a:effectLst>
            <a:outerShdw blurRad="88900" dist="38100" dir="54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NL"/>
          </a:p>
        </p:txBody>
      </p:sp>
      <p:sp>
        <p:nvSpPr>
          <p:cNvPr id="7" name="Text 4"/>
          <p:cNvSpPr/>
          <p:nvPr/>
        </p:nvSpPr>
        <p:spPr>
          <a:xfrm>
            <a:off x="1143000" y="2697480"/>
            <a:ext cx="9921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0A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</a:t>
            </a:r>
            <a:r>
              <a:rPr lang="en-US" sz="1700" dirty="0">
                <a:solidFill>
                  <a:srgbClr val="E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 in één zin uit waarom een boeddhist zegt dat loslaten gelukkiger maakt dan steeds meer willen. Gebruik het woord </a:t>
            </a:r>
            <a:r>
              <a:rPr lang="en-US" sz="1700" b="1" dirty="0">
                <a:solidFill>
                  <a:srgbClr val="E0A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gehechtheid</a:t>
            </a:r>
            <a:r>
              <a:rPr lang="en-US" sz="1700" dirty="0">
                <a:solidFill>
                  <a:srgbClr val="E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822960" y="3886200"/>
            <a:ext cx="10515600" cy="1280160"/>
          </a:xfrm>
          <a:prstGeom prst="roundRect">
            <a:avLst>
              <a:gd name="adj" fmla="val 7143"/>
            </a:avLst>
          </a:prstGeom>
          <a:solidFill>
            <a:srgbClr val="3A2615"/>
          </a:solidFill>
          <a:ln/>
          <a:effectLst>
            <a:outerShdw blurRad="88900" dist="38100" dir="54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NL"/>
          </a:p>
        </p:txBody>
      </p:sp>
      <p:sp>
        <p:nvSpPr>
          <p:cNvPr id="9" name="Text 6"/>
          <p:cNvSpPr/>
          <p:nvPr/>
        </p:nvSpPr>
        <p:spPr>
          <a:xfrm>
            <a:off x="1143000" y="4114800"/>
            <a:ext cx="9921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0A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</a:t>
            </a:r>
            <a:r>
              <a:rPr lang="en-US" sz="1700" dirty="0">
                <a:solidFill>
                  <a:srgbClr val="E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Noem één verschil tussen het doel van een boeddhist (</a:t>
            </a:r>
            <a:r>
              <a:rPr lang="en-US" sz="1700" i="1" dirty="0">
                <a:solidFill>
                  <a:srgbClr val="E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nirwana</a:t>
            </a:r>
            <a:r>
              <a:rPr lang="en-US" sz="1700" dirty="0">
                <a:solidFill>
                  <a:srgbClr val="E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en dat van een hindoe (</a:t>
            </a:r>
            <a:r>
              <a:rPr lang="en-US" sz="1700" i="1" dirty="0">
                <a:solidFill>
                  <a:srgbClr val="E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moksha</a:t>
            </a:r>
            <a:r>
              <a:rPr lang="en-US" sz="1700" dirty="0">
                <a:solidFill>
                  <a:srgbClr val="E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).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 Notes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871</Words>
  <Application>Microsoft Macintosh PowerPoint</Application>
  <PresentationFormat>Widescreen</PresentationFormat>
  <Paragraphs>70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Boeddhisme</dc:title>
  <dc:subject>PptxGenJS Presentation</dc:subject>
  <dc:creator>Levensbeschouwing</dc:creator>
  <cp:lastModifiedBy>Alexander de Jeger</cp:lastModifiedBy>
  <cp:revision>2</cp:revision>
  <dcterms:created xsi:type="dcterms:W3CDTF">2026-06-27T18:07:51Z</dcterms:created>
  <dcterms:modified xsi:type="dcterms:W3CDTF">2026-06-27T18:09:55Z</dcterms:modified>
</cp:coreProperties>
</file>