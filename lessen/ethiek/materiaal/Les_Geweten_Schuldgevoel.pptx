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de Jeger" userId="384ee8c3-c117-4237-b086-9811125ef759" providerId="ADAL" clId="{C95C0903-D049-56F1-87DE-19361C0ACDBD}"/>
    <pc:docChg chg="custSel modSld">
      <pc:chgData name="Alexander de Jeger" userId="384ee8c3-c117-4237-b086-9811125ef759" providerId="ADAL" clId="{C95C0903-D049-56F1-87DE-19361C0ACDBD}" dt="2026-07-01T18:55:55.905" v="1" actId="478"/>
      <pc:docMkLst>
        <pc:docMk/>
      </pc:docMkLst>
      <pc:sldChg chg="delSp mod">
        <pc:chgData name="Alexander de Jeger" userId="384ee8c3-c117-4237-b086-9811125ef759" providerId="ADAL" clId="{C95C0903-D049-56F1-87DE-19361C0ACDBD}" dt="2026-07-01T18:55:11.634" v="0" actId="478"/>
        <pc:sldMkLst>
          <pc:docMk/>
          <pc:sldMk cId="0" sldId="260"/>
        </pc:sldMkLst>
        <pc:spChg chg="del">
          <ac:chgData name="Alexander de Jeger" userId="384ee8c3-c117-4237-b086-9811125ef759" providerId="ADAL" clId="{C95C0903-D049-56F1-87DE-19361C0ACDBD}" dt="2026-07-01T18:55:11.634" v="0" actId="478"/>
          <ac:spMkLst>
            <pc:docMk/>
            <pc:sldMk cId="0" sldId="260"/>
            <ac:spMk id="12" creationId="{00000000-0000-0000-0000-000000000000}"/>
          </ac:spMkLst>
        </pc:spChg>
      </pc:sldChg>
      <pc:sldChg chg="delSp mod">
        <pc:chgData name="Alexander de Jeger" userId="384ee8c3-c117-4237-b086-9811125ef759" providerId="ADAL" clId="{C95C0903-D049-56F1-87DE-19361C0ACDBD}" dt="2026-07-01T18:55:55.905" v="1" actId="478"/>
        <pc:sldMkLst>
          <pc:docMk/>
          <pc:sldMk cId="0" sldId="265"/>
        </pc:sldMkLst>
        <pc:spChg chg="del">
          <ac:chgData name="Alexander de Jeger" userId="384ee8c3-c117-4237-b086-9811125ef759" providerId="ADAL" clId="{C95C0903-D049-56F1-87DE-19361C0ACDBD}" dt="2026-07-01T18:55:55.905" v="1" actId="478"/>
          <ac:spMkLst>
            <pc:docMk/>
            <pc:sldMk cId="0" sldId="265"/>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7614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Leerlingen pakken bij binnenkomst hun rood/groen-bordjes en schrift (vaste routine). Deze slide staat al klaar als ze binnenkomen. Niet uitleggen — direct door naar de Stille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Gedragsverwachting hardop: 'Iedereen werkt nu 6 minuten individueel in absolute stilte.' Loop rond, lees mee, noteer 2-3 namen voor de Cold Call straks. Nabespreking kort (2 min). Right is Right bij vraag 2: half antwoord niet accepteren. Doorvraag: 'Bijna — wat zei Thomas dat je NIET helemaal zelf kunt?' (Hoogste deugden zijn volgens Thomas een geschenk van God; Aurelius: helemaal zelf, door discipline.) Groeitaal: 'Mooi dat dit nog niet scherp is — dan weten we waar we vandaag aan bouwen.'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stelling tegelijk laten stemmen. Gebruik de data (formatief): 'Ik zie veel groen bij stelling 4. [Naam], leg eens uit waarom.' Daarna een rode stemmer. Geef het antwoord NIET zelf — de spanning tussen stelling 4 en 5 lost de uitleg straks op. Afsluiten met: 'Onthoud je stem bij 4 en 5 — aan het eind stemmen we opnieuw.' Stelling 6 koppelt terug aan paragraaf 4 (interleaving: deugd).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3 minuten uitleg. Analogie: rookmelder gaat soms terecht af (echt brand) en soms bij een tosti. Geprogrammeerd door thuis, school/vrienden, ervaringen — daarom heeft niet iedereen hetzelfde geweten. CFU met bordjes: 'Groen als geweten en verstand hetzelfde zijn, rood als ze verschillen.' (Rood is juist.) Doorvraag: '[Naam], geef een voorbeeld waarbij je je schuldig voelde terwijl je verstand zei: ik kon er niets aan doen.'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3 minuten. Benoem expliciet de groeimindset-link (onderste regel): gezond schuldgevoel is feedback van binnenuit. CFU met bordjes: 'Een vriend zegt: ik ben gewoon een waardeloze vriend. Schuld of schaamte? Groen = schuld, rood = schaamte.' Doorvragen tot exact: het gaat over wie hij IS, dus schaamte. Vervolgens: 'En niet alle schuld is gezond — soms voel je je schuldig over iets waar je niets aan kon doen, of praat iemand het je aan. Checkvraag uit de reader: zou ik een vriend ook schuldig vinden als die hetzelfde had gedaan?'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Schrijven eerst, in stilte — iedereen heeft een zin op papier voordat er gepraat wordt. Gedragsverwachting per fase hardop ('Nu schrijf je alleen, in stilte'). Delen via Cold Call (naamstokjes/klassenlijst), niet alleen vingers — leerlingen lezen voor wat ze schreven. Stuur op het onderscheid: schuld over de emoji (handeling, te herstellen: sorry tegen Sam, iets rechtzetten in de chat) versus schaamte ('ik ben slecht', verlamt). Vraag minstens één keer: 'Wat zou een GEZONDE reactie zijn — wat kun je morgen doen?'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Korte, strakke inleefoefening — geen halve les. Regel hardop: 'Je eigen mening komt pas op het allerlaatst. Eerst verwoord je het standpunt van je denker zó goed dat hij zou knikken.' Eén schrijfronde (3 zinnen), dan één keer voorlezen aan de duo-partner + één kritische vraag terug. Daarna meteen door naar het debat — niet uitsmeren. Hulpkaartjes met startzinnen staan op de volgende slide. Loop rond terwijl ze schrijven. Right is Right: accepteer niet 'Freud vindt schuldgevoel onzin' — doorvraag: 'Bijna — Freud zegt niet dat het onzin is, hij verklaart waar het vandaan komt. Waar dan?' (Aangeleerd via opvoeding; geïnternaliseerde angst voor straf/afkeuring.)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startzinnen helpen leerlingen die vastlopen bij het schrijven van hun 3 zinnen. Niet verplicht — wie het zonder kan, schrijft zelf. De verdiepingsvraag onderin is voor duo's die klaar zijn en koppelt terug aan paragraaf 4 (interleaving: Aurelius vs. Thomas van Aquino).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willekeurig kiezen, geen vingers. Eerste twee beurten verplicht het ANDERE perspectief (comfortzone uit). Daarna 2-3 vrije beurten. Herstemming stelling 4 en 5: 'Wie is van kleur gewisseld? [Naam], wat heeft je van gedachten doen veranderen?' — van mening veranderen expliciet prijzen als groei. Vooruitblik: 'Wat jullie net deden — een standpunt verdedigen dat niet per se het jouwe is — is precies de kernvaardigheid van de Live Debatten aan het eind van het jaar.'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Bord eventueel schoonvegen vóór vraag 1 (eigen woorden = elaboration). Briefjes innemen: dit is je formatieve data. Leerlingen die vraag 1 nog verwarren krijgen volgende les een gerichte beurt in de Stille Start — frame als 'nog niet', niet als 'fout'. Spacing: neem volgende les minimaal één retrieval-vraag op over schuld vs. schaamte en één over Freuds super-ego in een nieuwe context (bijv. vals spelen in een online game).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2018"/>
        </a:solidFill>
        <a:effectLst/>
      </p:bgPr>
    </p:bg>
    <p:spTree>
      <p:nvGrpSpPr>
        <p:cNvPr id="1" name=""/>
        <p:cNvGrpSpPr/>
        <p:nvPr/>
      </p:nvGrpSpPr>
      <p:grpSpPr>
        <a:xfrm>
          <a:off x="0" y="0"/>
          <a:ext cx="0" cy="0"/>
          <a:chOff x="0" y="0"/>
          <a:chExt cx="0" cy="0"/>
        </a:xfrm>
      </p:grpSpPr>
      <p:sp>
        <p:nvSpPr>
          <p:cNvPr id="2" name="Shape 0"/>
          <p:cNvSpPr/>
          <p:nvPr/>
        </p:nvSpPr>
        <p:spPr>
          <a:xfrm>
            <a:off x="6400800" y="914400"/>
            <a:ext cx="3291840" cy="3291840"/>
          </a:xfrm>
          <a:prstGeom prst="ellipse">
            <a:avLst/>
          </a:prstGeom>
          <a:solidFill>
            <a:srgbClr val="5C2A22"/>
          </a:solidFill>
          <a:ln/>
        </p:spPr>
        <p:txBody>
          <a:bodyPr/>
          <a:lstStyle/>
          <a:p>
            <a:endParaRPr lang="en-NL"/>
          </a:p>
        </p:txBody>
      </p:sp>
      <p:sp>
        <p:nvSpPr>
          <p:cNvPr id="3" name="Shape 1"/>
          <p:cNvSpPr/>
          <p:nvPr/>
        </p:nvSpPr>
        <p:spPr>
          <a:xfrm>
            <a:off x="6995160" y="1508760"/>
            <a:ext cx="2103120" cy="2103120"/>
          </a:xfrm>
          <a:prstGeom prst="ellipse">
            <a:avLst/>
          </a:prstGeom>
          <a:solidFill>
            <a:srgbClr val="B85042"/>
          </a:solidFill>
          <a:ln/>
        </p:spPr>
        <p:txBody>
          <a:bodyPr/>
          <a:lstStyle/>
          <a:p>
            <a:endParaRPr lang="en-NL"/>
          </a:p>
        </p:txBody>
      </p:sp>
      <p:pic>
        <p:nvPicPr>
          <p:cNvPr id="4" name="Image 0" descr="preencoded.png"/>
          <p:cNvPicPr>
            <a:picLocks noChangeAspect="1"/>
          </p:cNvPicPr>
          <p:nvPr/>
        </p:nvPicPr>
        <p:blipFill>
          <a:blip r:embed="rId3"/>
          <a:stretch>
            <a:fillRect/>
          </a:stretch>
        </p:blipFill>
        <p:spPr>
          <a:xfrm>
            <a:off x="7589520" y="2103120"/>
            <a:ext cx="914400" cy="914400"/>
          </a:xfrm>
          <a:prstGeom prst="rect">
            <a:avLst/>
          </a:prstGeom>
        </p:spPr>
      </p:pic>
      <p:sp>
        <p:nvSpPr>
          <p:cNvPr id="5" name="Text 2"/>
          <p:cNvSpPr/>
          <p:nvPr/>
        </p:nvSpPr>
        <p:spPr>
          <a:xfrm>
            <a:off x="640080" y="1371600"/>
            <a:ext cx="5486400" cy="365760"/>
          </a:xfrm>
          <a:prstGeom prst="rect">
            <a:avLst/>
          </a:prstGeom>
          <a:noFill/>
          <a:ln/>
        </p:spPr>
        <p:txBody>
          <a:bodyPr wrap="square" lIns="0" tIns="0" rIns="0" bIns="0" rtlCol="0" anchor="ctr"/>
          <a:lstStyle/>
          <a:p>
            <a:pPr marL="0" indent="0">
              <a:buNone/>
            </a:pPr>
            <a:r>
              <a:rPr lang="en-US" sz="1400" b="1" kern="0" spc="400" dirty="0">
                <a:solidFill>
                  <a:srgbClr val="D9A05B"/>
                </a:solidFill>
                <a:latin typeface="Calibri" pitchFamily="34" charset="0"/>
                <a:ea typeface="Calibri" pitchFamily="34" charset="-122"/>
                <a:cs typeface="Calibri" pitchFamily="34" charset="-120"/>
              </a:rPr>
              <a:t>READER ETHIEK  ·  PARAGRAAF 5</a:t>
            </a:r>
            <a:endParaRPr lang="en-US" sz="1400" dirty="0"/>
          </a:p>
        </p:txBody>
      </p:sp>
      <p:sp>
        <p:nvSpPr>
          <p:cNvPr id="6" name="Text 3"/>
          <p:cNvSpPr/>
          <p:nvPr/>
        </p:nvSpPr>
        <p:spPr>
          <a:xfrm>
            <a:off x="640080" y="1783080"/>
            <a:ext cx="5669280" cy="1737360"/>
          </a:xfrm>
          <a:prstGeom prst="rect">
            <a:avLst/>
          </a:prstGeom>
          <a:noFill/>
          <a:ln/>
        </p:spPr>
        <p:txBody>
          <a:bodyPr wrap="square" lIns="0" tIns="0" rIns="0" bIns="0" rtlCol="0" anchor="ctr"/>
          <a:lstStyle/>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Geweten &amp;</a:t>
            </a:r>
            <a:endParaRPr lang="en-US" sz="4800" dirty="0"/>
          </a:p>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schuldgevoel</a:t>
            </a:r>
            <a:endParaRPr lang="en-US" sz="4800" dirty="0"/>
          </a:p>
        </p:txBody>
      </p:sp>
      <p:sp>
        <p:nvSpPr>
          <p:cNvPr id="7" name="Text 4"/>
          <p:cNvSpPr/>
          <p:nvPr/>
        </p:nvSpPr>
        <p:spPr>
          <a:xfrm>
            <a:off x="640080" y="3611880"/>
            <a:ext cx="5669280" cy="731520"/>
          </a:xfrm>
          <a:prstGeom prst="rect">
            <a:avLst/>
          </a:prstGeom>
          <a:noFill/>
          <a:ln/>
        </p:spPr>
        <p:txBody>
          <a:bodyPr wrap="square" lIns="0" tIns="0" rIns="0" bIns="0" rtlCol="0" anchor="ctr"/>
          <a:lstStyle/>
          <a:p>
            <a:pPr marL="0" indent="0">
              <a:buNone/>
            </a:pPr>
            <a:r>
              <a:rPr lang="en-US" sz="1600" i="1" dirty="0">
                <a:solidFill>
                  <a:srgbClr val="E8D5CF"/>
                </a:solidFill>
                <a:latin typeface="Calibri" pitchFamily="34" charset="0"/>
                <a:ea typeface="Calibri" pitchFamily="34" charset="-122"/>
                <a:cs typeface="Calibri" pitchFamily="34" charset="-120"/>
              </a:rPr>
              <a:t>Waarom voel je je rot na iets wat niet oké was —</a:t>
            </a:r>
            <a:endParaRPr lang="en-US" sz="1600" dirty="0"/>
          </a:p>
          <a:p>
            <a:pPr marL="0" indent="0">
              <a:buNone/>
            </a:pPr>
            <a:r>
              <a:rPr lang="en-US" sz="1600" i="1" dirty="0">
                <a:solidFill>
                  <a:srgbClr val="E8D5CF"/>
                </a:solidFill>
                <a:latin typeface="Calibri" pitchFamily="34" charset="0"/>
                <a:ea typeface="Calibri" pitchFamily="34" charset="-122"/>
                <a:cs typeface="Calibri" pitchFamily="34" charset="-120"/>
              </a:rPr>
              <a:t>en moet je daar altijd naar luisteren?</a:t>
            </a:r>
            <a:endParaRPr lang="en-US" sz="1600" dirty="0"/>
          </a:p>
        </p:txBody>
      </p:sp>
      <p:sp>
        <p:nvSpPr>
          <p:cNvPr id="8" name="Text 5"/>
          <p:cNvSpPr/>
          <p:nvPr/>
        </p:nvSpPr>
        <p:spPr>
          <a:xfrm>
            <a:off x="640080" y="4526280"/>
            <a:ext cx="5486400" cy="320040"/>
          </a:xfrm>
          <a:prstGeom prst="rect">
            <a:avLst/>
          </a:prstGeom>
          <a:noFill/>
          <a:ln/>
        </p:spPr>
        <p:txBody>
          <a:bodyPr wrap="square" lIns="0" tIns="0" rIns="0" bIns="0" rtlCol="0" anchor="ctr"/>
          <a:lstStyle/>
          <a:p>
            <a:pPr marL="0" indent="0">
              <a:buNone/>
            </a:pPr>
            <a:r>
              <a:rPr lang="en-US" sz="1200" dirty="0">
                <a:solidFill>
                  <a:srgbClr val="BFA39A"/>
                </a:solidFill>
                <a:latin typeface="Calibri" pitchFamily="34" charset="0"/>
                <a:ea typeface="Calibri" pitchFamily="34" charset="-122"/>
                <a:cs typeface="Calibri" pitchFamily="34" charset="-120"/>
              </a:rPr>
              <a:t>Levensbeschouwing  ·  Klas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INDIVIDUEEL  ·  IN ABSOLUTE STILTE</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Stille Start</a:t>
            </a:r>
            <a:endParaRPr lang="en-US" sz="3000" dirty="0"/>
          </a:p>
        </p:txBody>
      </p:sp>
      <p:sp>
        <p:nvSpPr>
          <p:cNvPr id="6" name="Text 3"/>
          <p:cNvSpPr/>
          <p:nvPr/>
        </p:nvSpPr>
        <p:spPr>
          <a:xfrm>
            <a:off x="457200" y="1234440"/>
            <a:ext cx="8229600" cy="320040"/>
          </a:xfrm>
          <a:prstGeom prst="rect">
            <a:avLst/>
          </a:prstGeom>
          <a:noFill/>
          <a:ln/>
        </p:spPr>
        <p:txBody>
          <a:bodyPr wrap="square" lIns="0" tIns="0" rIns="0" bIns="0" rtlCol="0" anchor="ctr"/>
          <a:lstStyle/>
          <a:p>
            <a:pPr marL="0" indent="0">
              <a:buNone/>
            </a:pPr>
            <a:r>
              <a:rPr lang="en-US" sz="1400" i="1" dirty="0">
                <a:solidFill>
                  <a:srgbClr val="8A7A72"/>
                </a:solidFill>
                <a:latin typeface="Calibri" pitchFamily="34" charset="0"/>
                <a:ea typeface="Calibri" pitchFamily="34" charset="-122"/>
                <a:cs typeface="Calibri" pitchFamily="34" charset="-120"/>
              </a:rPr>
              <a:t>Schrift open. Beantwoord deze drie vragen uit je geheugen — niet opzoeken.</a:t>
            </a:r>
            <a:endParaRPr lang="en-US" sz="1400" dirty="0"/>
          </a:p>
        </p:txBody>
      </p:sp>
      <p:sp>
        <p:nvSpPr>
          <p:cNvPr id="7" name="Shape 4"/>
          <p:cNvSpPr/>
          <p:nvPr/>
        </p:nvSpPr>
        <p:spPr>
          <a:xfrm>
            <a:off x="457200" y="1691640"/>
            <a:ext cx="8229600" cy="841248"/>
          </a:xfrm>
          <a:prstGeom prst="roundRect">
            <a:avLst>
              <a:gd name="adj" fmla="val 6522"/>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8" name="Shape 5"/>
          <p:cNvSpPr/>
          <p:nvPr/>
        </p:nvSpPr>
        <p:spPr>
          <a:xfrm>
            <a:off x="685800" y="1883664"/>
            <a:ext cx="457200" cy="457200"/>
          </a:xfrm>
          <a:prstGeom prst="ellipse">
            <a:avLst/>
          </a:prstGeom>
          <a:solidFill>
            <a:srgbClr val="B85042"/>
          </a:solidFill>
          <a:ln/>
        </p:spPr>
        <p:txBody>
          <a:bodyPr/>
          <a:lstStyle/>
          <a:p>
            <a:endParaRPr lang="en-NL"/>
          </a:p>
        </p:txBody>
      </p:sp>
      <p:sp>
        <p:nvSpPr>
          <p:cNvPr id="9" name="Text 6"/>
          <p:cNvSpPr/>
          <p:nvPr/>
        </p:nvSpPr>
        <p:spPr>
          <a:xfrm>
            <a:off x="685800" y="1883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7"/>
          <p:cNvSpPr/>
          <p:nvPr/>
        </p:nvSpPr>
        <p:spPr>
          <a:xfrm>
            <a:off x="1325880" y="1691640"/>
            <a:ext cx="7178040" cy="841248"/>
          </a:xfrm>
          <a:prstGeom prst="rect">
            <a:avLst/>
          </a:prstGeom>
          <a:noFill/>
          <a:ln/>
        </p:spPr>
        <p:txBody>
          <a:bodyPr wrap="square" lIns="0" tIns="0" rIns="0" bIns="0" rtlCol="0" anchor="ctr"/>
          <a:lstStyle/>
          <a:p>
            <a:pPr marL="0" indent="0">
              <a:buNone/>
            </a:pPr>
            <a:r>
              <a:rPr lang="en-US" sz="1500" dirty="0">
                <a:solidFill>
                  <a:srgbClr val="2B2320"/>
                </a:solidFill>
                <a:latin typeface="Calibri" pitchFamily="34" charset="0"/>
                <a:ea typeface="Calibri" pitchFamily="34" charset="-122"/>
                <a:cs typeface="Calibri" pitchFamily="34" charset="-120"/>
              </a:rPr>
              <a:t>Wat is een deugd? Geef een voorbeeld uit jouw eigen leven van afgelopen week.</a:t>
            </a:r>
            <a:endParaRPr lang="en-US" sz="1500" dirty="0"/>
          </a:p>
        </p:txBody>
      </p:sp>
      <p:sp>
        <p:nvSpPr>
          <p:cNvPr id="11" name="Shape 8"/>
          <p:cNvSpPr/>
          <p:nvPr/>
        </p:nvSpPr>
        <p:spPr>
          <a:xfrm>
            <a:off x="457200" y="2679192"/>
            <a:ext cx="8229600" cy="841248"/>
          </a:xfrm>
          <a:prstGeom prst="roundRect">
            <a:avLst>
              <a:gd name="adj" fmla="val 6522"/>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12" name="Shape 9"/>
          <p:cNvSpPr/>
          <p:nvPr/>
        </p:nvSpPr>
        <p:spPr>
          <a:xfrm>
            <a:off x="685800" y="2871216"/>
            <a:ext cx="457200" cy="457200"/>
          </a:xfrm>
          <a:prstGeom prst="ellipse">
            <a:avLst/>
          </a:prstGeom>
          <a:solidFill>
            <a:srgbClr val="B85042"/>
          </a:solidFill>
          <a:ln/>
        </p:spPr>
        <p:txBody>
          <a:bodyPr/>
          <a:lstStyle/>
          <a:p>
            <a:endParaRPr lang="en-NL"/>
          </a:p>
        </p:txBody>
      </p:sp>
      <p:sp>
        <p:nvSpPr>
          <p:cNvPr id="13" name="Text 10"/>
          <p:cNvSpPr/>
          <p:nvPr/>
        </p:nvSpPr>
        <p:spPr>
          <a:xfrm>
            <a:off x="685800" y="2871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1325880" y="2679192"/>
            <a:ext cx="7178040" cy="841248"/>
          </a:xfrm>
          <a:prstGeom prst="rect">
            <a:avLst/>
          </a:prstGeom>
          <a:noFill/>
          <a:ln/>
        </p:spPr>
        <p:txBody>
          <a:bodyPr wrap="square" lIns="0" tIns="0" rIns="0" bIns="0" rtlCol="0" anchor="ctr"/>
          <a:lstStyle/>
          <a:p>
            <a:pPr marL="0" indent="0">
              <a:buNone/>
            </a:pPr>
            <a:r>
              <a:rPr lang="en-US" sz="1500" dirty="0">
                <a:solidFill>
                  <a:srgbClr val="2B2320"/>
                </a:solidFill>
                <a:latin typeface="Calibri" pitchFamily="34" charset="0"/>
                <a:ea typeface="Calibri" pitchFamily="34" charset="-122"/>
                <a:cs typeface="Calibri" pitchFamily="34" charset="-120"/>
              </a:rPr>
              <a:t>Marcus Aurelius en Thomas van Aquino vonden allebei karakter belangrijk. Noem één verschil tussen hun ideeën.</a:t>
            </a:r>
            <a:endParaRPr lang="en-US" sz="1500" dirty="0"/>
          </a:p>
        </p:txBody>
      </p:sp>
      <p:sp>
        <p:nvSpPr>
          <p:cNvPr id="15" name="Shape 12"/>
          <p:cNvSpPr/>
          <p:nvPr/>
        </p:nvSpPr>
        <p:spPr>
          <a:xfrm>
            <a:off x="457200" y="3666744"/>
            <a:ext cx="8229600" cy="841248"/>
          </a:xfrm>
          <a:prstGeom prst="roundRect">
            <a:avLst>
              <a:gd name="adj" fmla="val 6522"/>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16" name="Shape 13"/>
          <p:cNvSpPr/>
          <p:nvPr/>
        </p:nvSpPr>
        <p:spPr>
          <a:xfrm>
            <a:off x="685800" y="3858768"/>
            <a:ext cx="457200" cy="457200"/>
          </a:xfrm>
          <a:prstGeom prst="ellipse">
            <a:avLst/>
          </a:prstGeom>
          <a:solidFill>
            <a:srgbClr val="B85042"/>
          </a:solidFill>
          <a:ln/>
        </p:spPr>
        <p:txBody>
          <a:bodyPr/>
          <a:lstStyle/>
          <a:p>
            <a:endParaRPr lang="en-NL"/>
          </a:p>
        </p:txBody>
      </p:sp>
      <p:sp>
        <p:nvSpPr>
          <p:cNvPr id="17" name="Text 14"/>
          <p:cNvSpPr/>
          <p:nvPr/>
        </p:nvSpPr>
        <p:spPr>
          <a:xfrm>
            <a:off x="685800" y="38587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5"/>
          <p:cNvSpPr/>
          <p:nvPr/>
        </p:nvSpPr>
        <p:spPr>
          <a:xfrm>
            <a:off x="1325880" y="3666744"/>
            <a:ext cx="7178040" cy="841248"/>
          </a:xfrm>
          <a:prstGeom prst="rect">
            <a:avLst/>
          </a:prstGeom>
          <a:noFill/>
          <a:ln/>
        </p:spPr>
        <p:txBody>
          <a:bodyPr wrap="square" lIns="0" tIns="0" rIns="0" bIns="0" rtlCol="0" anchor="ctr"/>
          <a:lstStyle/>
          <a:p>
            <a:pPr marL="0" indent="0">
              <a:buNone/>
            </a:pPr>
            <a:r>
              <a:rPr lang="en-US" sz="1500" dirty="0">
                <a:solidFill>
                  <a:srgbClr val="2B2320"/>
                </a:solidFill>
                <a:latin typeface="Calibri" pitchFamily="34" charset="0"/>
                <a:ea typeface="Calibri" pitchFamily="34" charset="-122"/>
                <a:cs typeface="Calibri" pitchFamily="34" charset="-120"/>
              </a:rPr>
              <a:t>Leg in één zin uit waar ethiek over gaat.</a:t>
            </a:r>
            <a:endParaRPr lang="en-US" sz="1500" dirty="0"/>
          </a:p>
        </p:txBody>
      </p:sp>
      <p:sp>
        <p:nvSpPr>
          <p:cNvPr id="19" name="Text 16"/>
          <p:cNvSpPr/>
          <p:nvPr/>
        </p:nvSpPr>
        <p:spPr>
          <a:xfrm>
            <a:off x="457200" y="4681728"/>
            <a:ext cx="8229600" cy="320040"/>
          </a:xfrm>
          <a:prstGeom prst="rect">
            <a:avLst/>
          </a:prstGeom>
          <a:noFill/>
          <a:ln/>
        </p:spPr>
        <p:txBody>
          <a:bodyPr wrap="square" lIns="0" tIns="0" rIns="0" bIns="0" rtlCol="0" anchor="ctr"/>
          <a:lstStyle/>
          <a:p>
            <a:pPr marL="0" indent="0">
              <a:buNone/>
            </a:pPr>
            <a:r>
              <a:rPr lang="en-US" sz="1200" i="1" dirty="0">
                <a:solidFill>
                  <a:srgbClr val="8A7A72"/>
                </a:solidFill>
                <a:latin typeface="Calibri" pitchFamily="34" charset="0"/>
                <a:ea typeface="Calibri" pitchFamily="34" charset="-122"/>
                <a:cs typeface="Calibri" pitchFamily="34" charset="-120"/>
              </a:rPr>
              <a:t>Klaar? Lees je antwoord op vraag 2 nog eens na: zou Aurelius zélf knikken?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BORDJES ERBIJ  ·  STEMMEN OP MIJN TEKEN</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Rood of groen?</a:t>
            </a:r>
            <a:endParaRPr lang="en-US" sz="3000" dirty="0"/>
          </a:p>
        </p:txBody>
      </p:sp>
      <p:sp>
        <p:nvSpPr>
          <p:cNvPr id="6" name="Shape 3"/>
          <p:cNvSpPr/>
          <p:nvPr/>
        </p:nvSpPr>
        <p:spPr>
          <a:xfrm>
            <a:off x="457200" y="1371600"/>
            <a:ext cx="4023360" cy="932688"/>
          </a:xfrm>
          <a:prstGeom prst="roundRect">
            <a:avLst>
              <a:gd name="adj" fmla="val 5882"/>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7" name="Shape 4"/>
          <p:cNvSpPr/>
          <p:nvPr/>
        </p:nvSpPr>
        <p:spPr>
          <a:xfrm>
            <a:off x="658368" y="1627632"/>
            <a:ext cx="420624" cy="420624"/>
          </a:xfrm>
          <a:prstGeom prst="ellipse">
            <a:avLst/>
          </a:prstGeom>
          <a:solidFill>
            <a:srgbClr val="5E8C6A"/>
          </a:solidFill>
          <a:ln/>
        </p:spPr>
        <p:txBody>
          <a:bodyPr/>
          <a:lstStyle/>
          <a:p>
            <a:endParaRPr lang="en-NL"/>
          </a:p>
        </p:txBody>
      </p:sp>
      <p:sp>
        <p:nvSpPr>
          <p:cNvPr id="8" name="Text 5"/>
          <p:cNvSpPr/>
          <p:nvPr/>
        </p:nvSpPr>
        <p:spPr>
          <a:xfrm>
            <a:off x="658368" y="16276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234440" y="1371600"/>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Je geweten is bij iedereen hetzelfde — goed is goed, fout is fout.</a:t>
            </a:r>
            <a:endParaRPr lang="en-US" sz="1250" dirty="0"/>
          </a:p>
        </p:txBody>
      </p:sp>
      <p:sp>
        <p:nvSpPr>
          <p:cNvPr id="10" name="Shape 7"/>
          <p:cNvSpPr/>
          <p:nvPr/>
        </p:nvSpPr>
        <p:spPr>
          <a:xfrm>
            <a:off x="4754880" y="1371600"/>
            <a:ext cx="4023360" cy="932688"/>
          </a:xfrm>
          <a:prstGeom prst="roundRect">
            <a:avLst>
              <a:gd name="adj" fmla="val 5882"/>
            </a:avLst>
          </a:prstGeom>
          <a:solidFill>
            <a:srgbClr val="F9ECEA"/>
          </a:solidFill>
          <a:ln/>
          <a:effectLst>
            <a:outerShdw blurRad="88900" dist="25400" dir="2700000" algn="bl" rotWithShape="0">
              <a:srgbClr val="000000">
                <a:alpha val="13000"/>
              </a:srgbClr>
            </a:outerShdw>
          </a:effectLst>
        </p:spPr>
        <p:txBody>
          <a:bodyPr/>
          <a:lstStyle/>
          <a:p>
            <a:endParaRPr lang="en-NL"/>
          </a:p>
        </p:txBody>
      </p:sp>
      <p:sp>
        <p:nvSpPr>
          <p:cNvPr id="11" name="Shape 8"/>
          <p:cNvSpPr/>
          <p:nvPr/>
        </p:nvSpPr>
        <p:spPr>
          <a:xfrm>
            <a:off x="4956048" y="1627632"/>
            <a:ext cx="420624" cy="420624"/>
          </a:xfrm>
          <a:prstGeom prst="ellipse">
            <a:avLst/>
          </a:prstGeom>
          <a:solidFill>
            <a:srgbClr val="C0392B"/>
          </a:solidFill>
          <a:ln/>
        </p:spPr>
        <p:txBody>
          <a:bodyPr/>
          <a:lstStyle/>
          <a:p>
            <a:endParaRPr lang="en-NL"/>
          </a:p>
        </p:txBody>
      </p:sp>
      <p:sp>
        <p:nvSpPr>
          <p:cNvPr id="12" name="Text 9"/>
          <p:cNvSpPr/>
          <p:nvPr/>
        </p:nvSpPr>
        <p:spPr>
          <a:xfrm>
            <a:off x="4956048" y="16276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5532120" y="1371600"/>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Als je je nergens schuldig over voelt, heb je ook niets fout gedaan.</a:t>
            </a:r>
            <a:endParaRPr lang="en-US" sz="1250" dirty="0"/>
          </a:p>
        </p:txBody>
      </p:sp>
      <p:sp>
        <p:nvSpPr>
          <p:cNvPr id="14" name="Shape 11"/>
          <p:cNvSpPr/>
          <p:nvPr/>
        </p:nvSpPr>
        <p:spPr>
          <a:xfrm>
            <a:off x="457200" y="2450592"/>
            <a:ext cx="4023360" cy="932688"/>
          </a:xfrm>
          <a:prstGeom prst="roundRect">
            <a:avLst>
              <a:gd name="adj" fmla="val 5882"/>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15" name="Shape 12"/>
          <p:cNvSpPr/>
          <p:nvPr/>
        </p:nvSpPr>
        <p:spPr>
          <a:xfrm>
            <a:off x="658368" y="2706624"/>
            <a:ext cx="420624" cy="420624"/>
          </a:xfrm>
          <a:prstGeom prst="ellipse">
            <a:avLst/>
          </a:prstGeom>
          <a:solidFill>
            <a:srgbClr val="5E8C6A"/>
          </a:solidFill>
          <a:ln/>
        </p:spPr>
        <p:txBody>
          <a:bodyPr/>
          <a:lstStyle/>
          <a:p>
            <a:endParaRPr lang="en-NL"/>
          </a:p>
        </p:txBody>
      </p:sp>
      <p:sp>
        <p:nvSpPr>
          <p:cNvPr id="16" name="Text 13"/>
          <p:cNvSpPr/>
          <p:nvPr/>
        </p:nvSpPr>
        <p:spPr>
          <a:xfrm>
            <a:off x="658368" y="27066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234440" y="2450592"/>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Je kunt je schuldig voelen over iets waar je niets aan kon doen.</a:t>
            </a:r>
            <a:endParaRPr lang="en-US" sz="1250" dirty="0"/>
          </a:p>
        </p:txBody>
      </p:sp>
      <p:sp>
        <p:nvSpPr>
          <p:cNvPr id="18" name="Shape 15"/>
          <p:cNvSpPr/>
          <p:nvPr/>
        </p:nvSpPr>
        <p:spPr>
          <a:xfrm>
            <a:off x="4754880" y="2450592"/>
            <a:ext cx="4023360" cy="932688"/>
          </a:xfrm>
          <a:prstGeom prst="roundRect">
            <a:avLst>
              <a:gd name="adj" fmla="val 5882"/>
            </a:avLst>
          </a:prstGeom>
          <a:solidFill>
            <a:srgbClr val="F9ECEA"/>
          </a:solidFill>
          <a:ln/>
          <a:effectLst>
            <a:outerShdw blurRad="88900" dist="25400" dir="2700000" algn="bl" rotWithShape="0">
              <a:srgbClr val="000000">
                <a:alpha val="13000"/>
              </a:srgbClr>
            </a:outerShdw>
          </a:effectLst>
        </p:spPr>
        <p:txBody>
          <a:bodyPr/>
          <a:lstStyle/>
          <a:p>
            <a:endParaRPr lang="en-NL"/>
          </a:p>
        </p:txBody>
      </p:sp>
      <p:sp>
        <p:nvSpPr>
          <p:cNvPr id="19" name="Shape 16"/>
          <p:cNvSpPr/>
          <p:nvPr/>
        </p:nvSpPr>
        <p:spPr>
          <a:xfrm>
            <a:off x="4956048" y="2706624"/>
            <a:ext cx="420624" cy="420624"/>
          </a:xfrm>
          <a:prstGeom prst="ellipse">
            <a:avLst/>
          </a:prstGeom>
          <a:solidFill>
            <a:srgbClr val="C0392B"/>
          </a:solidFill>
          <a:ln/>
        </p:spPr>
        <p:txBody>
          <a:bodyPr/>
          <a:lstStyle/>
          <a:p>
            <a:endParaRPr lang="en-NL"/>
          </a:p>
        </p:txBody>
      </p:sp>
      <p:sp>
        <p:nvSpPr>
          <p:cNvPr id="20" name="Text 17"/>
          <p:cNvSpPr/>
          <p:nvPr/>
        </p:nvSpPr>
        <p:spPr>
          <a:xfrm>
            <a:off x="4956048" y="27066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8"/>
          <p:cNvSpPr/>
          <p:nvPr/>
        </p:nvSpPr>
        <p:spPr>
          <a:xfrm>
            <a:off x="5532120" y="2450592"/>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“Ik heb gelogen” en “ik ben een leugenaar” betekenen hetzelfde.</a:t>
            </a:r>
            <a:endParaRPr lang="en-US" sz="1250" dirty="0"/>
          </a:p>
        </p:txBody>
      </p:sp>
      <p:sp>
        <p:nvSpPr>
          <p:cNvPr id="22" name="Shape 19"/>
          <p:cNvSpPr/>
          <p:nvPr/>
        </p:nvSpPr>
        <p:spPr>
          <a:xfrm>
            <a:off x="457200" y="3529584"/>
            <a:ext cx="4023360" cy="932688"/>
          </a:xfrm>
          <a:prstGeom prst="roundRect">
            <a:avLst>
              <a:gd name="adj" fmla="val 5882"/>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23" name="Shape 20"/>
          <p:cNvSpPr/>
          <p:nvPr/>
        </p:nvSpPr>
        <p:spPr>
          <a:xfrm>
            <a:off x="658368" y="3785616"/>
            <a:ext cx="420624" cy="420624"/>
          </a:xfrm>
          <a:prstGeom prst="ellipse">
            <a:avLst/>
          </a:prstGeom>
          <a:solidFill>
            <a:srgbClr val="5E8C6A"/>
          </a:solidFill>
          <a:ln/>
        </p:spPr>
        <p:txBody>
          <a:bodyPr/>
          <a:lstStyle/>
          <a:p>
            <a:endParaRPr lang="en-NL"/>
          </a:p>
        </p:txBody>
      </p:sp>
      <p:sp>
        <p:nvSpPr>
          <p:cNvPr id="24" name="Text 21"/>
          <p:cNvSpPr/>
          <p:nvPr/>
        </p:nvSpPr>
        <p:spPr>
          <a:xfrm>
            <a:off x="658368" y="378561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5" name="Text 22"/>
          <p:cNvSpPr/>
          <p:nvPr/>
        </p:nvSpPr>
        <p:spPr>
          <a:xfrm>
            <a:off x="1234440" y="3529584"/>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Schuldgevoel is altijd vervelend en dus altijd slecht.</a:t>
            </a:r>
            <a:endParaRPr lang="en-US" sz="1250" dirty="0"/>
          </a:p>
        </p:txBody>
      </p:sp>
      <p:sp>
        <p:nvSpPr>
          <p:cNvPr id="26" name="Shape 23"/>
          <p:cNvSpPr/>
          <p:nvPr/>
        </p:nvSpPr>
        <p:spPr>
          <a:xfrm>
            <a:off x="4754880" y="3529584"/>
            <a:ext cx="4023360" cy="932688"/>
          </a:xfrm>
          <a:prstGeom prst="roundRect">
            <a:avLst>
              <a:gd name="adj" fmla="val 5882"/>
            </a:avLst>
          </a:prstGeom>
          <a:solidFill>
            <a:srgbClr val="F9ECEA"/>
          </a:solidFill>
          <a:ln/>
          <a:effectLst>
            <a:outerShdw blurRad="88900" dist="25400" dir="2700000" algn="bl" rotWithShape="0">
              <a:srgbClr val="000000">
                <a:alpha val="13000"/>
              </a:srgbClr>
            </a:outerShdw>
          </a:effectLst>
        </p:spPr>
        <p:txBody>
          <a:bodyPr/>
          <a:lstStyle/>
          <a:p>
            <a:endParaRPr lang="en-NL"/>
          </a:p>
        </p:txBody>
      </p:sp>
      <p:sp>
        <p:nvSpPr>
          <p:cNvPr id="27" name="Shape 24"/>
          <p:cNvSpPr/>
          <p:nvPr/>
        </p:nvSpPr>
        <p:spPr>
          <a:xfrm>
            <a:off x="4956048" y="3785616"/>
            <a:ext cx="420624" cy="420624"/>
          </a:xfrm>
          <a:prstGeom prst="ellipse">
            <a:avLst/>
          </a:prstGeom>
          <a:solidFill>
            <a:srgbClr val="C0392B"/>
          </a:solidFill>
          <a:ln/>
        </p:spPr>
        <p:txBody>
          <a:bodyPr/>
          <a:lstStyle/>
          <a:p>
            <a:endParaRPr lang="en-NL"/>
          </a:p>
        </p:txBody>
      </p:sp>
      <p:sp>
        <p:nvSpPr>
          <p:cNvPr id="28" name="Text 25"/>
          <p:cNvSpPr/>
          <p:nvPr/>
        </p:nvSpPr>
        <p:spPr>
          <a:xfrm>
            <a:off x="4956048" y="378561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9" name="Text 26"/>
          <p:cNvSpPr/>
          <p:nvPr/>
        </p:nvSpPr>
        <p:spPr>
          <a:xfrm>
            <a:off x="5532120" y="3529584"/>
            <a:ext cx="3154680" cy="932688"/>
          </a:xfrm>
          <a:prstGeom prst="rect">
            <a:avLst/>
          </a:prstGeom>
          <a:noFill/>
          <a:ln/>
        </p:spPr>
        <p:txBody>
          <a:bodyPr wrap="square" lIns="0" tIns="0" rIns="0" bIns="0" rtlCol="0" anchor="ctr"/>
          <a:lstStyle/>
          <a:p>
            <a:pPr marL="0" indent="0">
              <a:buNone/>
            </a:pPr>
            <a:r>
              <a:rPr lang="en-US" sz="1250" dirty="0">
                <a:solidFill>
                  <a:srgbClr val="2B2320"/>
                </a:solidFill>
                <a:latin typeface="Calibri" pitchFamily="34" charset="0"/>
                <a:ea typeface="Calibri" pitchFamily="34" charset="-122"/>
                <a:cs typeface="Calibri" pitchFamily="34" charset="-120"/>
              </a:rPr>
              <a:t>Een écht deugdzaam persoon heeft geen schuldgevoel nodig.</a:t>
            </a:r>
            <a:endParaRPr lang="en-US" sz="1250" dirty="0"/>
          </a:p>
        </p:txBody>
      </p:sp>
      <p:sp>
        <p:nvSpPr>
          <p:cNvPr id="30" name="Shape 27"/>
          <p:cNvSpPr/>
          <p:nvPr/>
        </p:nvSpPr>
        <p:spPr>
          <a:xfrm>
            <a:off x="457200" y="4498848"/>
            <a:ext cx="8229600" cy="603504"/>
          </a:xfrm>
          <a:prstGeom prst="roundRect">
            <a:avLst>
              <a:gd name="adj" fmla="val 9091"/>
            </a:avLst>
          </a:prstGeom>
          <a:solidFill>
            <a:srgbClr val="F7EFEC"/>
          </a:solidFill>
          <a:ln/>
          <a:effectLst>
            <a:outerShdw blurRad="88900" dist="25400" dir="2700000" algn="bl" rotWithShape="0">
              <a:srgbClr val="000000">
                <a:alpha val="13000"/>
              </a:srgbClr>
            </a:outerShdw>
          </a:effectLst>
        </p:spPr>
        <p:txBody>
          <a:bodyPr/>
          <a:lstStyle/>
          <a:p>
            <a:endParaRPr lang="en-NL"/>
          </a:p>
        </p:txBody>
      </p:sp>
      <p:pic>
        <p:nvPicPr>
          <p:cNvPr id="31" name="Image 1" descr="preencoded.png"/>
          <p:cNvPicPr>
            <a:picLocks noChangeAspect="1"/>
          </p:cNvPicPr>
          <p:nvPr/>
        </p:nvPicPr>
        <p:blipFill>
          <a:blip r:embed="rId4"/>
          <a:stretch>
            <a:fillRect/>
          </a:stretch>
        </p:blipFill>
        <p:spPr>
          <a:xfrm>
            <a:off x="658368" y="4672584"/>
            <a:ext cx="256032" cy="256032"/>
          </a:xfrm>
          <a:prstGeom prst="rect">
            <a:avLst/>
          </a:prstGeom>
        </p:spPr>
      </p:pic>
      <p:sp>
        <p:nvSpPr>
          <p:cNvPr id="32" name="Text 28"/>
          <p:cNvSpPr/>
          <p:nvPr/>
        </p:nvSpPr>
        <p:spPr>
          <a:xfrm>
            <a:off x="1051560" y="4498848"/>
            <a:ext cx="7452360" cy="603504"/>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Schrift erbij.  </a:t>
            </a:r>
            <a:r>
              <a:rPr lang="en-US" sz="1200" dirty="0">
                <a:solidFill>
                  <a:srgbClr val="2B2320"/>
                </a:solidFill>
                <a:latin typeface="Calibri" pitchFamily="34" charset="0"/>
                <a:ea typeface="Calibri" pitchFamily="34" charset="-122"/>
                <a:cs typeface="Calibri" pitchFamily="34" charset="-120"/>
              </a:rPr>
              <a:t>Kies de stelling waar de klas het meest verdeeld is en schrijf in één zin op waaróm jij groen of rood koos.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UITLEG</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Je geweten = je rookmelder</a:t>
            </a:r>
            <a:endParaRPr lang="en-US" sz="3000" dirty="0"/>
          </a:p>
        </p:txBody>
      </p:sp>
      <p:sp>
        <p:nvSpPr>
          <p:cNvPr id="6" name="Shape 3"/>
          <p:cNvSpPr/>
          <p:nvPr/>
        </p:nvSpPr>
        <p:spPr>
          <a:xfrm>
            <a:off x="457200" y="1463040"/>
            <a:ext cx="3200400" cy="914400"/>
          </a:xfrm>
          <a:prstGeom prst="roundRect">
            <a:avLst>
              <a:gd name="adj" fmla="val 6000"/>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7" name="Text 4"/>
          <p:cNvSpPr/>
          <p:nvPr/>
        </p:nvSpPr>
        <p:spPr>
          <a:xfrm>
            <a:off x="658368" y="1463040"/>
            <a:ext cx="2834640" cy="914400"/>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Thuis</a:t>
            </a:r>
            <a:endParaRPr lang="en-US" sz="1400" dirty="0"/>
          </a:p>
          <a:p>
            <a:pPr marL="0" indent="0">
              <a:buNone/>
            </a:pPr>
            <a:r>
              <a:rPr lang="en-US" sz="1200" dirty="0">
                <a:solidFill>
                  <a:srgbClr val="2B2320"/>
                </a:solidFill>
                <a:latin typeface="Calibri" pitchFamily="34" charset="0"/>
                <a:ea typeface="Calibri" pitchFamily="34" charset="-122"/>
                <a:cs typeface="Calibri" pitchFamily="34" charset="-120"/>
              </a:rPr>
              <a:t>de waarden die je van je ouders meekrijgt</a:t>
            </a:r>
            <a:endParaRPr lang="en-US" sz="1400" dirty="0"/>
          </a:p>
        </p:txBody>
      </p:sp>
      <p:sp>
        <p:nvSpPr>
          <p:cNvPr id="8" name="Shape 5"/>
          <p:cNvSpPr/>
          <p:nvPr/>
        </p:nvSpPr>
        <p:spPr>
          <a:xfrm>
            <a:off x="457200" y="2542032"/>
            <a:ext cx="3200400" cy="914400"/>
          </a:xfrm>
          <a:prstGeom prst="roundRect">
            <a:avLst>
              <a:gd name="adj" fmla="val 6000"/>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9" name="Text 6"/>
          <p:cNvSpPr/>
          <p:nvPr/>
        </p:nvSpPr>
        <p:spPr>
          <a:xfrm>
            <a:off x="658368" y="2542032"/>
            <a:ext cx="2834640" cy="914400"/>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School &amp; vrienden</a:t>
            </a:r>
            <a:endParaRPr lang="en-US" sz="1400" dirty="0"/>
          </a:p>
          <a:p>
            <a:pPr marL="0" indent="0">
              <a:buNone/>
            </a:pPr>
            <a:r>
              <a:rPr lang="en-US" sz="1200" dirty="0">
                <a:solidFill>
                  <a:srgbClr val="2B2320"/>
                </a:solidFill>
                <a:latin typeface="Calibri" pitchFamily="34" charset="0"/>
                <a:ea typeface="Calibri" pitchFamily="34" charset="-122"/>
                <a:cs typeface="Calibri" pitchFamily="34" charset="-120"/>
              </a:rPr>
              <a:t>wat jouw groep normaal of fout vindt</a:t>
            </a:r>
            <a:endParaRPr lang="en-US" sz="1400" dirty="0"/>
          </a:p>
        </p:txBody>
      </p:sp>
      <p:sp>
        <p:nvSpPr>
          <p:cNvPr id="10" name="Shape 7"/>
          <p:cNvSpPr/>
          <p:nvPr/>
        </p:nvSpPr>
        <p:spPr>
          <a:xfrm>
            <a:off x="457200" y="3621024"/>
            <a:ext cx="3200400" cy="914400"/>
          </a:xfrm>
          <a:prstGeom prst="roundRect">
            <a:avLst>
              <a:gd name="adj" fmla="val 6000"/>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11" name="Text 8"/>
          <p:cNvSpPr/>
          <p:nvPr/>
        </p:nvSpPr>
        <p:spPr>
          <a:xfrm>
            <a:off x="658368" y="3621024"/>
            <a:ext cx="2834640" cy="914400"/>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Eigen ervaringen</a:t>
            </a:r>
            <a:endParaRPr lang="en-US" sz="1400" dirty="0"/>
          </a:p>
          <a:p>
            <a:pPr marL="0" indent="0">
              <a:buNone/>
            </a:pPr>
            <a:r>
              <a:rPr lang="en-US" sz="1200" dirty="0">
                <a:solidFill>
                  <a:srgbClr val="2B2320"/>
                </a:solidFill>
                <a:latin typeface="Calibri" pitchFamily="34" charset="0"/>
                <a:ea typeface="Calibri" pitchFamily="34" charset="-122"/>
                <a:cs typeface="Calibri" pitchFamily="34" charset="-120"/>
              </a:rPr>
              <a:t>wat je zelf hebt meegemaakt en geleerd</a:t>
            </a:r>
            <a:endParaRPr lang="en-US" sz="1400" dirty="0"/>
          </a:p>
        </p:txBody>
      </p:sp>
      <p:sp>
        <p:nvSpPr>
          <p:cNvPr id="12" name="Shape 9"/>
          <p:cNvSpPr/>
          <p:nvPr/>
        </p:nvSpPr>
        <p:spPr>
          <a:xfrm>
            <a:off x="3703320" y="1920240"/>
            <a:ext cx="1188720" cy="777240"/>
          </a:xfrm>
          <a:prstGeom prst="line">
            <a:avLst/>
          </a:prstGeom>
          <a:noFill/>
          <a:ln w="19050">
            <a:solidFill>
              <a:srgbClr val="8A7A72"/>
            </a:solidFill>
            <a:prstDash val="solid"/>
            <a:tailEnd type="triangle"/>
          </a:ln>
        </p:spPr>
        <p:txBody>
          <a:bodyPr/>
          <a:lstStyle/>
          <a:p>
            <a:endParaRPr lang="en-NL"/>
          </a:p>
        </p:txBody>
      </p:sp>
      <p:sp>
        <p:nvSpPr>
          <p:cNvPr id="13" name="Shape 10"/>
          <p:cNvSpPr/>
          <p:nvPr/>
        </p:nvSpPr>
        <p:spPr>
          <a:xfrm>
            <a:off x="3703320" y="2834640"/>
            <a:ext cx="1188720" cy="0"/>
          </a:xfrm>
          <a:prstGeom prst="line">
            <a:avLst/>
          </a:prstGeom>
          <a:noFill/>
          <a:ln w="19050">
            <a:solidFill>
              <a:srgbClr val="8A7A72"/>
            </a:solidFill>
            <a:prstDash val="solid"/>
            <a:tailEnd type="triangle"/>
          </a:ln>
        </p:spPr>
        <p:txBody>
          <a:bodyPr/>
          <a:lstStyle/>
          <a:p>
            <a:endParaRPr lang="en-NL"/>
          </a:p>
        </p:txBody>
      </p:sp>
      <p:sp>
        <p:nvSpPr>
          <p:cNvPr id="14" name="Shape 11"/>
          <p:cNvSpPr/>
          <p:nvPr/>
        </p:nvSpPr>
        <p:spPr>
          <a:xfrm flipV="1">
            <a:off x="3703320" y="3063240"/>
            <a:ext cx="1188720" cy="1005840"/>
          </a:xfrm>
          <a:prstGeom prst="line">
            <a:avLst/>
          </a:prstGeom>
          <a:noFill/>
          <a:ln w="19050">
            <a:solidFill>
              <a:srgbClr val="8A7A72"/>
            </a:solidFill>
            <a:prstDash val="solid"/>
            <a:tailEnd type="triangle"/>
          </a:ln>
        </p:spPr>
        <p:txBody>
          <a:bodyPr/>
          <a:lstStyle/>
          <a:p>
            <a:endParaRPr lang="en-NL"/>
          </a:p>
        </p:txBody>
      </p:sp>
      <p:sp>
        <p:nvSpPr>
          <p:cNvPr id="15" name="Shape 12"/>
          <p:cNvSpPr/>
          <p:nvPr/>
        </p:nvSpPr>
        <p:spPr>
          <a:xfrm>
            <a:off x="4983480" y="1600200"/>
            <a:ext cx="2468880" cy="2468880"/>
          </a:xfrm>
          <a:prstGeom prst="ellipse">
            <a:avLst/>
          </a:prstGeom>
          <a:solidFill>
            <a:srgbClr val="4A2018"/>
          </a:solidFill>
          <a:ln/>
        </p:spPr>
        <p:txBody>
          <a:bodyPr/>
          <a:lstStyle/>
          <a:p>
            <a:endParaRPr lang="en-NL"/>
          </a:p>
        </p:txBody>
      </p:sp>
      <p:sp>
        <p:nvSpPr>
          <p:cNvPr id="16" name="Shape 13"/>
          <p:cNvSpPr/>
          <p:nvPr/>
        </p:nvSpPr>
        <p:spPr>
          <a:xfrm>
            <a:off x="5349240" y="1965960"/>
            <a:ext cx="1737360" cy="1737360"/>
          </a:xfrm>
          <a:prstGeom prst="ellipse">
            <a:avLst/>
          </a:prstGeom>
          <a:solidFill>
            <a:srgbClr val="B85042"/>
          </a:solidFill>
          <a:ln/>
        </p:spPr>
        <p:txBody>
          <a:bodyPr/>
          <a:lstStyle/>
          <a:p>
            <a:endParaRPr lang="en-NL"/>
          </a:p>
        </p:txBody>
      </p:sp>
      <p:pic>
        <p:nvPicPr>
          <p:cNvPr id="17" name="Image 1" descr="preencoded.png"/>
          <p:cNvPicPr>
            <a:picLocks noChangeAspect="1"/>
          </p:cNvPicPr>
          <p:nvPr/>
        </p:nvPicPr>
        <p:blipFill>
          <a:blip r:embed="rId3"/>
          <a:stretch>
            <a:fillRect/>
          </a:stretch>
        </p:blipFill>
        <p:spPr>
          <a:xfrm>
            <a:off x="5897880" y="2468880"/>
            <a:ext cx="640080" cy="640080"/>
          </a:xfrm>
          <a:prstGeom prst="rect">
            <a:avLst/>
          </a:prstGeom>
        </p:spPr>
      </p:pic>
      <p:sp>
        <p:nvSpPr>
          <p:cNvPr id="18" name="Text 14"/>
          <p:cNvSpPr/>
          <p:nvPr/>
        </p:nvSpPr>
        <p:spPr>
          <a:xfrm>
            <a:off x="4800600" y="4160520"/>
            <a:ext cx="2834640" cy="274320"/>
          </a:xfrm>
          <a:prstGeom prst="rect">
            <a:avLst/>
          </a:prstGeom>
          <a:noFill/>
          <a:ln/>
        </p:spPr>
        <p:txBody>
          <a:bodyPr wrap="square" lIns="0" tIns="0" rIns="0" bIns="0" rtlCol="0" anchor="ctr"/>
          <a:lstStyle/>
          <a:p>
            <a:pPr marL="0" indent="0" algn="ctr">
              <a:buNone/>
            </a:pPr>
            <a:r>
              <a:rPr lang="en-US" sz="1200" b="1" kern="0" spc="200" dirty="0">
                <a:solidFill>
                  <a:srgbClr val="4A2018"/>
                </a:solidFill>
                <a:latin typeface="Calibri" pitchFamily="34" charset="0"/>
                <a:ea typeface="Calibri" pitchFamily="34" charset="-122"/>
                <a:cs typeface="Calibri" pitchFamily="34" charset="-120"/>
              </a:rPr>
              <a:t>JOUW GEWETEN</a:t>
            </a:r>
            <a:endParaRPr lang="en-US" sz="1200" dirty="0"/>
          </a:p>
        </p:txBody>
      </p:sp>
      <p:sp>
        <p:nvSpPr>
          <p:cNvPr id="19" name="Text 15"/>
          <p:cNvSpPr/>
          <p:nvPr/>
        </p:nvSpPr>
        <p:spPr>
          <a:xfrm>
            <a:off x="7635240" y="2103120"/>
            <a:ext cx="1463040" cy="1554480"/>
          </a:xfrm>
          <a:prstGeom prst="rect">
            <a:avLst/>
          </a:prstGeom>
          <a:noFill/>
          <a:ln/>
        </p:spPr>
        <p:txBody>
          <a:bodyPr wrap="square" lIns="0" tIns="0" rIns="0" bIns="0" rtlCol="0" anchor="ctr"/>
          <a:lstStyle/>
          <a:p>
            <a:pPr marL="0" indent="0">
              <a:buNone/>
            </a:pPr>
            <a:r>
              <a:rPr lang="en-US" sz="1150" i="1" dirty="0">
                <a:solidFill>
                  <a:srgbClr val="2B2320"/>
                </a:solidFill>
                <a:latin typeface="Calibri" pitchFamily="34" charset="0"/>
                <a:ea typeface="Calibri" pitchFamily="34" charset="-122"/>
                <a:cs typeface="Calibri" pitchFamily="34" charset="-120"/>
              </a:rPr>
              <a:t>Hij gaat af als er iets mis is — soms terecht, soms te gevoelig. </a:t>
            </a:r>
            <a:r>
              <a:rPr lang="en-US" sz="1150" b="1" i="1" dirty="0">
                <a:solidFill>
                  <a:srgbClr val="B85042"/>
                </a:solidFill>
                <a:latin typeface="Calibri" pitchFamily="34" charset="0"/>
                <a:ea typeface="Calibri" pitchFamily="34" charset="-122"/>
                <a:cs typeface="Calibri" pitchFamily="34" charset="-120"/>
              </a:rPr>
              <a:t>En: hij is bij iedereen anders afgesteld.</a:t>
            </a:r>
            <a:endParaRPr lang="en-US" sz="1150" dirty="0"/>
          </a:p>
        </p:txBody>
      </p:sp>
      <p:sp>
        <p:nvSpPr>
          <p:cNvPr id="20" name="Shape 16"/>
          <p:cNvSpPr/>
          <p:nvPr/>
        </p:nvSpPr>
        <p:spPr>
          <a:xfrm>
            <a:off x="457200" y="4498848"/>
            <a:ext cx="8229600" cy="603504"/>
          </a:xfrm>
          <a:prstGeom prst="roundRect">
            <a:avLst>
              <a:gd name="adj" fmla="val 9091"/>
            </a:avLst>
          </a:prstGeom>
          <a:solidFill>
            <a:srgbClr val="F7EFEC"/>
          </a:solidFill>
          <a:ln/>
          <a:effectLst>
            <a:outerShdw blurRad="88900" dist="25400" dir="2700000" algn="bl" rotWithShape="0">
              <a:srgbClr val="000000">
                <a:alpha val="13000"/>
              </a:srgbClr>
            </a:outerShdw>
          </a:effectLst>
        </p:spPr>
        <p:txBody>
          <a:bodyPr/>
          <a:lstStyle/>
          <a:p>
            <a:endParaRPr lang="en-NL"/>
          </a:p>
        </p:txBody>
      </p:sp>
      <p:pic>
        <p:nvPicPr>
          <p:cNvPr id="21" name="Image 2" descr="preencoded.png"/>
          <p:cNvPicPr>
            <a:picLocks noChangeAspect="1"/>
          </p:cNvPicPr>
          <p:nvPr/>
        </p:nvPicPr>
        <p:blipFill>
          <a:blip r:embed="rId4"/>
          <a:stretch>
            <a:fillRect/>
          </a:stretch>
        </p:blipFill>
        <p:spPr>
          <a:xfrm>
            <a:off x="658368" y="4672584"/>
            <a:ext cx="256032" cy="256032"/>
          </a:xfrm>
          <a:prstGeom prst="rect">
            <a:avLst/>
          </a:prstGeom>
        </p:spPr>
      </p:pic>
      <p:sp>
        <p:nvSpPr>
          <p:cNvPr id="22" name="Text 17"/>
          <p:cNvSpPr/>
          <p:nvPr/>
        </p:nvSpPr>
        <p:spPr>
          <a:xfrm>
            <a:off x="1051560" y="4498848"/>
            <a:ext cx="7452360" cy="603504"/>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Schrift erbij.  </a:t>
            </a:r>
            <a:r>
              <a:rPr lang="en-US" sz="1200" dirty="0">
                <a:solidFill>
                  <a:srgbClr val="2B2320"/>
                </a:solidFill>
                <a:latin typeface="Calibri" pitchFamily="34" charset="0"/>
                <a:ea typeface="Calibri" pitchFamily="34" charset="-122"/>
                <a:cs typeface="Calibri" pitchFamily="34" charset="-120"/>
              </a:rPr>
              <a:t>Neem de tekening (of de woorden geweten + afgesteld) over in je schrift. Geweten ≠ verstand: je kunt iets wéten zonder het te vóélen.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HET BELANGRIJKSTE ONDERSCHEID</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Schuld of schaamte?</a:t>
            </a:r>
            <a:endParaRPr lang="en-US" sz="3000" dirty="0"/>
          </a:p>
        </p:txBody>
      </p:sp>
      <p:sp>
        <p:nvSpPr>
          <p:cNvPr id="6" name="Shape 3"/>
          <p:cNvSpPr/>
          <p:nvPr/>
        </p:nvSpPr>
        <p:spPr>
          <a:xfrm>
            <a:off x="457200" y="1371600"/>
            <a:ext cx="4023360" cy="3108960"/>
          </a:xfrm>
          <a:prstGeom prst="roundRect">
            <a:avLst>
              <a:gd name="adj" fmla="val 2059"/>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7" name="Text 4"/>
          <p:cNvSpPr/>
          <p:nvPr/>
        </p:nvSpPr>
        <p:spPr>
          <a:xfrm>
            <a:off x="457200" y="1572768"/>
            <a:ext cx="4023360" cy="365760"/>
          </a:xfrm>
          <a:prstGeom prst="rect">
            <a:avLst/>
          </a:prstGeom>
          <a:noFill/>
          <a:ln/>
        </p:spPr>
        <p:txBody>
          <a:bodyPr wrap="square" lIns="0" tIns="0" rIns="0" bIns="0" rtlCol="0" anchor="ctr"/>
          <a:lstStyle/>
          <a:p>
            <a:pPr marL="0" indent="0" algn="ctr">
              <a:buNone/>
            </a:pPr>
            <a:r>
              <a:rPr lang="en-US" sz="2200" b="1" dirty="0">
                <a:solidFill>
                  <a:srgbClr val="5E8C6A"/>
                </a:solidFill>
                <a:latin typeface="Cambria" pitchFamily="34" charset="0"/>
                <a:ea typeface="Cambria" pitchFamily="34" charset="-122"/>
                <a:cs typeface="Cambria" pitchFamily="34" charset="-120"/>
              </a:rPr>
              <a:t>SCHULD</a:t>
            </a:r>
            <a:endParaRPr lang="en-US" sz="2200" dirty="0"/>
          </a:p>
        </p:txBody>
      </p:sp>
      <p:sp>
        <p:nvSpPr>
          <p:cNvPr id="8" name="Text 5"/>
          <p:cNvSpPr/>
          <p:nvPr/>
        </p:nvSpPr>
        <p:spPr>
          <a:xfrm>
            <a:off x="777240" y="2057400"/>
            <a:ext cx="3383280" cy="2286000"/>
          </a:xfrm>
          <a:prstGeom prst="rect">
            <a:avLst/>
          </a:prstGeom>
          <a:noFill/>
          <a:ln/>
        </p:spPr>
        <p:txBody>
          <a:bodyPr wrap="square" lIns="0" tIns="0" rIns="0" bIns="0" rtlCol="0" anchor="ctr"/>
          <a:lstStyle/>
          <a:p>
            <a:pPr marL="0" indent="0">
              <a:spcAft>
                <a:spcPts val="800"/>
              </a:spcAft>
              <a:buNone/>
            </a:pPr>
            <a:r>
              <a:rPr lang="en-US" sz="1500" b="1" i="1" dirty="0">
                <a:solidFill>
                  <a:srgbClr val="2B2320"/>
                </a:solidFill>
                <a:latin typeface="Calibri" pitchFamily="34" charset="0"/>
                <a:ea typeface="Calibri" pitchFamily="34" charset="-122"/>
                <a:cs typeface="Calibri" pitchFamily="34" charset="-120"/>
              </a:rPr>
              <a:t>“Ik heb iets slechts gedáán.”</a:t>
            </a:r>
            <a:endParaRPr lang="en-US" sz="1350" dirty="0"/>
          </a:p>
          <a:p>
            <a:pPr marL="0" indent="0">
              <a:spcAft>
                <a:spcPts val="800"/>
              </a:spcAft>
              <a:buNone/>
            </a:pP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Gaat over je handeling</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Zet aan tot herstellen: sorry zeggen, rechtzetten</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“Ik had niet moeten liegen.”</a:t>
            </a:r>
            <a:endParaRPr lang="en-US" sz="1350" dirty="0"/>
          </a:p>
        </p:txBody>
      </p:sp>
      <p:sp>
        <p:nvSpPr>
          <p:cNvPr id="9" name="Shape 6"/>
          <p:cNvSpPr/>
          <p:nvPr/>
        </p:nvSpPr>
        <p:spPr>
          <a:xfrm>
            <a:off x="4663440" y="1371600"/>
            <a:ext cx="4023360" cy="3108960"/>
          </a:xfrm>
          <a:prstGeom prst="roundRect">
            <a:avLst>
              <a:gd name="adj" fmla="val 2059"/>
            </a:avLst>
          </a:prstGeom>
          <a:solidFill>
            <a:srgbClr val="F9ECEA"/>
          </a:solidFill>
          <a:ln/>
          <a:effectLst>
            <a:outerShdw blurRad="88900" dist="25400" dir="2700000" algn="bl" rotWithShape="0">
              <a:srgbClr val="000000">
                <a:alpha val="13000"/>
              </a:srgbClr>
            </a:outerShdw>
          </a:effectLst>
        </p:spPr>
        <p:txBody>
          <a:bodyPr/>
          <a:lstStyle/>
          <a:p>
            <a:endParaRPr lang="en-NL"/>
          </a:p>
        </p:txBody>
      </p:sp>
      <p:sp>
        <p:nvSpPr>
          <p:cNvPr id="10" name="Text 7"/>
          <p:cNvSpPr/>
          <p:nvPr/>
        </p:nvSpPr>
        <p:spPr>
          <a:xfrm>
            <a:off x="4663440" y="1572768"/>
            <a:ext cx="4023360" cy="365760"/>
          </a:xfrm>
          <a:prstGeom prst="rect">
            <a:avLst/>
          </a:prstGeom>
          <a:noFill/>
          <a:ln/>
        </p:spPr>
        <p:txBody>
          <a:bodyPr wrap="square" lIns="0" tIns="0" rIns="0" bIns="0" rtlCol="0" anchor="ctr"/>
          <a:lstStyle/>
          <a:p>
            <a:pPr marL="0" indent="0" algn="ctr">
              <a:buNone/>
            </a:pPr>
            <a:r>
              <a:rPr lang="en-US" sz="2200" b="1" dirty="0">
                <a:solidFill>
                  <a:srgbClr val="C0392B"/>
                </a:solidFill>
                <a:latin typeface="Cambria" pitchFamily="34" charset="0"/>
                <a:ea typeface="Cambria" pitchFamily="34" charset="-122"/>
                <a:cs typeface="Cambria" pitchFamily="34" charset="-120"/>
              </a:rPr>
              <a:t>SCHAAMTE</a:t>
            </a:r>
            <a:endParaRPr lang="en-US" sz="2200" dirty="0"/>
          </a:p>
        </p:txBody>
      </p:sp>
      <p:sp>
        <p:nvSpPr>
          <p:cNvPr id="11" name="Text 8"/>
          <p:cNvSpPr/>
          <p:nvPr/>
        </p:nvSpPr>
        <p:spPr>
          <a:xfrm>
            <a:off x="4983480" y="2057400"/>
            <a:ext cx="3383280" cy="2286000"/>
          </a:xfrm>
          <a:prstGeom prst="rect">
            <a:avLst/>
          </a:prstGeom>
          <a:noFill/>
          <a:ln/>
        </p:spPr>
        <p:txBody>
          <a:bodyPr wrap="square" lIns="0" tIns="0" rIns="0" bIns="0" rtlCol="0" anchor="ctr"/>
          <a:lstStyle/>
          <a:p>
            <a:pPr marL="0" indent="0">
              <a:spcAft>
                <a:spcPts val="800"/>
              </a:spcAft>
              <a:buNone/>
            </a:pPr>
            <a:r>
              <a:rPr lang="en-US" sz="1500" b="1" i="1" dirty="0">
                <a:solidFill>
                  <a:srgbClr val="2B2320"/>
                </a:solidFill>
                <a:latin typeface="Calibri" pitchFamily="34" charset="0"/>
                <a:ea typeface="Calibri" pitchFamily="34" charset="-122"/>
                <a:cs typeface="Calibri" pitchFamily="34" charset="-120"/>
              </a:rPr>
              <a:t>“Ik bén slecht.”</a:t>
            </a:r>
            <a:endParaRPr lang="en-US" sz="1350" dirty="0"/>
          </a:p>
          <a:p>
            <a:pPr marL="0" indent="0">
              <a:spcAft>
                <a:spcPts val="800"/>
              </a:spcAft>
              <a:buNone/>
            </a:pP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Gaat over wie je bent (identiteit)</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Verlamt: je komt niet in beweging</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“Ik ben een leugenaar.”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EERST SCHRIJVEN  ·  DAN OVERLEGGEN  ·  DAN DELEN</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Casus: de groepschat</a:t>
            </a:r>
            <a:endParaRPr lang="en-US" sz="3000" dirty="0"/>
          </a:p>
        </p:txBody>
      </p:sp>
      <p:sp>
        <p:nvSpPr>
          <p:cNvPr id="6" name="Shape 3"/>
          <p:cNvSpPr/>
          <p:nvPr/>
        </p:nvSpPr>
        <p:spPr>
          <a:xfrm>
            <a:off x="457200" y="1325880"/>
            <a:ext cx="4937760" cy="3246120"/>
          </a:xfrm>
          <a:prstGeom prst="roundRect">
            <a:avLst>
              <a:gd name="adj" fmla="val 1972"/>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7" name="Text 4"/>
          <p:cNvSpPr/>
          <p:nvPr/>
        </p:nvSpPr>
        <p:spPr>
          <a:xfrm>
            <a:off x="777240" y="1325880"/>
            <a:ext cx="4343400" cy="3246120"/>
          </a:xfrm>
          <a:prstGeom prst="rect">
            <a:avLst/>
          </a:prstGeom>
          <a:noFill/>
          <a:ln/>
        </p:spPr>
        <p:txBody>
          <a:bodyPr wrap="square" lIns="0" tIns="0" rIns="0" bIns="0" rtlCol="0" anchor="ctr"/>
          <a:lstStyle/>
          <a:p>
            <a:pPr marL="0" indent="0">
              <a:buNone/>
            </a:pPr>
            <a:r>
              <a:rPr lang="en-US" sz="1450" i="1" dirty="0">
                <a:solidFill>
                  <a:srgbClr val="2B2320"/>
                </a:solidFill>
                <a:latin typeface="Calibri" pitchFamily="34" charset="0"/>
                <a:ea typeface="Calibri" pitchFamily="34" charset="-122"/>
                <a:cs typeface="Calibri" pitchFamily="34" charset="-120"/>
              </a:rPr>
              <a:t>Jouw klas heeft een groepschat. Iemand stuurt een gênante foto door van Sam, een klasgenoot. Iedereen reageert met lachende emoji's — jij ook, bijna automatisch.</a:t>
            </a:r>
            <a:endParaRPr lang="en-US" sz="1450" dirty="0"/>
          </a:p>
          <a:p>
            <a:pPr marL="0" indent="0">
              <a:buNone/>
            </a:pPr>
            <a:endParaRPr lang="en-US" sz="1450" dirty="0"/>
          </a:p>
          <a:p>
            <a:pPr marL="0" indent="0">
              <a:buNone/>
            </a:pPr>
            <a:r>
              <a:rPr lang="en-US" sz="1450" i="1" dirty="0">
                <a:solidFill>
                  <a:srgbClr val="2B2320"/>
                </a:solidFill>
                <a:latin typeface="Calibri" pitchFamily="34" charset="0"/>
                <a:ea typeface="Calibri" pitchFamily="34" charset="-122"/>
                <a:cs typeface="Calibri" pitchFamily="34" charset="-120"/>
              </a:rPr>
              <a:t>'s Avonds lig je in bed en voel je je rot. Sam heeft de foto gezien en is de volgende dag niet op school.</a:t>
            </a:r>
            <a:endParaRPr lang="en-US" sz="1450" dirty="0"/>
          </a:p>
        </p:txBody>
      </p:sp>
      <p:sp>
        <p:nvSpPr>
          <p:cNvPr id="8" name="Shape 5"/>
          <p:cNvSpPr/>
          <p:nvPr/>
        </p:nvSpPr>
        <p:spPr>
          <a:xfrm>
            <a:off x="5577840" y="1325880"/>
            <a:ext cx="3108960" cy="987552"/>
          </a:xfrm>
          <a:prstGeom prst="roundRect">
            <a:avLst>
              <a:gd name="adj" fmla="val 5556"/>
            </a:avLst>
          </a:prstGeom>
          <a:solidFill>
            <a:srgbClr val="FFFFFF"/>
          </a:solidFill>
          <a:ln w="15875">
            <a:solidFill>
              <a:srgbClr val="B85042"/>
            </a:solidFill>
            <a:prstDash val="solid"/>
          </a:ln>
          <a:effectLst>
            <a:outerShdw blurRad="88900" dist="25400" dir="2700000" algn="bl" rotWithShape="0">
              <a:srgbClr val="000000">
                <a:alpha val="13000"/>
              </a:srgbClr>
            </a:outerShdw>
          </a:effectLst>
        </p:spPr>
        <p:txBody>
          <a:bodyPr/>
          <a:lstStyle/>
          <a:p>
            <a:endParaRPr lang="en-NL"/>
          </a:p>
        </p:txBody>
      </p:sp>
      <p:sp>
        <p:nvSpPr>
          <p:cNvPr id="9" name="Text 6"/>
          <p:cNvSpPr/>
          <p:nvPr/>
        </p:nvSpPr>
        <p:spPr>
          <a:xfrm>
            <a:off x="5779008" y="1325880"/>
            <a:ext cx="2743200" cy="987552"/>
          </a:xfrm>
          <a:prstGeom prst="rect">
            <a:avLst/>
          </a:prstGeom>
          <a:noFill/>
          <a:ln/>
        </p:spPr>
        <p:txBody>
          <a:bodyPr wrap="square" lIns="0" tIns="0" rIns="0" bIns="0" rtlCol="0" anchor="ctr"/>
          <a:lstStyle/>
          <a:p>
            <a:pPr marL="0" indent="0">
              <a:buNone/>
            </a:pPr>
            <a:r>
              <a:rPr lang="en-US" sz="1250" b="1" kern="0" spc="100" dirty="0">
                <a:solidFill>
                  <a:srgbClr val="B85042"/>
                </a:solidFill>
                <a:latin typeface="Calibri" pitchFamily="34" charset="0"/>
                <a:ea typeface="Calibri" pitchFamily="34" charset="-122"/>
                <a:cs typeface="Calibri" pitchFamily="34" charset="-120"/>
              </a:rPr>
              <a:t>1 · SCHRIJF</a:t>
            </a:r>
            <a:endParaRPr lang="en-US" sz="1250" dirty="0"/>
          </a:p>
          <a:p>
            <a:pPr marL="0" indent="0">
              <a:buNone/>
            </a:pPr>
            <a:r>
              <a:rPr lang="en-US" sz="1100" dirty="0">
                <a:solidFill>
                  <a:srgbClr val="2B2320"/>
                </a:solidFill>
                <a:latin typeface="Calibri" pitchFamily="34" charset="0"/>
                <a:ea typeface="Calibri" pitchFamily="34" charset="-122"/>
                <a:cs typeface="Calibri" pitchFamily="34" charset="-120"/>
              </a:rPr>
              <a:t>Alleen, in stilte in je schrift: wat zegt jouw rookmelder — en is dit gezond of ongezond schuldgevoel?</a:t>
            </a:r>
            <a:endParaRPr lang="en-US" sz="1250" dirty="0"/>
          </a:p>
        </p:txBody>
      </p:sp>
      <p:sp>
        <p:nvSpPr>
          <p:cNvPr id="10" name="Shape 7"/>
          <p:cNvSpPr/>
          <p:nvPr/>
        </p:nvSpPr>
        <p:spPr>
          <a:xfrm>
            <a:off x="5577840" y="2450592"/>
            <a:ext cx="3108960" cy="987552"/>
          </a:xfrm>
          <a:prstGeom prst="roundRect">
            <a:avLst>
              <a:gd name="adj" fmla="val 5556"/>
            </a:avLst>
          </a:prstGeom>
          <a:solidFill>
            <a:srgbClr val="FFFFFF"/>
          </a:solidFill>
          <a:ln w="15875">
            <a:solidFill>
              <a:srgbClr val="B85042"/>
            </a:solidFill>
            <a:prstDash val="solid"/>
          </a:ln>
          <a:effectLst>
            <a:outerShdw blurRad="88900" dist="25400" dir="2700000" algn="bl" rotWithShape="0">
              <a:srgbClr val="000000">
                <a:alpha val="13000"/>
              </a:srgbClr>
            </a:outerShdw>
          </a:effectLst>
        </p:spPr>
        <p:txBody>
          <a:bodyPr/>
          <a:lstStyle/>
          <a:p>
            <a:endParaRPr lang="en-NL"/>
          </a:p>
        </p:txBody>
      </p:sp>
      <p:sp>
        <p:nvSpPr>
          <p:cNvPr id="11" name="Text 8"/>
          <p:cNvSpPr/>
          <p:nvPr/>
        </p:nvSpPr>
        <p:spPr>
          <a:xfrm>
            <a:off x="5779008" y="2450592"/>
            <a:ext cx="2743200" cy="987552"/>
          </a:xfrm>
          <a:prstGeom prst="rect">
            <a:avLst/>
          </a:prstGeom>
          <a:noFill/>
          <a:ln/>
        </p:spPr>
        <p:txBody>
          <a:bodyPr wrap="square" lIns="0" tIns="0" rIns="0" bIns="0" rtlCol="0" anchor="ctr"/>
          <a:lstStyle/>
          <a:p>
            <a:pPr marL="0" indent="0">
              <a:buNone/>
            </a:pPr>
            <a:r>
              <a:rPr lang="en-US" sz="1250" b="1" kern="0" spc="100" dirty="0">
                <a:solidFill>
                  <a:srgbClr val="B85042"/>
                </a:solidFill>
                <a:latin typeface="Calibri" pitchFamily="34" charset="0"/>
                <a:ea typeface="Calibri" pitchFamily="34" charset="-122"/>
                <a:cs typeface="Calibri" pitchFamily="34" charset="-120"/>
              </a:rPr>
              <a:t>2 · OVERLEG</a:t>
            </a:r>
            <a:endParaRPr lang="en-US" sz="1250" dirty="0"/>
          </a:p>
          <a:p>
            <a:pPr marL="0" indent="0">
              <a:buNone/>
            </a:pPr>
            <a:r>
              <a:rPr lang="en-US" sz="1100" dirty="0">
                <a:solidFill>
                  <a:srgbClr val="2B2320"/>
                </a:solidFill>
                <a:latin typeface="Calibri" pitchFamily="34" charset="0"/>
                <a:ea typeface="Calibri" pitchFamily="34" charset="-122"/>
                <a:cs typeface="Calibri" pitchFamily="34" charset="-120"/>
              </a:rPr>
              <a:t>Vergelijk kort met je buur: waar verschillen jullie rookmelders?</a:t>
            </a:r>
            <a:endParaRPr lang="en-US" sz="1250" dirty="0"/>
          </a:p>
        </p:txBody>
      </p:sp>
      <p:sp>
        <p:nvSpPr>
          <p:cNvPr id="12" name="Shape 9"/>
          <p:cNvSpPr/>
          <p:nvPr/>
        </p:nvSpPr>
        <p:spPr>
          <a:xfrm>
            <a:off x="5577840" y="3575304"/>
            <a:ext cx="3108960" cy="987552"/>
          </a:xfrm>
          <a:prstGeom prst="roundRect">
            <a:avLst>
              <a:gd name="adj" fmla="val 5556"/>
            </a:avLst>
          </a:prstGeom>
          <a:solidFill>
            <a:srgbClr val="B85042"/>
          </a:solidFill>
          <a:ln/>
          <a:effectLst>
            <a:outerShdw blurRad="88900" dist="25400" dir="2700000" algn="bl" rotWithShape="0">
              <a:srgbClr val="000000">
                <a:alpha val="13000"/>
              </a:srgbClr>
            </a:outerShdw>
          </a:effectLst>
        </p:spPr>
        <p:txBody>
          <a:bodyPr/>
          <a:lstStyle/>
          <a:p>
            <a:endParaRPr lang="en-NL"/>
          </a:p>
        </p:txBody>
      </p:sp>
      <p:sp>
        <p:nvSpPr>
          <p:cNvPr id="13" name="Text 10"/>
          <p:cNvSpPr/>
          <p:nvPr/>
        </p:nvSpPr>
        <p:spPr>
          <a:xfrm>
            <a:off x="5779008" y="3575304"/>
            <a:ext cx="2743200" cy="987552"/>
          </a:xfrm>
          <a:prstGeom prst="rect">
            <a:avLst/>
          </a:prstGeom>
          <a:noFill/>
          <a:ln/>
        </p:spPr>
        <p:txBody>
          <a:bodyPr wrap="square" lIns="0" tIns="0" rIns="0" bIns="0" rtlCol="0" anchor="ctr"/>
          <a:lstStyle/>
          <a:p>
            <a:pPr marL="0" indent="0">
              <a:buNone/>
            </a:pPr>
            <a:r>
              <a:rPr lang="en-US" sz="1250" b="1" kern="0" spc="100" dirty="0">
                <a:solidFill>
                  <a:srgbClr val="FFFFFF"/>
                </a:solidFill>
                <a:latin typeface="Calibri" pitchFamily="34" charset="0"/>
                <a:ea typeface="Calibri" pitchFamily="34" charset="-122"/>
                <a:cs typeface="Calibri" pitchFamily="34" charset="-120"/>
              </a:rPr>
              <a:t>3 · DEEL</a:t>
            </a:r>
            <a:endParaRPr lang="en-US" sz="1250" dirty="0"/>
          </a:p>
          <a:p>
            <a:pPr marL="0" indent="0">
              <a:buNone/>
            </a:pPr>
            <a:r>
              <a:rPr lang="en-US" sz="1100" dirty="0">
                <a:solidFill>
                  <a:srgbClr val="F4DCD6"/>
                </a:solidFill>
                <a:latin typeface="Calibri" pitchFamily="34" charset="0"/>
                <a:ea typeface="Calibri" pitchFamily="34" charset="-122"/>
                <a:cs typeface="Calibri" pitchFamily="34" charset="-120"/>
              </a:rPr>
              <a:t>Ik kies willekeurig wie zijn zin voorleest.</a:t>
            </a:r>
            <a:endParaRPr lang="en-US" sz="1250" dirty="0"/>
          </a:p>
        </p:txBody>
      </p:sp>
      <p:sp>
        <p:nvSpPr>
          <p:cNvPr id="14" name="Text 11"/>
          <p:cNvSpPr/>
          <p:nvPr/>
        </p:nvSpPr>
        <p:spPr>
          <a:xfrm>
            <a:off x="457200" y="4681728"/>
            <a:ext cx="8229600" cy="320040"/>
          </a:xfrm>
          <a:prstGeom prst="rect">
            <a:avLst/>
          </a:prstGeom>
          <a:noFill/>
          <a:ln/>
        </p:spPr>
        <p:txBody>
          <a:bodyPr wrap="square" lIns="0" tIns="0" rIns="0" bIns="0" rtlCol="0" anchor="ctr"/>
          <a:lstStyle/>
          <a:p>
            <a:pPr marL="0" indent="0" algn="ctr">
              <a:buNone/>
            </a:pPr>
            <a:r>
              <a:rPr lang="en-US" sz="1200" i="1" dirty="0">
                <a:solidFill>
                  <a:srgbClr val="8A7A72"/>
                </a:solidFill>
                <a:latin typeface="Calibri" pitchFamily="34" charset="0"/>
                <a:ea typeface="Calibri" pitchFamily="34" charset="-122"/>
                <a:cs typeface="Calibri" pitchFamily="34" charset="-120"/>
              </a:rPr>
              <a:t>Hulpvraag: zou ik een vríénd ook schuldig vinden als die hetzelfde had gedaan?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DUO'S  ·  EERST INLEVEN, DAN PAS JE MENING</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In de schoenen van …</a:t>
            </a:r>
            <a:endParaRPr lang="en-US" sz="3000" dirty="0"/>
          </a:p>
        </p:txBody>
      </p:sp>
      <p:sp>
        <p:nvSpPr>
          <p:cNvPr id="6" name="Shape 3"/>
          <p:cNvSpPr/>
          <p:nvPr/>
        </p:nvSpPr>
        <p:spPr>
          <a:xfrm>
            <a:off x="457200" y="1325880"/>
            <a:ext cx="8229600" cy="960120"/>
          </a:xfrm>
          <a:prstGeom prst="roundRect">
            <a:avLst>
              <a:gd name="adj" fmla="val 5714"/>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7" name="Text 4"/>
          <p:cNvSpPr/>
          <p:nvPr/>
        </p:nvSpPr>
        <p:spPr>
          <a:xfrm>
            <a:off x="777240" y="1325880"/>
            <a:ext cx="7680960" cy="960120"/>
          </a:xfrm>
          <a:prstGeom prst="rect">
            <a:avLst/>
          </a:prstGeom>
          <a:noFill/>
          <a:ln/>
        </p:spPr>
        <p:txBody>
          <a:bodyPr wrap="square" lIns="0" tIns="0" rIns="0" bIns="0" rtlCol="0" anchor="ctr"/>
          <a:lstStyle/>
          <a:p>
            <a:pPr marL="0" indent="0">
              <a:buNone/>
            </a:pPr>
            <a:r>
              <a:rPr lang="en-US" sz="1350" i="1" dirty="0">
                <a:solidFill>
                  <a:srgbClr val="2B2320"/>
                </a:solidFill>
                <a:latin typeface="Calibri" pitchFamily="34" charset="0"/>
                <a:ea typeface="Calibri" pitchFamily="34" charset="-122"/>
                <a:cs typeface="Calibri" pitchFamily="34" charset="-120"/>
              </a:rPr>
              <a:t>Casus: op je rapport staat een onvoldoende. Thuis zeg je dat de toets “oncerlijk” was, terwijl je weet dat je gewoon niet geleerd hebt. 's Nachts lig je wakker met een knagend gevoel.</a:t>
            </a:r>
            <a:endParaRPr lang="en-US" sz="1350" dirty="0"/>
          </a:p>
        </p:txBody>
      </p:sp>
      <p:sp>
        <p:nvSpPr>
          <p:cNvPr id="8" name="Shape 5"/>
          <p:cNvSpPr/>
          <p:nvPr/>
        </p:nvSpPr>
        <p:spPr>
          <a:xfrm>
            <a:off x="457200" y="2514600"/>
            <a:ext cx="4023360" cy="1828800"/>
          </a:xfrm>
          <a:prstGeom prst="roundRect">
            <a:avLst>
              <a:gd name="adj" fmla="val 3500"/>
            </a:avLst>
          </a:prstGeom>
          <a:solidFill>
            <a:srgbClr val="4A2018"/>
          </a:solidFill>
          <a:ln/>
          <a:effectLst>
            <a:outerShdw blurRad="88900" dist="25400" dir="2700000" algn="bl" rotWithShape="0">
              <a:srgbClr val="000000">
                <a:alpha val="13000"/>
              </a:srgbClr>
            </a:outerShdw>
          </a:effectLst>
        </p:spPr>
        <p:txBody>
          <a:bodyPr/>
          <a:lstStyle/>
          <a:p>
            <a:endParaRPr lang="en-NL"/>
          </a:p>
        </p:txBody>
      </p:sp>
      <p:sp>
        <p:nvSpPr>
          <p:cNvPr id="9" name="Text 6"/>
          <p:cNvSpPr/>
          <p:nvPr/>
        </p:nvSpPr>
        <p:spPr>
          <a:xfrm>
            <a:off x="749808" y="2514600"/>
            <a:ext cx="3474720" cy="1828800"/>
          </a:xfrm>
          <a:prstGeom prst="rect">
            <a:avLst/>
          </a:prstGeom>
          <a:noFill/>
          <a:ln/>
        </p:spPr>
        <p:txBody>
          <a:bodyPr wrap="square" lIns="0" tIns="0" rIns="0" bIns="0" rtlCol="0" anchor="ctr"/>
          <a:lstStyle/>
          <a:p>
            <a:pPr marL="0" indent="0">
              <a:spcAft>
                <a:spcPts val="600"/>
              </a:spcAft>
              <a:buNone/>
            </a:pPr>
            <a:r>
              <a:rPr lang="en-US" sz="1500" b="1" dirty="0">
                <a:solidFill>
                  <a:srgbClr val="D9A05B"/>
                </a:solidFill>
                <a:latin typeface="Calibri" pitchFamily="34" charset="0"/>
                <a:ea typeface="Calibri" pitchFamily="34" charset="-122"/>
                <a:cs typeface="Calibri" pitchFamily="34" charset="-120"/>
              </a:rPr>
              <a:t>Leerling A = FREUD</a:t>
            </a:r>
            <a:endParaRPr lang="en-US" sz="1500" dirty="0"/>
          </a:p>
          <a:p>
            <a:pPr marL="0" indent="0">
              <a:spcAft>
                <a:spcPts val="600"/>
              </a:spcAft>
              <a:buNone/>
            </a:pPr>
            <a:r>
              <a:rPr lang="en-US" sz="1200" dirty="0">
                <a:solidFill>
                  <a:srgbClr val="F0E4E0"/>
                </a:solidFill>
                <a:latin typeface="Calibri" pitchFamily="34" charset="0"/>
                <a:ea typeface="Calibri" pitchFamily="34" charset="-122"/>
                <a:cs typeface="Calibri" pitchFamily="34" charset="-120"/>
              </a:rPr>
              <a:t>Psycholoog, 19e/20e eeuw. Geweten = “super-ego”: aangeleerd door opvoeding. Schuldgevoel = angst voor straf die in je hoofd is gaan zitten.</a:t>
            </a:r>
            <a:endParaRPr lang="en-US" sz="1500" dirty="0"/>
          </a:p>
        </p:txBody>
      </p:sp>
      <p:sp>
        <p:nvSpPr>
          <p:cNvPr id="10" name="Shape 7"/>
          <p:cNvSpPr/>
          <p:nvPr/>
        </p:nvSpPr>
        <p:spPr>
          <a:xfrm>
            <a:off x="4663440" y="2514600"/>
            <a:ext cx="4023360" cy="1828800"/>
          </a:xfrm>
          <a:prstGeom prst="roundRect">
            <a:avLst>
              <a:gd name="adj" fmla="val 3500"/>
            </a:avLst>
          </a:prstGeom>
          <a:solidFill>
            <a:srgbClr val="B85042"/>
          </a:solidFill>
          <a:ln/>
          <a:effectLst>
            <a:outerShdw blurRad="88900" dist="25400" dir="2700000" algn="bl" rotWithShape="0">
              <a:srgbClr val="000000">
                <a:alpha val="13000"/>
              </a:srgbClr>
            </a:outerShdw>
          </a:effectLst>
        </p:spPr>
        <p:txBody>
          <a:bodyPr/>
          <a:lstStyle/>
          <a:p>
            <a:endParaRPr lang="en-NL"/>
          </a:p>
        </p:txBody>
      </p:sp>
      <p:sp>
        <p:nvSpPr>
          <p:cNvPr id="11" name="Text 8"/>
          <p:cNvSpPr/>
          <p:nvPr/>
        </p:nvSpPr>
        <p:spPr>
          <a:xfrm>
            <a:off x="4956048" y="2514600"/>
            <a:ext cx="3474720" cy="1828800"/>
          </a:xfrm>
          <a:prstGeom prst="rect">
            <a:avLst/>
          </a:prstGeom>
          <a:noFill/>
          <a:ln/>
        </p:spPr>
        <p:txBody>
          <a:bodyPr wrap="square" lIns="0" tIns="0" rIns="0" bIns="0" rtlCol="0" anchor="ctr"/>
          <a:lstStyle/>
          <a:p>
            <a:pPr marL="0" indent="0">
              <a:spcAft>
                <a:spcPts val="600"/>
              </a:spcAft>
              <a:buNone/>
            </a:pPr>
            <a:r>
              <a:rPr lang="en-US" sz="1500" b="1" dirty="0">
                <a:solidFill>
                  <a:srgbClr val="FFE9C7"/>
                </a:solidFill>
                <a:latin typeface="Calibri" pitchFamily="34" charset="0"/>
                <a:ea typeface="Calibri" pitchFamily="34" charset="-122"/>
                <a:cs typeface="Calibri" pitchFamily="34" charset="-120"/>
              </a:rPr>
              <a:t>Leerling B = AUGUSTINUS</a:t>
            </a:r>
            <a:endParaRPr lang="en-US" sz="1500" dirty="0"/>
          </a:p>
          <a:p>
            <a:pPr marL="0" indent="0">
              <a:spcAft>
                <a:spcPts val="600"/>
              </a:spcAft>
              <a:buNone/>
            </a:pPr>
            <a:r>
              <a:rPr lang="en-US" sz="1200" dirty="0">
                <a:solidFill>
                  <a:srgbClr val="FBEDEA"/>
                </a:solidFill>
                <a:latin typeface="Calibri" pitchFamily="34" charset="0"/>
                <a:ea typeface="Calibri" pitchFamily="34" charset="-122"/>
                <a:cs typeface="Calibri" pitchFamily="34" charset="-120"/>
              </a:rPr>
              <a:t>Christelijk filosoof, 4e/5e eeuw. Stal als jongen peren — voor de lol. Zijn geweten bleef knagen: het is Gods stem in je hart, een kompas naar echt goed en kwaad.</a:t>
            </a:r>
            <a:endParaRPr lang="en-US" sz="1500" dirty="0"/>
          </a:p>
        </p:txBody>
      </p:sp>
      <p:sp>
        <p:nvSpPr>
          <p:cNvPr id="12" name="Text 9"/>
          <p:cNvSpPr/>
          <p:nvPr/>
        </p:nvSpPr>
        <p:spPr>
          <a:xfrm>
            <a:off x="457200" y="4572000"/>
            <a:ext cx="8229600" cy="457200"/>
          </a:xfrm>
          <a:prstGeom prst="rect">
            <a:avLst/>
          </a:prstGeom>
          <a:noFill/>
          <a:ln/>
        </p:spPr>
        <p:txBody>
          <a:bodyPr wrap="square" lIns="0" tIns="0" rIns="0" bIns="0" rtlCol="0" anchor="ctr"/>
          <a:lstStyle/>
          <a:p>
            <a:pPr marL="0" indent="0" algn="ctr">
              <a:buNone/>
            </a:pPr>
            <a:r>
              <a:rPr lang="en-US" sz="1250" b="1" dirty="0">
                <a:solidFill>
                  <a:srgbClr val="B85042"/>
                </a:solidFill>
                <a:latin typeface="Calibri" pitchFamily="34" charset="0"/>
                <a:ea typeface="Calibri" pitchFamily="34" charset="-122"/>
                <a:cs typeface="Calibri" pitchFamily="34" charset="-120"/>
              </a:rPr>
              <a:t>Schrijf 3 zinnen in de ik-vorm</a:t>
            </a:r>
            <a:r>
              <a:rPr lang="en-US" sz="1250" dirty="0">
                <a:solidFill>
                  <a:srgbClr val="2B2320"/>
                </a:solidFill>
                <a:latin typeface="Calibri" pitchFamily="34" charset="0"/>
                <a:ea typeface="Calibri" pitchFamily="34" charset="-122"/>
                <a:cs typeface="Calibri" pitchFamily="34" charset="-120"/>
              </a:rPr>
              <a:t> als jóúw denker: waar komt het knagende gevoel vandaan en moet je ernaar luisteren? Lees ze daarna één keer voor aan je duo — die stelt één kritische vraag.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HULP NODIG? BEGIN ZO</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Startzinnen voor je denker</a:t>
            </a:r>
            <a:endParaRPr lang="en-US" sz="3000" dirty="0"/>
          </a:p>
        </p:txBody>
      </p:sp>
      <p:sp>
        <p:nvSpPr>
          <p:cNvPr id="6" name="Shape 3"/>
          <p:cNvSpPr/>
          <p:nvPr/>
        </p:nvSpPr>
        <p:spPr>
          <a:xfrm>
            <a:off x="457200" y="1371600"/>
            <a:ext cx="4023360" cy="2606040"/>
          </a:xfrm>
          <a:prstGeom prst="roundRect">
            <a:avLst>
              <a:gd name="adj" fmla="val 2456"/>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7" name="Text 4"/>
          <p:cNvSpPr/>
          <p:nvPr/>
        </p:nvSpPr>
        <p:spPr>
          <a:xfrm>
            <a:off x="457200" y="1536192"/>
            <a:ext cx="4023360" cy="320040"/>
          </a:xfrm>
          <a:prstGeom prst="rect">
            <a:avLst/>
          </a:prstGeom>
          <a:noFill/>
          <a:ln/>
        </p:spPr>
        <p:txBody>
          <a:bodyPr wrap="square" lIns="0" tIns="0" rIns="0" bIns="0" rtlCol="0" anchor="ctr"/>
          <a:lstStyle/>
          <a:p>
            <a:pPr marL="0" indent="0" algn="ctr">
              <a:buNone/>
            </a:pPr>
            <a:r>
              <a:rPr lang="en-US" sz="1700" b="1" dirty="0">
                <a:solidFill>
                  <a:srgbClr val="4A2018"/>
                </a:solidFill>
                <a:latin typeface="Cambria" pitchFamily="34" charset="0"/>
                <a:ea typeface="Cambria" pitchFamily="34" charset="-122"/>
                <a:cs typeface="Cambria" pitchFamily="34" charset="-120"/>
              </a:rPr>
              <a:t>FREUD</a:t>
            </a:r>
            <a:endParaRPr lang="en-US" sz="1700" dirty="0"/>
          </a:p>
        </p:txBody>
      </p:sp>
      <p:sp>
        <p:nvSpPr>
          <p:cNvPr id="8" name="Text 5"/>
          <p:cNvSpPr/>
          <p:nvPr/>
        </p:nvSpPr>
        <p:spPr>
          <a:xfrm>
            <a:off x="777240" y="1920240"/>
            <a:ext cx="3429000" cy="1920240"/>
          </a:xfrm>
          <a:prstGeom prst="rect">
            <a:avLst/>
          </a:prstGeom>
          <a:noFill/>
          <a:ln/>
        </p:spPr>
        <p:txBody>
          <a:bodyPr wrap="square" lIns="0" tIns="0" rIns="0" bIns="0" rtlCol="0" anchor="ctr"/>
          <a:lstStyle/>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“Dat knagende gevoel noem ik het super-ego. Het is ontstaan doordat…”</a:t>
            </a:r>
            <a:endParaRPr lang="en-US" sz="1200" dirty="0"/>
          </a:p>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“Als kind heb je geleerd dat liegen… en die stem van je ouders zit nu…”</a:t>
            </a:r>
            <a:endParaRPr lang="en-US" sz="1200" dirty="0"/>
          </a:p>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“Het gevoel betekent niet automatisch dat je echt iets verkeerds deed, maar dat je bang bent voor…”</a:t>
            </a:r>
            <a:endParaRPr lang="en-US" sz="1200" dirty="0"/>
          </a:p>
        </p:txBody>
      </p:sp>
      <p:sp>
        <p:nvSpPr>
          <p:cNvPr id="9" name="Shape 6"/>
          <p:cNvSpPr/>
          <p:nvPr/>
        </p:nvSpPr>
        <p:spPr>
          <a:xfrm>
            <a:off x="4663440" y="1371600"/>
            <a:ext cx="4023360" cy="2606040"/>
          </a:xfrm>
          <a:prstGeom prst="roundRect">
            <a:avLst>
              <a:gd name="adj" fmla="val 2456"/>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10" name="Text 7"/>
          <p:cNvSpPr/>
          <p:nvPr/>
        </p:nvSpPr>
        <p:spPr>
          <a:xfrm>
            <a:off x="4663440" y="1536192"/>
            <a:ext cx="4023360" cy="320040"/>
          </a:xfrm>
          <a:prstGeom prst="rect">
            <a:avLst/>
          </a:prstGeom>
          <a:noFill/>
          <a:ln/>
        </p:spPr>
        <p:txBody>
          <a:bodyPr wrap="square" lIns="0" tIns="0" rIns="0" bIns="0" rtlCol="0" anchor="ctr"/>
          <a:lstStyle/>
          <a:p>
            <a:pPr marL="0" indent="0" algn="ctr">
              <a:buNone/>
            </a:pPr>
            <a:r>
              <a:rPr lang="en-US" sz="1700" b="1" dirty="0">
                <a:solidFill>
                  <a:srgbClr val="B85042"/>
                </a:solidFill>
                <a:latin typeface="Cambria" pitchFamily="34" charset="0"/>
                <a:ea typeface="Cambria" pitchFamily="34" charset="-122"/>
                <a:cs typeface="Cambria" pitchFamily="34" charset="-120"/>
              </a:rPr>
              <a:t>AUGUSTINUS</a:t>
            </a:r>
            <a:endParaRPr lang="en-US" sz="1700" dirty="0"/>
          </a:p>
        </p:txBody>
      </p:sp>
      <p:sp>
        <p:nvSpPr>
          <p:cNvPr id="11" name="Text 8"/>
          <p:cNvSpPr/>
          <p:nvPr/>
        </p:nvSpPr>
        <p:spPr>
          <a:xfrm>
            <a:off x="4983480" y="1920240"/>
            <a:ext cx="3429000" cy="1920240"/>
          </a:xfrm>
          <a:prstGeom prst="rect">
            <a:avLst/>
          </a:prstGeom>
          <a:noFill/>
          <a:ln/>
        </p:spPr>
        <p:txBody>
          <a:bodyPr wrap="square" lIns="0" tIns="0" rIns="0" bIns="0" rtlCol="0" anchor="ctr"/>
          <a:lstStyle/>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“Dat gevoel is meer dan angst voor straf. Het is…”</a:t>
            </a:r>
            <a:endParaRPr lang="en-US" sz="1200" dirty="0"/>
          </a:p>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“Ik stal vroeger zelf peren, niet uit honger maar voor de lol. Mijn geweten bleef knagen omdat…”</a:t>
            </a:r>
            <a:endParaRPr lang="en-US" sz="1200" dirty="0"/>
          </a:p>
          <a:p>
            <a:pPr marL="342900" indent="-342900">
              <a:spcAft>
                <a:spcPts val="800"/>
              </a:spcAft>
              <a:buSzPct val="100000"/>
              <a:buChar char="•"/>
            </a:pPr>
            <a:r>
              <a:rPr lang="en-US" sz="1200" i="1" dirty="0">
                <a:solidFill>
                  <a:srgbClr val="2B2320"/>
                </a:solidFill>
                <a:latin typeface="Calibri" pitchFamily="34" charset="0"/>
                <a:ea typeface="Calibri" pitchFamily="34" charset="-122"/>
                <a:cs typeface="Calibri" pitchFamily="34" charset="-120"/>
              </a:rPr>
              <a:t>“Je moet ernaar luisteren, want het geweten wijst naar…”</a:t>
            </a:r>
            <a:endParaRPr lang="en-US" sz="1200" dirty="0"/>
          </a:p>
        </p:txBody>
      </p:sp>
      <p:sp>
        <p:nvSpPr>
          <p:cNvPr id="12" name="Shape 9"/>
          <p:cNvSpPr/>
          <p:nvPr/>
        </p:nvSpPr>
        <p:spPr>
          <a:xfrm>
            <a:off x="457200" y="4160520"/>
            <a:ext cx="8229600" cy="777240"/>
          </a:xfrm>
          <a:prstGeom prst="roundRect">
            <a:avLst>
              <a:gd name="adj" fmla="val 7059"/>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13" name="Text 10"/>
          <p:cNvSpPr/>
          <p:nvPr/>
        </p:nvSpPr>
        <p:spPr>
          <a:xfrm>
            <a:off x="749808" y="4160520"/>
            <a:ext cx="7680960" cy="777240"/>
          </a:xfrm>
          <a:prstGeom prst="rect">
            <a:avLst/>
          </a:prstGeom>
          <a:noFill/>
          <a:ln/>
        </p:spPr>
        <p:txBody>
          <a:bodyPr wrap="square" lIns="0" tIns="0" rIns="0" bIns="0" rtlCol="0" anchor="ctr"/>
          <a:lstStyle/>
          <a:p>
            <a:pPr marL="0" indent="0">
              <a:buNone/>
            </a:pPr>
            <a:r>
              <a:rPr lang="en-US" sz="1200" b="1" dirty="0">
                <a:solidFill>
                  <a:srgbClr val="5E8C6A"/>
                </a:solidFill>
                <a:latin typeface="Calibri" pitchFamily="34" charset="0"/>
                <a:ea typeface="Calibri" pitchFamily="34" charset="-122"/>
                <a:cs typeface="Calibri" pitchFamily="34" charset="-120"/>
              </a:rPr>
              <a:t>Klaar?  </a:t>
            </a:r>
            <a:r>
              <a:rPr lang="en-US" sz="1200" dirty="0">
                <a:solidFill>
                  <a:srgbClr val="2B2320"/>
                </a:solidFill>
                <a:latin typeface="Calibri" pitchFamily="34" charset="0"/>
                <a:ea typeface="Calibri" pitchFamily="34" charset="-122"/>
                <a:cs typeface="Calibri" pitchFamily="34" charset="-120"/>
              </a:rPr>
              <a:t>Wat zou er volgens Freud met je geweten gebeuren als níémand je ooit had opgevoed? En: past het geweten bij Aurelius (je vormt jezelf) of bij Thomas van Aquino (iets van buiten jezelf)?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2018"/>
        </a:solidFill>
        <a:effectLst/>
      </p:bgPr>
    </p:bg>
    <p:spTree>
      <p:nvGrpSpPr>
        <p:cNvPr id="1" name=""/>
        <p:cNvGrpSpPr/>
        <p:nvPr/>
      </p:nvGrpSpPr>
      <p:grpSpPr>
        <a:xfrm>
          <a:off x="0" y="0"/>
          <a:ext cx="0" cy="0"/>
          <a:chOff x="0" y="0"/>
          <a:chExt cx="0" cy="0"/>
        </a:xfrm>
      </p:grpSpPr>
      <p:sp>
        <p:nvSpPr>
          <p:cNvPr id="2" name="Shape 0"/>
          <p:cNvSpPr/>
          <p:nvPr/>
        </p:nvSpPr>
        <p:spPr>
          <a:xfrm>
            <a:off x="4114800" y="502920"/>
            <a:ext cx="914400" cy="914400"/>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4343400" y="731520"/>
            <a:ext cx="457200" cy="457200"/>
          </a:xfrm>
          <a:prstGeom prst="rect">
            <a:avLst/>
          </a:prstGeom>
        </p:spPr>
      </p:pic>
      <p:sp>
        <p:nvSpPr>
          <p:cNvPr id="4" name="Text 1"/>
          <p:cNvSpPr/>
          <p:nvPr/>
        </p:nvSpPr>
        <p:spPr>
          <a:xfrm>
            <a:off x="457200" y="1600200"/>
            <a:ext cx="8229600" cy="320040"/>
          </a:xfrm>
          <a:prstGeom prst="rect">
            <a:avLst/>
          </a:prstGeom>
          <a:noFill/>
          <a:ln/>
        </p:spPr>
        <p:txBody>
          <a:bodyPr wrap="square" lIns="0" tIns="0" rIns="0" bIns="0" rtlCol="0" anchor="ctr"/>
          <a:lstStyle/>
          <a:p>
            <a:pPr marL="0" indent="0" algn="ctr">
              <a:buNone/>
            </a:pPr>
            <a:r>
              <a:rPr lang="en-US" sz="1200" b="1" kern="0" spc="300" dirty="0">
                <a:solidFill>
                  <a:srgbClr val="D9A05B"/>
                </a:solidFill>
                <a:latin typeface="Calibri" pitchFamily="34" charset="0"/>
                <a:ea typeface="Calibri" pitchFamily="34" charset="-122"/>
                <a:cs typeface="Calibri" pitchFamily="34" charset="-120"/>
              </a:rPr>
              <a:t>MINI-DEBAT</a:t>
            </a:r>
            <a:endParaRPr lang="en-US" sz="1200" dirty="0"/>
          </a:p>
        </p:txBody>
      </p:sp>
      <p:sp>
        <p:nvSpPr>
          <p:cNvPr id="5" name="Text 2"/>
          <p:cNvSpPr/>
          <p:nvPr/>
        </p:nvSpPr>
        <p:spPr>
          <a:xfrm>
            <a:off x="640080" y="1965960"/>
            <a:ext cx="7863840" cy="128016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Is je geweten aangeleerd (Freud)</a:t>
            </a:r>
            <a:endParaRPr lang="en-US" sz="2800" dirty="0"/>
          </a:p>
          <a:p>
            <a:pPr marL="0" indent="0" algn="ctr">
              <a:buNone/>
            </a:pPr>
            <a:r>
              <a:rPr lang="en-US" sz="2800" b="1" dirty="0">
                <a:solidFill>
                  <a:srgbClr val="FFFFFF"/>
                </a:solidFill>
                <a:latin typeface="Cambria" pitchFamily="34" charset="0"/>
                <a:ea typeface="Cambria" pitchFamily="34" charset="-122"/>
                <a:cs typeface="Cambria" pitchFamily="34" charset="-120"/>
              </a:rPr>
              <a:t>of zit het dieper dan dat (Augustinus)?</a:t>
            </a:r>
            <a:endParaRPr lang="en-US" sz="2800" dirty="0"/>
          </a:p>
        </p:txBody>
      </p:sp>
      <p:sp>
        <p:nvSpPr>
          <p:cNvPr id="6" name="Text 3"/>
          <p:cNvSpPr/>
          <p:nvPr/>
        </p:nvSpPr>
        <p:spPr>
          <a:xfrm>
            <a:off x="1097280" y="3429000"/>
            <a:ext cx="6949440" cy="822960"/>
          </a:xfrm>
          <a:prstGeom prst="rect">
            <a:avLst/>
          </a:prstGeom>
          <a:noFill/>
          <a:ln/>
        </p:spPr>
        <p:txBody>
          <a:bodyPr wrap="square" lIns="0" tIns="0" rIns="0" bIns="0" rtlCol="0" anchor="ctr"/>
          <a:lstStyle/>
          <a:p>
            <a:pPr marL="0" indent="0" algn="ctr">
              <a:buNone/>
            </a:pPr>
            <a:r>
              <a:rPr lang="en-US" sz="1400" b="1" dirty="0">
                <a:solidFill>
                  <a:srgbClr val="D9A05B"/>
                </a:solidFill>
                <a:latin typeface="Calibri" pitchFamily="34" charset="0"/>
                <a:ea typeface="Calibri" pitchFamily="34" charset="-122"/>
                <a:cs typeface="Calibri" pitchFamily="34" charset="-120"/>
              </a:rPr>
              <a:t>Spelregels:  </a:t>
            </a:r>
            <a:r>
              <a:rPr lang="en-US" sz="1400" dirty="0">
                <a:solidFill>
                  <a:srgbClr val="E8D5CF"/>
                </a:solidFill>
                <a:latin typeface="Calibri" pitchFamily="34" charset="0"/>
                <a:ea typeface="Calibri" pitchFamily="34" charset="-122"/>
                <a:cs typeface="Calibri" pitchFamily="34" charset="-120"/>
              </a:rPr>
              <a:t>ik kies willekeurig wie het woord krijgt  ·  de eerste twee sprekers verdedigen de denker die ze NIET speelden  ·  daarna stemmen we opnieuw over stelling 4 en 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B85042"/>
          </a:solidFill>
          <a:ln/>
        </p:spPr>
        <p:txBody>
          <a:bodyPr/>
          <a:lstStyle/>
          <a:p>
            <a:endParaRPr lang="en-NL"/>
          </a:p>
        </p:txBody>
      </p:sp>
      <p:pic>
        <p:nvPicPr>
          <p:cNvPr id="3" name="Image 0" descr="preencoded.png"/>
          <p:cNvPicPr>
            <a:picLocks noChangeAspect="1"/>
          </p:cNvPicPr>
          <p:nvPr/>
        </p:nvPicPr>
        <p:blipFill>
          <a:blip r:embed="rId3"/>
          <a:stretch>
            <a:fillRect/>
          </a:stretch>
        </p:blipFill>
        <p:spPr>
          <a:xfrm>
            <a:off x="598932" y="525780"/>
            <a:ext cx="283464" cy="283464"/>
          </a:xfrm>
          <a:prstGeom prst="rect">
            <a:avLst/>
          </a:prstGeom>
        </p:spPr>
      </p:pic>
      <p:sp>
        <p:nvSpPr>
          <p:cNvPr id="4" name="Text 1"/>
          <p:cNvSpPr/>
          <p:nvPr/>
        </p:nvSpPr>
        <p:spPr>
          <a:xfrm>
            <a:off x="1188720" y="329184"/>
            <a:ext cx="740664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INDIVIDUEEL  ·  BRIEFJE INLEVEREN BIJ DE DEUR</a:t>
            </a:r>
            <a:endParaRPr lang="en-US" sz="1100" dirty="0"/>
          </a:p>
        </p:txBody>
      </p:sp>
      <p:sp>
        <p:nvSpPr>
          <p:cNvPr id="5" name="Text 2"/>
          <p:cNvSpPr/>
          <p:nvPr/>
        </p:nvSpPr>
        <p:spPr>
          <a:xfrm>
            <a:off x="1188720" y="548640"/>
            <a:ext cx="7406640" cy="502920"/>
          </a:xfrm>
          <a:prstGeom prst="rect">
            <a:avLst/>
          </a:prstGeom>
          <a:noFill/>
          <a:ln/>
        </p:spPr>
        <p:txBody>
          <a:bodyPr wrap="square" lIns="0" tIns="0" rIns="0" bIns="0" rtlCol="0" anchor="ctr"/>
          <a:lstStyle/>
          <a:p>
            <a:pPr marL="0" indent="0">
              <a:buNone/>
            </a:pPr>
            <a:r>
              <a:rPr lang="en-US" sz="3000" b="1" dirty="0">
                <a:solidFill>
                  <a:srgbClr val="2B2320"/>
                </a:solidFill>
                <a:latin typeface="Cambria" pitchFamily="34" charset="0"/>
                <a:ea typeface="Cambria" pitchFamily="34" charset="-122"/>
                <a:cs typeface="Cambria" pitchFamily="34" charset="-120"/>
              </a:rPr>
              <a:t>Exit ticket</a:t>
            </a:r>
            <a:endParaRPr lang="en-US" sz="3000" dirty="0"/>
          </a:p>
        </p:txBody>
      </p:sp>
      <p:sp>
        <p:nvSpPr>
          <p:cNvPr id="6" name="Shape 3"/>
          <p:cNvSpPr/>
          <p:nvPr/>
        </p:nvSpPr>
        <p:spPr>
          <a:xfrm>
            <a:off x="457200" y="1463040"/>
            <a:ext cx="8229600" cy="886968"/>
          </a:xfrm>
          <a:prstGeom prst="roundRect">
            <a:avLst>
              <a:gd name="adj" fmla="val 6186"/>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7" name="Shape 4"/>
          <p:cNvSpPr/>
          <p:nvPr/>
        </p:nvSpPr>
        <p:spPr>
          <a:xfrm>
            <a:off x="685800" y="1677924"/>
            <a:ext cx="457200" cy="457200"/>
          </a:xfrm>
          <a:prstGeom prst="ellipse">
            <a:avLst/>
          </a:prstGeom>
          <a:solidFill>
            <a:srgbClr val="B85042"/>
          </a:solidFill>
          <a:ln/>
        </p:spPr>
        <p:txBody>
          <a:bodyPr/>
          <a:lstStyle/>
          <a:p>
            <a:endParaRPr lang="en-NL"/>
          </a:p>
        </p:txBody>
      </p:sp>
      <p:sp>
        <p:nvSpPr>
          <p:cNvPr id="8" name="Text 5"/>
          <p:cNvSpPr/>
          <p:nvPr/>
        </p:nvSpPr>
        <p:spPr>
          <a:xfrm>
            <a:off x="685800" y="167792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1325880" y="1463040"/>
            <a:ext cx="7178040" cy="886968"/>
          </a:xfrm>
          <a:prstGeom prst="rect">
            <a:avLst/>
          </a:prstGeom>
          <a:noFill/>
          <a:ln/>
        </p:spPr>
        <p:txBody>
          <a:bodyPr wrap="square" lIns="0" tIns="0" rIns="0" bIns="0" rtlCol="0" anchor="ctr"/>
          <a:lstStyle/>
          <a:p>
            <a:pPr marL="0" indent="0">
              <a:buNone/>
            </a:pPr>
            <a:r>
              <a:rPr lang="en-US" sz="1450" dirty="0">
                <a:solidFill>
                  <a:srgbClr val="2B2320"/>
                </a:solidFill>
                <a:latin typeface="Calibri" pitchFamily="34" charset="0"/>
                <a:ea typeface="Calibri" pitchFamily="34" charset="-122"/>
                <a:cs typeface="Calibri" pitchFamily="34" charset="-120"/>
              </a:rPr>
              <a:t>Leg het verschil uit tussen schuld en schaamte in max. twee zinnen — in je éígen woorden.</a:t>
            </a:r>
            <a:endParaRPr lang="en-US" sz="1450" dirty="0"/>
          </a:p>
        </p:txBody>
      </p:sp>
      <p:sp>
        <p:nvSpPr>
          <p:cNvPr id="10" name="Shape 7"/>
          <p:cNvSpPr/>
          <p:nvPr/>
        </p:nvSpPr>
        <p:spPr>
          <a:xfrm>
            <a:off x="457200" y="2496312"/>
            <a:ext cx="8229600" cy="886968"/>
          </a:xfrm>
          <a:prstGeom prst="roundRect">
            <a:avLst>
              <a:gd name="adj" fmla="val 6186"/>
            </a:avLst>
          </a:prstGeom>
          <a:solidFill>
            <a:srgbClr val="F7EFEC"/>
          </a:solidFill>
          <a:ln/>
          <a:effectLst>
            <a:outerShdw blurRad="88900" dist="25400" dir="2700000" algn="bl" rotWithShape="0">
              <a:srgbClr val="000000">
                <a:alpha val="13000"/>
              </a:srgbClr>
            </a:outerShdw>
          </a:effectLst>
        </p:spPr>
        <p:txBody>
          <a:bodyPr/>
          <a:lstStyle/>
          <a:p>
            <a:endParaRPr lang="en-NL"/>
          </a:p>
        </p:txBody>
      </p:sp>
      <p:sp>
        <p:nvSpPr>
          <p:cNvPr id="11" name="Shape 8"/>
          <p:cNvSpPr/>
          <p:nvPr/>
        </p:nvSpPr>
        <p:spPr>
          <a:xfrm>
            <a:off x="685800" y="2711196"/>
            <a:ext cx="457200" cy="457200"/>
          </a:xfrm>
          <a:prstGeom prst="ellipse">
            <a:avLst/>
          </a:prstGeom>
          <a:solidFill>
            <a:srgbClr val="B85042"/>
          </a:solidFill>
          <a:ln/>
        </p:spPr>
        <p:txBody>
          <a:bodyPr/>
          <a:lstStyle/>
          <a:p>
            <a:endParaRPr lang="en-NL"/>
          </a:p>
        </p:txBody>
      </p:sp>
      <p:sp>
        <p:nvSpPr>
          <p:cNvPr id="12" name="Text 9"/>
          <p:cNvSpPr/>
          <p:nvPr/>
        </p:nvSpPr>
        <p:spPr>
          <a:xfrm>
            <a:off x="685800" y="271119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p:nvPr/>
        </p:nvSpPr>
        <p:spPr>
          <a:xfrm>
            <a:off x="1325880" y="2496312"/>
            <a:ext cx="7178040" cy="886968"/>
          </a:xfrm>
          <a:prstGeom prst="rect">
            <a:avLst/>
          </a:prstGeom>
          <a:noFill/>
          <a:ln/>
        </p:spPr>
        <p:txBody>
          <a:bodyPr wrap="square" lIns="0" tIns="0" rIns="0" bIns="0" rtlCol="0" anchor="ctr"/>
          <a:lstStyle/>
          <a:p>
            <a:pPr marL="0" indent="0">
              <a:buNone/>
            </a:pPr>
            <a:r>
              <a:rPr lang="en-US" sz="1450" dirty="0">
                <a:solidFill>
                  <a:srgbClr val="2B2320"/>
                </a:solidFill>
                <a:latin typeface="Calibri" pitchFamily="34" charset="0"/>
                <a:ea typeface="Calibri" pitchFamily="34" charset="-122"/>
                <a:cs typeface="Calibri" pitchFamily="34" charset="-120"/>
              </a:rPr>
              <a:t>Geef één voorbeeld uit jouw leven (school, sport, online) van gezond schuldgevoel.</a:t>
            </a:r>
            <a:endParaRPr lang="en-US" sz="1450" dirty="0"/>
          </a:p>
        </p:txBody>
      </p:sp>
      <p:sp>
        <p:nvSpPr>
          <p:cNvPr id="14" name="Shape 11"/>
          <p:cNvSpPr/>
          <p:nvPr/>
        </p:nvSpPr>
        <p:spPr>
          <a:xfrm>
            <a:off x="457200" y="3529584"/>
            <a:ext cx="8229600" cy="886968"/>
          </a:xfrm>
          <a:prstGeom prst="roundRect">
            <a:avLst>
              <a:gd name="adj" fmla="val 6186"/>
            </a:avLst>
          </a:prstGeom>
          <a:solidFill>
            <a:srgbClr val="EBF2EC"/>
          </a:solidFill>
          <a:ln/>
          <a:effectLst>
            <a:outerShdw blurRad="88900" dist="25400" dir="2700000" algn="bl" rotWithShape="0">
              <a:srgbClr val="000000">
                <a:alpha val="13000"/>
              </a:srgbClr>
            </a:outerShdw>
          </a:effectLst>
        </p:spPr>
        <p:txBody>
          <a:bodyPr/>
          <a:lstStyle/>
          <a:p>
            <a:endParaRPr lang="en-NL"/>
          </a:p>
        </p:txBody>
      </p:sp>
      <p:sp>
        <p:nvSpPr>
          <p:cNvPr id="15" name="Shape 12"/>
          <p:cNvSpPr/>
          <p:nvPr/>
        </p:nvSpPr>
        <p:spPr>
          <a:xfrm>
            <a:off x="685800" y="3744468"/>
            <a:ext cx="457200" cy="457200"/>
          </a:xfrm>
          <a:prstGeom prst="ellipse">
            <a:avLst/>
          </a:prstGeom>
          <a:solidFill>
            <a:srgbClr val="5E8C6A"/>
          </a:solidFill>
          <a:ln/>
        </p:spPr>
        <p:txBody>
          <a:bodyPr/>
          <a:lstStyle/>
          <a:p>
            <a:endParaRPr lang="en-NL"/>
          </a:p>
        </p:txBody>
      </p:sp>
      <p:sp>
        <p:nvSpPr>
          <p:cNvPr id="16" name="Text 13"/>
          <p:cNvSpPr/>
          <p:nvPr/>
        </p:nvSpPr>
        <p:spPr>
          <a:xfrm>
            <a:off x="685800" y="37444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p:nvPr/>
        </p:nvSpPr>
        <p:spPr>
          <a:xfrm>
            <a:off x="1325880" y="3529584"/>
            <a:ext cx="7178040" cy="886968"/>
          </a:xfrm>
          <a:prstGeom prst="rect">
            <a:avLst/>
          </a:prstGeom>
          <a:noFill/>
          <a:ln/>
        </p:spPr>
        <p:txBody>
          <a:bodyPr wrap="square" lIns="0" tIns="0" rIns="0" bIns="0" rtlCol="0" anchor="ctr"/>
          <a:lstStyle/>
          <a:p>
            <a:pPr marL="0" indent="0">
              <a:buNone/>
            </a:pPr>
            <a:r>
              <a:rPr lang="en-US" sz="1450" dirty="0">
                <a:solidFill>
                  <a:srgbClr val="2B2320"/>
                </a:solidFill>
                <a:latin typeface="Calibri" pitchFamily="34" charset="0"/>
                <a:ea typeface="Calibri" pitchFamily="34" charset="-122"/>
                <a:cs typeface="Calibri" pitchFamily="34" charset="-120"/>
              </a:rPr>
              <a:t>Flashback: welke deugd uit paragraaf 4 helpt je om goed met schuldgevoel om te gaan — en waarom?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1823</Words>
  <Application>Microsoft Macintosh PowerPoint</Application>
  <PresentationFormat>On-screen Show (16:9)</PresentationFormat>
  <Paragraphs>119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Geweten en schuldgevoel — Reader Ethiek paragraaf 5</dc:title>
  <dc:subject>PptxGenJS Presentation</dc:subject>
  <dc:creator>PptxGenJS</dc:creator>
  <cp:lastModifiedBy>Alexander de Jeger</cp:lastModifiedBy>
  <cp:revision>2</cp:revision>
  <dcterms:created xsi:type="dcterms:W3CDTF">2026-06-13T06:58:02Z</dcterms:created>
  <dcterms:modified xsi:type="dcterms:W3CDTF">2026-07-01T18:55:58Z</dcterms:modified>
</cp:coreProperties>
</file>