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EF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433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image" Target="../media/image-6-3.png"/><Relationship Id="rId6" Type="http://schemas.openxmlformats.org/officeDocument/2006/relationships/image" Target="../media/image-6-3.png"/><Relationship Id="rId7" Type="http://schemas.openxmlformats.org/officeDocument/2006/relationships/image" Target="../media/image-6-3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1051560" cy="1051560"/>
          </a:xfrm>
          <a:prstGeom prst="ellipse">
            <a:avLst/>
          </a:prstGeom>
          <a:solidFill>
            <a:srgbClr val="C06A3F"/>
          </a:solidFill>
          <a:ln/>
        </p:spPr>
      </p:sp>
      <p:pic>
        <p:nvPicPr>
          <p:cNvPr id="3" name="Image 0" descr="/tmp/pptxwork/ic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941832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· KLAS 1 · PARAGRAAF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251460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7E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Ethiek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640080" y="41605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FE1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is goed, en wat is kwaad?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C06A3F"/>
          </a:solidFill>
          <a:ln/>
        </p:spPr>
      </p:sp>
      <p:pic>
        <p:nvPicPr>
          <p:cNvPr id="3" name="Image 0" descr="/tmp/pptxwork/ic_feath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690372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STILLE START · 5 MINUTEN · SCHRIJF IN JE SCHRIFT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1645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3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noem jij “goed”?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697480"/>
            <a:ext cx="9966960" cy="603504"/>
          </a:xfrm>
          <a:prstGeom prst="roundRect">
            <a:avLst>
              <a:gd name="adj" fmla="val 18182"/>
            </a:avLst>
          </a:prstGeom>
          <a:solidFill>
            <a:srgbClr val="F7EFD9"/>
          </a:solidFill>
          <a:ln w="12700">
            <a:solidFill>
              <a:srgbClr val="EFE1C4"/>
            </a:solidFill>
            <a:prstDash val="solid"/>
          </a:ln>
          <a:effectLst>
            <a:outerShdw sx="100000" sy="100000" kx="0" ky="0" algn="bl" rotWithShape="0" blurRad="127000" dist="50800" dir="5400000">
              <a:srgbClr val="43301C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2798064"/>
            <a:ext cx="402336" cy="402336"/>
          </a:xfrm>
          <a:prstGeom prst="ellipse">
            <a:avLst/>
          </a:prstGeom>
          <a:solidFill>
            <a:srgbClr val="C06A3F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E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17320" y="2697480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3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een goed cijfer dat je laatst hebt gehaald.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40080" y="3447288"/>
            <a:ext cx="9966960" cy="603504"/>
          </a:xfrm>
          <a:prstGeom prst="roundRect">
            <a:avLst>
              <a:gd name="adj" fmla="val 18182"/>
            </a:avLst>
          </a:prstGeom>
          <a:solidFill>
            <a:srgbClr val="F7EFD9"/>
          </a:solidFill>
          <a:ln w="12700">
            <a:solidFill>
              <a:srgbClr val="EFE1C4"/>
            </a:solidFill>
            <a:prstDash val="solid"/>
          </a:ln>
          <a:effectLst>
            <a:outerShdw sx="100000" sy="100000" kx="0" ky="0" algn="bl" rotWithShape="0" blurRad="127000" dist="50800" dir="5400000">
              <a:srgbClr val="43301C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1248" y="3547872"/>
            <a:ext cx="402336" cy="402336"/>
          </a:xfrm>
          <a:prstGeom prst="ellipse">
            <a:avLst/>
          </a:prstGeom>
          <a:solidFill>
            <a:srgbClr val="C06A3F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E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417320" y="3447288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3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iets waar jij best goed in bent.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640080" y="4197096"/>
            <a:ext cx="9966960" cy="603504"/>
          </a:xfrm>
          <a:prstGeom prst="roundRect">
            <a:avLst>
              <a:gd name="adj" fmla="val 18182"/>
            </a:avLst>
          </a:prstGeom>
          <a:solidFill>
            <a:srgbClr val="F7EFD9"/>
          </a:solidFill>
          <a:ln w="12700">
            <a:solidFill>
              <a:srgbClr val="EFE1C4"/>
            </a:solidFill>
            <a:prstDash val="solid"/>
          </a:ln>
          <a:effectLst>
            <a:outerShdw sx="100000" sy="100000" kx="0" ky="0" algn="bl" rotWithShape="0" blurRad="127000" dist="50800" dir="5400000">
              <a:srgbClr val="43301C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1248" y="4297680"/>
            <a:ext cx="402336" cy="402336"/>
          </a:xfrm>
          <a:prstGeom prst="ellipse">
            <a:avLst/>
          </a:prstGeom>
          <a:solidFill>
            <a:srgbClr val="C06A3F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E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417320" y="4197096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3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een goede plek om lekker te chillen.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640080" y="4946904"/>
            <a:ext cx="9966960" cy="603504"/>
          </a:xfrm>
          <a:prstGeom prst="roundRect">
            <a:avLst>
              <a:gd name="adj" fmla="val 18182"/>
            </a:avLst>
          </a:prstGeom>
          <a:solidFill>
            <a:srgbClr val="F7EFD9"/>
          </a:solidFill>
          <a:ln w="12700">
            <a:solidFill>
              <a:srgbClr val="EFE1C4"/>
            </a:solidFill>
            <a:prstDash val="solid"/>
          </a:ln>
          <a:effectLst>
            <a:outerShdw sx="100000" sy="100000" kx="0" ky="0" algn="bl" rotWithShape="0" blurRad="127000" dist="50800" dir="5400000">
              <a:srgbClr val="43301C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41248" y="5047488"/>
            <a:ext cx="402336" cy="402336"/>
          </a:xfrm>
          <a:prstGeom prst="ellipse">
            <a:avLst/>
          </a:prstGeom>
          <a:solidFill>
            <a:srgbClr val="C06A3F"/>
          </a:solidFill>
          <a:ln/>
        </p:spPr>
      </p:sp>
      <p:sp>
        <p:nvSpPr>
          <p:cNvPr id="20" name="Text 17"/>
          <p:cNvSpPr/>
          <p:nvPr/>
        </p:nvSpPr>
        <p:spPr>
          <a:xfrm>
            <a:off x="841248" y="5047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E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17320" y="4946904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3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een goed gerecht of restaurant.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640080" y="5696712"/>
            <a:ext cx="9966960" cy="603504"/>
          </a:xfrm>
          <a:prstGeom prst="roundRect">
            <a:avLst>
              <a:gd name="adj" fmla="val 18182"/>
            </a:avLst>
          </a:prstGeom>
          <a:solidFill>
            <a:srgbClr val="F7EFD9"/>
          </a:solidFill>
          <a:ln w="12700">
            <a:solidFill>
              <a:srgbClr val="EFE1C4"/>
            </a:solidFill>
            <a:prstDash val="solid"/>
          </a:ln>
          <a:effectLst>
            <a:outerShdw sx="100000" sy="100000" kx="0" ky="0" algn="bl" rotWithShape="0" blurRad="127000" dist="50800" dir="5400000">
              <a:srgbClr val="43301C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41248" y="5797296"/>
            <a:ext cx="402336" cy="402336"/>
          </a:xfrm>
          <a:prstGeom prst="ellipse">
            <a:avLst/>
          </a:prstGeom>
          <a:solidFill>
            <a:srgbClr val="C06A3F"/>
          </a:solidFill>
          <a:ln/>
        </p:spPr>
      </p:sp>
      <p:sp>
        <p:nvSpPr>
          <p:cNvPr id="24" name="Text 21"/>
          <p:cNvSpPr/>
          <p:nvPr/>
        </p:nvSpPr>
        <p:spPr>
          <a:xfrm>
            <a:off x="841248" y="5797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E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417320" y="5696712"/>
            <a:ext cx="8961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3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iemand die jij een goed mens vindt, en waarom.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3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Ethiek gaat over wat goed en slecht is.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6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Maar...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7EFD9"/>
          </a:solidFill>
          <a:ln w="12700">
            <a:solidFill>
              <a:srgbClr val="EFE1C4"/>
            </a:solidFill>
            <a:prstDash val="solid"/>
          </a:ln>
          <a:effectLst>
            <a:outerShdw sx="100000" sy="100000" kx="0" ky="0" algn="bl" rotWithShape="0" blurRad="177800" dist="63500" dir="5400000">
              <a:srgbClr val="43301C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331720"/>
            <a:ext cx="4617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43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“Dit was een goed antwoord.”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63640" y="233172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7EFD9"/>
          </a:solidFill>
          <a:ln w="12700">
            <a:solidFill>
              <a:srgbClr val="EFE1C4"/>
            </a:solidFill>
            <a:prstDash val="solid"/>
          </a:ln>
          <a:effectLst>
            <a:outerShdw sx="100000" sy="100000" kx="0" ky="0" algn="bl" rotWithShape="0" blurRad="177800" dist="63500" dir="5400000">
              <a:srgbClr val="43301C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2331720"/>
            <a:ext cx="4617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43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“Nederland is een goed land om in te wonen.”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7EFD9"/>
          </a:solidFill>
          <a:ln w="12700">
            <a:solidFill>
              <a:srgbClr val="EFE1C4"/>
            </a:solidFill>
            <a:prstDash val="solid"/>
          </a:ln>
          <a:effectLst>
            <a:outerShdw sx="100000" sy="100000" kx="0" ky="0" algn="bl" rotWithShape="0" blurRad="177800" dist="63500" dir="5400000">
              <a:srgbClr val="43301C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4160520"/>
            <a:ext cx="4617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43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“Hij kan goed voetballen.”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263640" y="4160520"/>
            <a:ext cx="5257800" cy="1600200"/>
          </a:xfrm>
          <a:prstGeom prst="roundRect">
            <a:avLst>
              <a:gd name="adj" fmla="val 8000"/>
            </a:avLst>
          </a:prstGeom>
          <a:solidFill>
            <a:srgbClr val="F7EFD9"/>
          </a:solidFill>
          <a:ln w="12700">
            <a:solidFill>
              <a:srgbClr val="EFE1C4"/>
            </a:solidFill>
            <a:prstDash val="solid"/>
          </a:ln>
          <a:effectLst>
            <a:outerShdw sx="100000" sy="100000" kx="0" ky="0" algn="bl" rotWithShape="0" blurRad="177800" dist="63500" dir="5400000">
              <a:srgbClr val="43301C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4160520"/>
            <a:ext cx="4617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43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“Het is goed om geld te geven aan de armen.”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zinnen met hetzelfde woord. Bedoelen we steeds hetzelfde?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3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Niet elke “goed” is hetzelfde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120640" cy="4434840"/>
          </a:xfrm>
          <a:prstGeom prst="roundRect">
            <a:avLst>
              <a:gd name="adj" fmla="val 3299"/>
            </a:avLst>
          </a:prstGeom>
          <a:solidFill>
            <a:srgbClr val="F7EFD9"/>
          </a:solidFill>
          <a:ln w="19050">
            <a:solidFill>
              <a:srgbClr val="3D5A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 SOORT “GOED”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4526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3D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43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“dit was een goed antwoord”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3D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vaardig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43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“hij kan goed voetballen”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3D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prettig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43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“een goed land om in te wonen”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35040" y="1600200"/>
            <a:ext cx="5486400" cy="4434840"/>
          </a:xfrm>
          <a:prstGeom prst="roundRect">
            <a:avLst>
              <a:gd name="adj" fmla="val 3299"/>
            </a:avLst>
          </a:prstGeom>
          <a:solidFill>
            <a:srgbClr val="43301C"/>
          </a:solidFill>
          <a:ln/>
          <a:effectLst>
            <a:outerShdw sx="100000" sy="100000" kx="0" ky="0" algn="bl" rotWithShape="0" blurRad="203200" dist="76200" dir="5400000">
              <a:srgbClr val="43301C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35508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MOREEL GOED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55080" y="2377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E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hoort/behoort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0" y="2788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“het is goed om geld te geven aan de armen”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55080" y="35204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i="1" dirty="0">
                <a:solidFill>
                  <a:srgbClr val="F7E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gaat niet over kloppen, kunnen of lekker vinden — maar over hoe je je hoort te gedragen tegenover een ander.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68680" cy="868680"/>
          </a:xfrm>
          <a:prstGeom prst="ellipse">
            <a:avLst/>
          </a:prstGeom>
          <a:solidFill>
            <a:srgbClr val="C06A3F"/>
          </a:solidFill>
          <a:ln/>
        </p:spPr>
      </p:sp>
      <p:pic>
        <p:nvPicPr>
          <p:cNvPr id="3" name="Image 0" descr="/tmp/pptxwork/ic_mob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859536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WERKVORM · CHECK JE BEGRIP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201168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E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voor “goed”?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2971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FE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 korte zinnen. Bepaal steeds: is dit moreel goed, of een ander soort “goed”? Je ziet meteen of je het goed had.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3977640"/>
            <a:ext cx="9372600" cy="1737360"/>
          </a:xfrm>
          <a:prstGeom prst="roundRect">
            <a:avLst>
              <a:gd name="adj" fmla="val 7368"/>
            </a:avLst>
          </a:prstGeom>
          <a:solidFill>
            <a:srgbClr val="5A4226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206240"/>
            <a:ext cx="8823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8823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E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zinnen, directe feedback na elk antwoord, klaar in ongeveer 5 minuten.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5989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wat_voor_goed.html  —  te openen via de lessenpagina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0" cy="777240"/>
          </a:xfrm>
          <a:prstGeom prst="ellipse">
            <a:avLst/>
          </a:prstGeom>
          <a:solidFill>
            <a:srgbClr val="C06A3F"/>
          </a:solidFill>
          <a:ln/>
        </p:spPr>
      </p:sp>
      <p:pic>
        <p:nvPicPr>
          <p:cNvPr id="3" name="Image 0" descr="/tmp/pptxwork/ic_t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704088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KLASSIEK DILEMMA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645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33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 trolleyprobleem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651760"/>
            <a:ext cx="5852160" cy="3749040"/>
          </a:xfrm>
          <a:prstGeom prst="roundRect">
            <a:avLst>
              <a:gd name="adj" fmla="val 3415"/>
            </a:avLst>
          </a:prstGeom>
          <a:solidFill>
            <a:srgbClr val="F7EFD9"/>
          </a:solidFill>
          <a:ln w="12700">
            <a:solidFill>
              <a:srgbClr val="EFE1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28800" y="3749040"/>
            <a:ext cx="3840480" cy="0"/>
          </a:xfrm>
          <a:prstGeom prst="line">
            <a:avLst/>
          </a:prstGeom>
          <a:noFill/>
          <a:ln w="31750">
            <a:solidFill>
              <a:srgbClr val="4330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383280" y="3749040"/>
            <a:ext cx="2468880" cy="1554480"/>
          </a:xfrm>
          <a:prstGeom prst="line">
            <a:avLst/>
          </a:prstGeom>
          <a:noFill/>
          <a:ln w="31750">
            <a:solidFill>
              <a:srgbClr val="43301C"/>
            </a:solidFill>
            <a:prstDash val="dash"/>
          </a:ln>
        </p:spPr>
      </p:sp>
      <p:pic>
        <p:nvPicPr>
          <p:cNvPr id="9" name="Image 1" descr="/tmp/pptxwork/ic_t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429000"/>
            <a:ext cx="640080" cy="640080"/>
          </a:xfrm>
          <a:prstGeom prst="rect">
            <a:avLst/>
          </a:prstGeom>
        </p:spPr>
      </p:pic>
      <p:pic>
        <p:nvPicPr>
          <p:cNvPr id="10" name="Image 2" descr="/tmp/pptxwork/ic_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474720"/>
            <a:ext cx="292608" cy="292608"/>
          </a:xfrm>
          <a:prstGeom prst="rect">
            <a:avLst/>
          </a:prstGeom>
        </p:spPr>
      </p:pic>
      <p:pic>
        <p:nvPicPr>
          <p:cNvPr id="11" name="Image 3" descr="/tmp/pptxwork/ic_us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496" y="3474720"/>
            <a:ext cx="292608" cy="292608"/>
          </a:xfrm>
          <a:prstGeom prst="rect">
            <a:avLst/>
          </a:prstGeom>
        </p:spPr>
      </p:pic>
      <p:pic>
        <p:nvPicPr>
          <p:cNvPr id="12" name="Image 4" descr="/tmp/pptxwork/ic_us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392" y="3474720"/>
            <a:ext cx="292608" cy="292608"/>
          </a:xfrm>
          <a:prstGeom prst="rect">
            <a:avLst/>
          </a:prstGeom>
        </p:spPr>
      </p:pic>
      <p:pic>
        <p:nvPicPr>
          <p:cNvPr id="13" name="Image 5" descr="/tmp/pptxwork/ic_us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3288" y="3474720"/>
            <a:ext cx="292608" cy="292608"/>
          </a:xfrm>
          <a:prstGeom prst="rect">
            <a:avLst/>
          </a:prstGeom>
        </p:spPr>
      </p:pic>
      <p:pic>
        <p:nvPicPr>
          <p:cNvPr id="14" name="Image 6" descr="/tmp/pptxwork/ic_us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4184" y="3474720"/>
            <a:ext cx="292608" cy="292608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4754880" y="3063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personen</a:t>
            </a:r>
            <a:endParaRPr lang="en-US" sz="1100" dirty="0"/>
          </a:p>
        </p:txBody>
      </p:sp>
      <p:pic>
        <p:nvPicPr>
          <p:cNvPr id="16" name="Image 7" descr="/tmp/pptxwork/ic_user_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5166360"/>
            <a:ext cx="329184" cy="329184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4754880" y="5532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4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persoon</a:t>
            </a:r>
            <a:endParaRPr lang="en-US" sz="1100" dirty="0"/>
          </a:p>
        </p:txBody>
      </p:sp>
      <p:sp>
        <p:nvSpPr>
          <p:cNvPr id="18" name="Shape 8"/>
          <p:cNvSpPr/>
          <p:nvPr/>
        </p:nvSpPr>
        <p:spPr>
          <a:xfrm>
            <a:off x="3154680" y="3520440"/>
            <a:ext cx="457200" cy="457200"/>
          </a:xfrm>
          <a:prstGeom prst="ellipse">
            <a:avLst/>
          </a:prstGeom>
          <a:solidFill>
            <a:srgbClr val="C06A3F"/>
          </a:solidFill>
          <a:ln/>
        </p:spPr>
      </p:sp>
      <p:pic>
        <p:nvPicPr>
          <p:cNvPr id="19" name="Image 8" descr="/tmp/pptxwork/ic_exchang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4408" y="3630168"/>
            <a:ext cx="237744" cy="237744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2651760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75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jij, bij de wissel</a:t>
            </a:r>
            <a:endParaRPr lang="en-US" sz="1050" dirty="0"/>
          </a:p>
        </p:txBody>
      </p:sp>
      <p:sp>
        <p:nvSpPr>
          <p:cNvPr id="21" name="Text 10"/>
          <p:cNvSpPr/>
          <p:nvPr/>
        </p:nvSpPr>
        <p:spPr>
          <a:xfrm>
            <a:off x="6766560" y="2651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3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tram raast op vijf mensen af, vastgebonden op de rails. Je staat bij een wissel.</a:t>
            </a:r>
            <a:endParaRPr lang="en-US" sz="1700" dirty="0"/>
          </a:p>
        </p:txBody>
      </p:sp>
      <p:sp>
        <p:nvSpPr>
          <p:cNvPr id="22" name="Text 11"/>
          <p:cNvSpPr/>
          <p:nvPr/>
        </p:nvSpPr>
        <p:spPr>
          <a:xfrm>
            <a:off x="6766560" y="3657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3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Trek je aan de hendel? Dan gaat de tram een ander spoor op — waar één persoon vaststaat.</a:t>
            </a:r>
            <a:endParaRPr lang="en-US" sz="1700" dirty="0"/>
          </a:p>
        </p:txBody>
      </p:sp>
      <p:sp>
        <p:nvSpPr>
          <p:cNvPr id="23" name="Shape 12"/>
          <p:cNvSpPr/>
          <p:nvPr/>
        </p:nvSpPr>
        <p:spPr>
          <a:xfrm>
            <a:off x="6766560" y="4754880"/>
            <a:ext cx="4846320" cy="1463040"/>
          </a:xfrm>
          <a:prstGeom prst="roundRect">
            <a:avLst>
              <a:gd name="adj" fmla="val 8750"/>
            </a:avLst>
          </a:prstGeom>
          <a:solidFill>
            <a:srgbClr val="43301C"/>
          </a:solidFill>
          <a:ln/>
        </p:spPr>
      </p:sp>
      <p:sp>
        <p:nvSpPr>
          <p:cNvPr id="24" name="Text 13"/>
          <p:cNvSpPr/>
          <p:nvPr/>
        </p:nvSpPr>
        <p:spPr>
          <a:xfrm>
            <a:off x="7040880" y="475488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F7E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Niets doen: vijf mensen sterven. Ingrijpen: één persoon sterft — door jouw keuze.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868680" cy="868680"/>
          </a:xfrm>
          <a:prstGeom prst="ellipse">
            <a:avLst/>
          </a:prstGeom>
          <a:solidFill>
            <a:srgbClr val="C06A3F"/>
          </a:solidFill>
          <a:ln/>
        </p:spPr>
      </p:sp>
      <p:pic>
        <p:nvPicPr>
          <p:cNvPr id="3" name="Image 0" descr="/tmp/pptxwork/ic_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859536"/>
            <a:ext cx="429768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JIJ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94360" y="201168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E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paar scenario's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30175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E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bekijken samen een paar situaties die op het trolleyprobleem lijken. Bij elk scenario: wat zou jij doen, en waarom?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4114800"/>
            <a:ext cx="9966960" cy="1828800"/>
          </a:xfrm>
          <a:prstGeom prst="roundRect">
            <a:avLst>
              <a:gd name="adj" fmla="val 7000"/>
            </a:avLst>
          </a:prstGeom>
          <a:solidFill>
            <a:srgbClr val="5A4226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411480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bij elk scenario op:  </a:t>
            </a:r>
            <a:pPr indent="0" marL="0">
              <a:buNone/>
            </a:pPr>
            <a:r>
              <a:rPr lang="en-US" sz="1700" dirty="0">
                <a:solidFill>
                  <a:srgbClr val="F7E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kijk je naar de regel, naar het gevolg, of naar wat voor persoon je wilt zijn?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06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737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EF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heb je geleerd?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9966960" cy="2651760"/>
          </a:xfrm>
          <a:prstGeom prst="roundRect">
            <a:avLst>
              <a:gd name="adj" fmla="val 5517"/>
            </a:avLst>
          </a:prstGeom>
          <a:solidFill>
            <a:srgbClr val="F7EFD9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3337560"/>
            <a:ext cx="9235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900" b="1" dirty="0">
                <a:solidFill>
                  <a:srgbClr val="43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in eigen woorden uit: wat is het verschil tussen “goed” zoals in “een goed antwoord”, en “moreel goed”?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433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Geef daarbij een eigen voorbeeld van iets dat moreel goed is.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2026-07-16T19:53:24Z</dcterms:created>
  <dcterms:modified xsi:type="dcterms:W3CDTF">2026-07-16T19:53:24Z</dcterms:modified>
</cp:coreProperties>
</file>