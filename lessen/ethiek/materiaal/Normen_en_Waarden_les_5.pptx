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112A5F88-78EC-4F6C-B6E8-A8B142D3763A}"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noRot="1" noChangeAspect="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3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AA4CB71-F855-4B2D-939B-8FCAA59D0910}"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noRot="1" noChangeAspect="1"/>
          </p:cNvSpPr>
          <p:nvPr>
            <p:ph type="sldImg"/>
          </p:nvPr>
        </p:nvSpPr>
        <p:spPr>
          <a:xfrm>
            <a:off x="685800" y="1143000"/>
            <a:ext cx="5486400" cy="308610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4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1E3FD77-2305-41E3-9C6A-0DA6498590EB}"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noRot="1" noChangeAspect="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3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59CE64D-C7B1-435D-BF0B-A755A609C3C2}"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noRot="1" noChangeAspect="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3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44044C0-4D14-499D-B6FC-433E54289486}"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noRot="1" noChangeAspect="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4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ED6A0CC-8DCD-41D6-ACC0-A9BFE2C1A9DC}"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noRot="1" noChangeAspect="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4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DB9C4D7-C06E-44B0-9E8E-677D847CC914}"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noRot="1" noChangeAspect="1"/>
          </p:cNvSpPr>
          <p:nvPr>
            <p:ph type="sldImg"/>
          </p:nvPr>
        </p:nvSpPr>
        <p:spPr>
          <a:xfrm>
            <a:off x="685800" y="1143000"/>
            <a:ext cx="5486040" cy="308592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4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5741D7B-5AF2-4581-BF05-F155B5C3B215}"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noRot="1" noChangeAspect="1"/>
          </p:cNvSpPr>
          <p:nvPr>
            <p:ph type="sldImg"/>
          </p:nvPr>
        </p:nvSpPr>
        <p:spPr>
          <a:xfrm>
            <a:off x="685800" y="1143000"/>
            <a:ext cx="5486040" cy="3085920"/>
          </a:xfrm>
          <a:prstGeom prst="rect">
            <a:avLst/>
          </a:prstGeom>
          <a:ln w="0">
            <a:noFill/>
          </a:ln>
        </p:spPr>
      </p:sp>
      <p:sp>
        <p:nvSpPr>
          <p:cNvPr id="2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5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EDCAB77-0D8A-43B3-A1A8-3648D5A09F7D}"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noRot="1" noChangeAspect="1"/>
          </p:cNvSpPr>
          <p:nvPr>
            <p:ph type="sldImg"/>
          </p:nvPr>
        </p:nvSpPr>
        <p:spPr>
          <a:xfrm>
            <a:off x="685800" y="1143000"/>
            <a:ext cx="5486040" cy="3085920"/>
          </a:xfrm>
          <a:prstGeom prst="rect">
            <a:avLst/>
          </a:prstGeom>
          <a:ln w="0">
            <a:noFill/>
          </a:ln>
        </p:spPr>
      </p:sp>
      <p:sp>
        <p:nvSpPr>
          <p:cNvPr id="2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5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7264397-7BA6-4742-8F3A-D3A67E6D9CEC}"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noRot="1" noChangeAspect="1"/>
          </p:cNvSpPr>
          <p:nvPr>
            <p:ph type="sldImg"/>
          </p:nvPr>
        </p:nvSpPr>
        <p:spPr>
          <a:xfrm>
            <a:off x="685800" y="1143000"/>
            <a:ext cx="5486040" cy="3085920"/>
          </a:xfrm>
          <a:prstGeom prst="rect">
            <a:avLst/>
          </a:prstGeom>
          <a:ln w="0">
            <a:noFill/>
          </a:ln>
        </p:spPr>
      </p:sp>
      <p:sp>
        <p:nvSpPr>
          <p:cNvPr id="2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5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60849BA-2CE7-41D7-A204-9667697B7B4B}"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p:cNvSpPr>
            <a:spLocks noGrp="1" noRot="1" noChangeAspect="1"/>
          </p:cNvSpPr>
          <p:nvPr>
            <p:ph type="sldImg"/>
          </p:nvPr>
        </p:nvSpPr>
        <p:spPr>
          <a:xfrm>
            <a:off x="685800" y="1143000"/>
            <a:ext cx="5486040" cy="3085920"/>
          </a:xfrm>
          <a:prstGeom prst="rect">
            <a:avLst/>
          </a:prstGeom>
          <a:ln w="0">
            <a:noFill/>
          </a:ln>
        </p:spPr>
      </p:sp>
      <p:sp>
        <p:nvSpPr>
          <p:cNvPr id="2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6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193A65A-A649-4068-AFFB-62BD23C295CD}"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PlaceHolder 1"/>
          <p:cNvSpPr>
            <a:spLocks noGrp="1" noRot="1" noChangeAspect="1"/>
          </p:cNvSpPr>
          <p:nvPr>
            <p:ph type="sldImg"/>
          </p:nvPr>
        </p:nvSpPr>
        <p:spPr>
          <a:xfrm>
            <a:off x="685800" y="1143000"/>
            <a:ext cx="5486040" cy="3085920"/>
          </a:xfrm>
          <a:prstGeom prst="rect">
            <a:avLst/>
          </a:prstGeom>
          <a:ln w="0">
            <a:noFill/>
          </a:ln>
        </p:spPr>
      </p:sp>
      <p:sp>
        <p:nvSpPr>
          <p:cNvPr id="2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p>
        </p:txBody>
      </p:sp>
      <p:sp>
        <p:nvSpPr>
          <p:cNvPr id="26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E78CB56-5EF3-48E9-8235-D8B2B4471666}"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D38"/>
        </a:solidFill>
        <a:effectLst/>
      </p:bgPr>
    </p:bg>
    <p:spTree>
      <p:nvGrpSpPr>
        <p:cNvPr id="1" name=""/>
        <p:cNvGrpSpPr/>
        <p:nvPr/>
      </p:nvGrpSpPr>
      <p:grpSpPr>
        <a:xfrm>
          <a:off x="0" y="0"/>
          <a:ext cx="0" cy="0"/>
          <a:chOff x="0" y="0"/>
          <a:chExt cx="0" cy="0"/>
        </a:xfrm>
      </p:grpSpPr>
      <p:sp>
        <p:nvSpPr>
          <p:cNvPr id="8" name="Shape 0"/>
          <p:cNvSpPr/>
          <p:nvPr/>
        </p:nvSpPr>
        <p:spPr>
          <a:xfrm>
            <a:off x="0" y="0"/>
            <a:ext cx="9143640" cy="5143320"/>
          </a:xfrm>
          <a:prstGeom prst="rect">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 name="Shape 1"/>
          <p:cNvSpPr/>
          <p:nvPr/>
        </p:nvSpPr>
        <p:spPr>
          <a:xfrm>
            <a:off x="5413320" y="898560"/>
            <a:ext cx="3346200" cy="3346200"/>
          </a:xfrm>
          <a:prstGeom prst="ellipse">
            <a:avLst/>
          </a:prstGeom>
          <a:solidFill>
            <a:srgbClr val="C082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 name="Shape 2"/>
          <p:cNvSpPr/>
          <p:nvPr/>
        </p:nvSpPr>
        <p:spPr>
          <a:xfrm>
            <a:off x="5486400" y="971640"/>
            <a:ext cx="3200040" cy="3200040"/>
          </a:xfrm>
          <a:prstGeom prst="ellipse">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 name="Image 0"/>
          <p:cNvSpPr/>
          <p:nvPr/>
        </p:nvSpPr>
        <p:spPr>
          <a:xfrm>
            <a:off x="5532120" y="1017360"/>
            <a:ext cx="3108600" cy="3108600"/>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 name="Shape 3"/>
          <p:cNvSpPr/>
          <p:nvPr/>
        </p:nvSpPr>
        <p:spPr>
          <a:xfrm>
            <a:off x="8755560" y="253980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13" name="Shape 4"/>
          <p:cNvSpPr/>
          <p:nvPr/>
        </p:nvSpPr>
        <p:spPr>
          <a:xfrm>
            <a:off x="8527680" y="339012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14" name="Shape 5"/>
          <p:cNvSpPr/>
          <p:nvPr/>
        </p:nvSpPr>
        <p:spPr>
          <a:xfrm>
            <a:off x="7904880" y="401256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15" name="Shape 6"/>
          <p:cNvSpPr/>
          <p:nvPr/>
        </p:nvSpPr>
        <p:spPr>
          <a:xfrm>
            <a:off x="7054560" y="424044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16" name="Shape 7"/>
          <p:cNvSpPr/>
          <p:nvPr/>
        </p:nvSpPr>
        <p:spPr>
          <a:xfrm>
            <a:off x="6204240" y="401256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17" name="Shape 8"/>
          <p:cNvSpPr/>
          <p:nvPr/>
        </p:nvSpPr>
        <p:spPr>
          <a:xfrm>
            <a:off x="5581800" y="339012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18" name="Shape 9"/>
          <p:cNvSpPr/>
          <p:nvPr/>
        </p:nvSpPr>
        <p:spPr>
          <a:xfrm>
            <a:off x="5353920" y="253980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19" name="Shape 10"/>
          <p:cNvSpPr/>
          <p:nvPr/>
        </p:nvSpPr>
        <p:spPr>
          <a:xfrm>
            <a:off x="5581800" y="168948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20" name="Shape 11"/>
          <p:cNvSpPr/>
          <p:nvPr/>
        </p:nvSpPr>
        <p:spPr>
          <a:xfrm>
            <a:off x="6204240" y="106668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21" name="Shape 12"/>
          <p:cNvSpPr/>
          <p:nvPr/>
        </p:nvSpPr>
        <p:spPr>
          <a:xfrm>
            <a:off x="7054560" y="83880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22" name="Shape 13"/>
          <p:cNvSpPr/>
          <p:nvPr/>
        </p:nvSpPr>
        <p:spPr>
          <a:xfrm>
            <a:off x="7904880" y="106668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23" name="Shape 14"/>
          <p:cNvSpPr/>
          <p:nvPr/>
        </p:nvSpPr>
        <p:spPr>
          <a:xfrm>
            <a:off x="8527680" y="1689480"/>
            <a:ext cx="63720" cy="6372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strike="noStrike" spc="-1">
              <a:solidFill>
                <a:srgbClr val="000000"/>
              </a:solidFill>
              <a:latin typeface="Arial"/>
            </a:endParaRPr>
          </a:p>
        </p:txBody>
      </p:sp>
      <p:sp>
        <p:nvSpPr>
          <p:cNvPr id="24" name="Text 15"/>
          <p:cNvSpPr/>
          <p:nvPr/>
        </p:nvSpPr>
        <p:spPr>
          <a:xfrm>
            <a:off x="640080" y="107892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E0A24A"/>
                </a:solidFill>
                <a:latin typeface="Calibri"/>
                <a:ea typeface="Calibri"/>
              </a:rPr>
              <a:t>ETHIEK  ·  EEN DILEMMA OP ZEE</a:t>
            </a:r>
            <a:endParaRPr lang="en-US" sz="1100" b="0" strike="noStrike" spc="-1">
              <a:solidFill>
                <a:srgbClr val="FFFFFF"/>
              </a:solidFill>
              <a:latin typeface="Arial"/>
            </a:endParaRPr>
          </a:p>
        </p:txBody>
      </p:sp>
      <p:sp>
        <p:nvSpPr>
          <p:cNvPr id="25" name="Text 16"/>
          <p:cNvSpPr/>
          <p:nvPr/>
        </p:nvSpPr>
        <p:spPr>
          <a:xfrm>
            <a:off x="567000" y="1371600"/>
            <a:ext cx="4937400" cy="1737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5000"/>
              </a:lnSpc>
              <a:tabLst>
                <a:tab pos="0" algn="l"/>
              </a:tabLst>
            </a:pPr>
            <a:r>
              <a:rPr lang="en-US" sz="5400" b="1" strike="noStrike" spc="-1">
                <a:solidFill>
                  <a:srgbClr val="FFFFFF"/>
                </a:solidFill>
                <a:latin typeface="Cambria"/>
                <a:ea typeface="Cambria"/>
              </a:rPr>
              <a:t>Normen</a:t>
            </a:r>
            <a:endParaRPr lang="en-US" sz="5400" b="0" strike="noStrike" spc="-1">
              <a:solidFill>
                <a:srgbClr val="FFFFFF"/>
              </a:solidFill>
              <a:latin typeface="Arial"/>
            </a:endParaRPr>
          </a:p>
          <a:p>
            <a:pPr defTabSz="914400">
              <a:lnSpc>
                <a:spcPts val="5000"/>
              </a:lnSpc>
              <a:tabLst>
                <a:tab pos="0" algn="l"/>
              </a:tabLst>
            </a:pPr>
            <a:r>
              <a:rPr lang="en-US" sz="5400" b="1" strike="noStrike" spc="-1">
                <a:solidFill>
                  <a:srgbClr val="FFFFFF"/>
                </a:solidFill>
                <a:latin typeface="Cambria"/>
                <a:ea typeface="Cambria"/>
              </a:rPr>
              <a:t>&amp; Waarden</a:t>
            </a:r>
            <a:endParaRPr lang="en-US" sz="5400" b="0" strike="noStrike" spc="-1">
              <a:solidFill>
                <a:srgbClr val="FFFFFF"/>
              </a:solidFill>
              <a:latin typeface="Arial"/>
            </a:endParaRPr>
          </a:p>
        </p:txBody>
      </p:sp>
      <p:sp>
        <p:nvSpPr>
          <p:cNvPr id="26" name="Text 17"/>
          <p:cNvSpPr/>
          <p:nvPr/>
        </p:nvSpPr>
        <p:spPr>
          <a:xfrm>
            <a:off x="640080" y="3246120"/>
            <a:ext cx="47545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i="1" strike="noStrike" spc="-1">
                <a:solidFill>
                  <a:srgbClr val="E0A24A"/>
                </a:solidFill>
                <a:latin typeface="Calibri"/>
                <a:ea typeface="Calibri"/>
              </a:rPr>
              <a:t>Wat doe je in de reddingsboot?</a:t>
            </a:r>
            <a:endParaRPr lang="en-US" sz="1800" b="0" strike="noStrike" spc="-1">
              <a:solidFill>
                <a:srgbClr val="FFFFFF"/>
              </a:solidFill>
              <a:latin typeface="Arial"/>
            </a:endParaRPr>
          </a:p>
        </p:txBody>
      </p:sp>
      <p:sp>
        <p:nvSpPr>
          <p:cNvPr id="27" name="Text 18"/>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5E8A99"/>
                </a:solidFill>
                <a:latin typeface="Calibri"/>
                <a:ea typeface="Calibri"/>
              </a:rPr>
              <a:t>Levensbeschouwing · Ethiek · Klas 1</a:t>
            </a:r>
            <a:endParaRPr lang="en-US" sz="900" b="0" strike="noStrike" spc="-1">
              <a:solidFill>
                <a:srgbClr val="FFFFFF"/>
              </a:solidFill>
              <a:latin typeface="Arial"/>
            </a:endParaRPr>
          </a:p>
        </p:txBody>
      </p:sp>
      <p:sp>
        <p:nvSpPr>
          <p:cNvPr id="28" name="Text 19"/>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E8A99"/>
                </a:solidFill>
                <a:latin typeface="Calibri"/>
                <a:ea typeface="Calibri"/>
              </a:rPr>
              <a:t>1</a:t>
            </a:r>
            <a:endParaRPr lang="en-US" sz="9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D38"/>
        </a:solidFill>
        <a:effectLst/>
      </p:bgPr>
    </p:bg>
    <p:spTree>
      <p:nvGrpSpPr>
        <p:cNvPr id="1" name=""/>
        <p:cNvGrpSpPr/>
        <p:nvPr/>
      </p:nvGrpSpPr>
      <p:grpSpPr>
        <a:xfrm>
          <a:off x="0" y="0"/>
          <a:ext cx="0" cy="0"/>
          <a:chOff x="0" y="0"/>
          <a:chExt cx="0" cy="0"/>
        </a:xfrm>
      </p:grpSpPr>
      <p:sp>
        <p:nvSpPr>
          <p:cNvPr id="59" name="Shape 0"/>
          <p:cNvSpPr/>
          <p:nvPr/>
        </p:nvSpPr>
        <p:spPr>
          <a:xfrm>
            <a:off x="0" y="0"/>
            <a:ext cx="9143640" cy="5143320"/>
          </a:xfrm>
          <a:prstGeom prst="rect">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0" name="Shape 1"/>
          <p:cNvSpPr/>
          <p:nvPr/>
        </p:nvSpPr>
        <p:spPr>
          <a:xfrm>
            <a:off x="640080" y="640080"/>
            <a:ext cx="731160" cy="731160"/>
          </a:xfrm>
          <a:prstGeom prst="ellipse">
            <a:avLst/>
          </a:prstGeom>
          <a:solidFill>
            <a:srgbClr val="C0822F"/>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61" name="Image 0" descr="preencoded.png"/>
          <p:cNvPicPr/>
          <p:nvPr/>
        </p:nvPicPr>
        <p:blipFill>
          <a:blip r:embed="rId3"/>
          <a:stretch/>
        </p:blipFill>
        <p:spPr>
          <a:xfrm>
            <a:off x="837720" y="837720"/>
            <a:ext cx="336240" cy="336240"/>
          </a:xfrm>
          <a:prstGeom prst="rect">
            <a:avLst/>
          </a:prstGeom>
          <a:ln w="0">
            <a:noFill/>
          </a:ln>
        </p:spPr>
      </p:pic>
      <p:sp>
        <p:nvSpPr>
          <p:cNvPr id="62" name="Text 2"/>
          <p:cNvSpPr/>
          <p:nvPr/>
        </p:nvSpPr>
        <p:spPr>
          <a:xfrm>
            <a:off x="1600200" y="71316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E0A24A"/>
                </a:solidFill>
                <a:latin typeface="Calibri"/>
                <a:ea typeface="Calibri"/>
              </a:rPr>
              <a:t>WAT GA JE VANDAAG LEREN?</a:t>
            </a:r>
            <a:endParaRPr lang="en-US" sz="1100" b="0" strike="noStrike" spc="-1">
              <a:solidFill>
                <a:srgbClr val="FFFFFF"/>
              </a:solidFill>
              <a:latin typeface="Arial"/>
            </a:endParaRPr>
          </a:p>
        </p:txBody>
      </p:sp>
      <p:sp>
        <p:nvSpPr>
          <p:cNvPr id="63" name="Text 3"/>
          <p:cNvSpPr/>
          <p:nvPr/>
        </p:nvSpPr>
        <p:spPr>
          <a:xfrm>
            <a:off x="1572840" y="960120"/>
            <a:ext cx="64004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Leerdoelen</a:t>
            </a:r>
            <a:endParaRPr lang="en-US" sz="3400" b="0" strike="noStrike" spc="-1">
              <a:solidFill>
                <a:srgbClr val="FFFFFF"/>
              </a:solidFill>
              <a:latin typeface="Arial"/>
            </a:endParaRPr>
          </a:p>
        </p:txBody>
      </p:sp>
      <p:sp>
        <p:nvSpPr>
          <p:cNvPr id="64" name="Shape 4"/>
          <p:cNvSpPr/>
          <p:nvPr/>
        </p:nvSpPr>
        <p:spPr>
          <a:xfrm>
            <a:off x="822960" y="2011680"/>
            <a:ext cx="383760" cy="38376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5" name="Text 5"/>
          <p:cNvSpPr/>
          <p:nvPr/>
        </p:nvSpPr>
        <p:spPr>
          <a:xfrm>
            <a:off x="822960" y="201168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libri"/>
                <a:ea typeface="Calibri"/>
              </a:rPr>
              <a:t>1</a:t>
            </a:r>
            <a:endParaRPr lang="en-US" sz="1500" b="0" strike="noStrike" spc="-1">
              <a:solidFill>
                <a:srgbClr val="FFFFFF"/>
              </a:solidFill>
              <a:latin typeface="Arial"/>
            </a:endParaRPr>
          </a:p>
        </p:txBody>
      </p:sp>
      <p:sp>
        <p:nvSpPr>
          <p:cNvPr id="66" name="Text 6"/>
          <p:cNvSpPr/>
          <p:nvPr/>
        </p:nvSpPr>
        <p:spPr>
          <a:xfrm>
            <a:off x="1417320" y="1956960"/>
            <a:ext cx="7040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strike="noStrike" spc="-1">
                <a:solidFill>
                  <a:srgbClr val="E8EEF0"/>
                </a:solidFill>
                <a:latin typeface="Calibri"/>
                <a:ea typeface="Calibri"/>
              </a:rPr>
              <a:t>Ik kan het verschil tussen een norm en een waarde uitleggen.</a:t>
            </a:r>
            <a:endParaRPr lang="en-US" sz="1700" b="0" strike="noStrike" spc="-1">
              <a:solidFill>
                <a:srgbClr val="FFFFFF"/>
              </a:solidFill>
              <a:latin typeface="Arial"/>
            </a:endParaRPr>
          </a:p>
        </p:txBody>
      </p:sp>
      <p:sp>
        <p:nvSpPr>
          <p:cNvPr id="67" name="Shape 7"/>
          <p:cNvSpPr/>
          <p:nvPr/>
        </p:nvSpPr>
        <p:spPr>
          <a:xfrm>
            <a:off x="822960" y="2670120"/>
            <a:ext cx="383760" cy="38376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8" name="Text 8"/>
          <p:cNvSpPr/>
          <p:nvPr/>
        </p:nvSpPr>
        <p:spPr>
          <a:xfrm>
            <a:off x="822960" y="267012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libri"/>
                <a:ea typeface="Calibri"/>
              </a:rPr>
              <a:t>2</a:t>
            </a:r>
            <a:endParaRPr lang="en-US" sz="1500" b="0" strike="noStrike" spc="-1">
              <a:solidFill>
                <a:srgbClr val="FFFFFF"/>
              </a:solidFill>
              <a:latin typeface="Arial"/>
            </a:endParaRPr>
          </a:p>
        </p:txBody>
      </p:sp>
      <p:sp>
        <p:nvSpPr>
          <p:cNvPr id="69" name="Text 9"/>
          <p:cNvSpPr/>
          <p:nvPr/>
        </p:nvSpPr>
        <p:spPr>
          <a:xfrm>
            <a:off x="1417320" y="2615040"/>
            <a:ext cx="7040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strike="noStrike" spc="-1">
                <a:solidFill>
                  <a:srgbClr val="E8EEF0"/>
                </a:solidFill>
                <a:latin typeface="Calibri"/>
                <a:ea typeface="Calibri"/>
              </a:rPr>
              <a:t>Ik kan bij een norm de waarde benoemen die erachter zit.</a:t>
            </a:r>
            <a:endParaRPr lang="en-US" sz="1700" b="0" strike="noStrike" spc="-1">
              <a:solidFill>
                <a:srgbClr val="FFFFFF"/>
              </a:solidFill>
              <a:latin typeface="Arial"/>
            </a:endParaRPr>
          </a:p>
        </p:txBody>
      </p:sp>
      <p:sp>
        <p:nvSpPr>
          <p:cNvPr id="70" name="Shape 10"/>
          <p:cNvSpPr/>
          <p:nvPr/>
        </p:nvSpPr>
        <p:spPr>
          <a:xfrm>
            <a:off x="822960" y="3328560"/>
            <a:ext cx="383760" cy="38376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1" name="Text 11"/>
          <p:cNvSpPr/>
          <p:nvPr/>
        </p:nvSpPr>
        <p:spPr>
          <a:xfrm>
            <a:off x="822960" y="332856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libri"/>
                <a:ea typeface="Calibri"/>
              </a:rPr>
              <a:t>3</a:t>
            </a:r>
            <a:endParaRPr lang="en-US" sz="1500" b="0" strike="noStrike" spc="-1">
              <a:solidFill>
                <a:srgbClr val="FFFFFF"/>
              </a:solidFill>
              <a:latin typeface="Arial"/>
            </a:endParaRPr>
          </a:p>
        </p:txBody>
      </p:sp>
      <p:sp>
        <p:nvSpPr>
          <p:cNvPr id="72" name="Text 12"/>
          <p:cNvSpPr/>
          <p:nvPr/>
        </p:nvSpPr>
        <p:spPr>
          <a:xfrm>
            <a:off x="1417320" y="3273480"/>
            <a:ext cx="7040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strike="noStrike" spc="-1">
                <a:solidFill>
                  <a:srgbClr val="E8EEF0"/>
                </a:solidFill>
                <a:latin typeface="Calibri"/>
                <a:ea typeface="Calibri"/>
              </a:rPr>
              <a:t>Ik kan uitleggen wat een dilemma is en een voorbeeld geven.</a:t>
            </a:r>
            <a:endParaRPr lang="en-US" sz="1700" b="0" strike="noStrike" spc="-1">
              <a:solidFill>
                <a:srgbClr val="FFFFFF"/>
              </a:solidFill>
              <a:latin typeface="Arial"/>
            </a:endParaRPr>
          </a:p>
        </p:txBody>
      </p:sp>
      <p:sp>
        <p:nvSpPr>
          <p:cNvPr id="73" name="Shape 13"/>
          <p:cNvSpPr/>
          <p:nvPr/>
        </p:nvSpPr>
        <p:spPr>
          <a:xfrm>
            <a:off x="822960" y="3986640"/>
            <a:ext cx="383760" cy="383760"/>
          </a:xfrm>
          <a:prstGeom prst="ellipse">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4" name="Text 14"/>
          <p:cNvSpPr/>
          <p:nvPr/>
        </p:nvSpPr>
        <p:spPr>
          <a:xfrm>
            <a:off x="822960" y="398664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libri"/>
                <a:ea typeface="Calibri"/>
              </a:rPr>
              <a:t>4</a:t>
            </a:r>
            <a:endParaRPr lang="en-US" sz="1500" b="0" strike="noStrike" spc="-1">
              <a:solidFill>
                <a:srgbClr val="FFFFFF"/>
              </a:solidFill>
              <a:latin typeface="Arial"/>
            </a:endParaRPr>
          </a:p>
        </p:txBody>
      </p:sp>
      <p:sp>
        <p:nvSpPr>
          <p:cNvPr id="75" name="Text 15"/>
          <p:cNvSpPr/>
          <p:nvPr/>
        </p:nvSpPr>
        <p:spPr>
          <a:xfrm>
            <a:off x="1417320" y="3931920"/>
            <a:ext cx="7040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strike="noStrike" spc="-1">
                <a:solidFill>
                  <a:srgbClr val="E8EEF0"/>
                </a:solidFill>
                <a:latin typeface="Calibri"/>
                <a:ea typeface="Calibri"/>
              </a:rPr>
              <a:t>Ik kan in een dilemma benoemen welke waarden met elkaar botsen.</a:t>
            </a:r>
            <a:endParaRPr lang="en-US" sz="1700" b="0" strike="noStrike" spc="-1">
              <a:solidFill>
                <a:srgbClr val="FFFFFF"/>
              </a:solidFill>
              <a:latin typeface="Arial"/>
            </a:endParaRPr>
          </a:p>
        </p:txBody>
      </p:sp>
      <p:sp>
        <p:nvSpPr>
          <p:cNvPr id="76" name="Text 16"/>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5E8A99"/>
                </a:solidFill>
                <a:latin typeface="Calibri"/>
                <a:ea typeface="Calibri"/>
              </a:rPr>
              <a:t>Levensbeschouwing · Ethiek · Klas 1</a:t>
            </a:r>
            <a:endParaRPr lang="en-US" sz="900" b="0" strike="noStrike" spc="-1">
              <a:solidFill>
                <a:srgbClr val="FFFFFF"/>
              </a:solidFill>
              <a:latin typeface="Arial"/>
            </a:endParaRPr>
          </a:p>
        </p:txBody>
      </p:sp>
      <p:sp>
        <p:nvSpPr>
          <p:cNvPr id="77" name="Text 17"/>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E8A99"/>
                </a:solidFill>
                <a:latin typeface="Calibri"/>
                <a:ea typeface="Calibri"/>
              </a:rPr>
              <a:t>4</a:t>
            </a:r>
            <a:endParaRPr lang="en-US" sz="900" b="0" strike="noStrike" spc="-1">
              <a:solidFill>
                <a:srgbClr val="FFFFFF"/>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Text 0"/>
          <p:cNvSpPr/>
          <p:nvPr/>
        </p:nvSpPr>
        <p:spPr>
          <a:xfrm>
            <a:off x="548640" y="4572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STILLE START</a:t>
            </a:r>
            <a:endParaRPr lang="en-US" sz="1100" b="0" strike="noStrike" spc="-1">
              <a:solidFill>
                <a:srgbClr val="000000"/>
              </a:solidFill>
              <a:latin typeface="Arial"/>
            </a:endParaRPr>
          </a:p>
        </p:txBody>
      </p:sp>
      <p:sp>
        <p:nvSpPr>
          <p:cNvPr id="30" name="Text 1"/>
          <p:cNvSpPr/>
          <p:nvPr/>
        </p:nvSpPr>
        <p:spPr>
          <a:xfrm>
            <a:off x="548640" y="749880"/>
            <a:ext cx="82292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B2B30"/>
                </a:solidFill>
                <a:latin typeface="Cambria"/>
                <a:ea typeface="Cambria"/>
              </a:rPr>
              <a:t>Schrijf in stilte tien beroemde personen op</a:t>
            </a:r>
            <a:endParaRPr lang="en-US" sz="3200" b="0" strike="noStrike" spc="-1">
              <a:solidFill>
                <a:srgbClr val="000000"/>
              </a:solidFill>
              <a:latin typeface="Arial"/>
            </a:endParaRPr>
          </a:p>
        </p:txBody>
      </p:sp>
      <p:sp>
        <p:nvSpPr>
          <p:cNvPr id="31" name="Shape 2"/>
          <p:cNvSpPr/>
          <p:nvPr/>
        </p:nvSpPr>
        <p:spPr>
          <a:xfrm>
            <a:off x="548640" y="1828800"/>
            <a:ext cx="5120280" cy="2697120"/>
          </a:xfrm>
          <a:prstGeom prst="roundRect">
            <a:avLst>
              <a:gd name="adj" fmla="val 3390"/>
            </a:avLst>
          </a:prstGeom>
          <a:solidFill>
            <a:srgbClr val="EEF3F4"/>
          </a:solidFill>
          <a:ln w="0">
            <a:noFill/>
          </a:ln>
          <a:effectLst>
            <a:outerShdw blurRad="88920" dist="25560" dir="5400000" algn="bl" rotWithShape="0">
              <a:srgbClr val="0F2D38">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2" name="Text 3"/>
          <p:cNvSpPr/>
          <p:nvPr/>
        </p:nvSpPr>
        <p:spPr>
          <a:xfrm>
            <a:off x="1005840" y="2121480"/>
            <a:ext cx="21942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1199"/>
              </a:spcAft>
              <a:tabLst>
                <a:tab pos="0" algn="l"/>
              </a:tabLst>
            </a:pPr>
            <a:r>
              <a:rPr lang="en-US" sz="1800" b="1" strike="noStrike" spc="-1">
                <a:solidFill>
                  <a:srgbClr val="1C7293"/>
                </a:solidFill>
                <a:latin typeface="Calibri"/>
                <a:ea typeface="Calibri"/>
              </a:rPr>
              <a:t>1.</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2.</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3.</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4.</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5.</a:t>
            </a:r>
            <a:endParaRPr lang="en-US" sz="1800" b="0" strike="noStrike" spc="-1">
              <a:solidFill>
                <a:srgbClr val="000000"/>
              </a:solidFill>
              <a:latin typeface="Arial"/>
            </a:endParaRPr>
          </a:p>
        </p:txBody>
      </p:sp>
      <p:sp>
        <p:nvSpPr>
          <p:cNvPr id="33" name="Text 4"/>
          <p:cNvSpPr/>
          <p:nvPr/>
        </p:nvSpPr>
        <p:spPr>
          <a:xfrm>
            <a:off x="3246120" y="2121480"/>
            <a:ext cx="21942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1199"/>
              </a:spcAft>
              <a:tabLst>
                <a:tab pos="0" algn="l"/>
              </a:tabLst>
            </a:pPr>
            <a:r>
              <a:rPr lang="en-US" sz="1800" b="1" strike="noStrike" spc="-1">
                <a:solidFill>
                  <a:srgbClr val="1C7293"/>
                </a:solidFill>
                <a:latin typeface="Calibri"/>
                <a:ea typeface="Calibri"/>
              </a:rPr>
              <a:t>6.</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7.</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8.</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9.</a:t>
            </a:r>
            <a:endParaRPr lang="en-US" sz="1800" b="0" strike="noStrike" spc="-1">
              <a:solidFill>
                <a:srgbClr val="000000"/>
              </a:solidFill>
              <a:latin typeface="Arial"/>
            </a:endParaRPr>
          </a:p>
          <a:p>
            <a:pPr defTabSz="914400">
              <a:lnSpc>
                <a:spcPct val="100000"/>
              </a:lnSpc>
              <a:spcAft>
                <a:spcPts val="1199"/>
              </a:spcAft>
              <a:tabLst>
                <a:tab pos="0" algn="l"/>
              </a:tabLst>
            </a:pPr>
            <a:r>
              <a:rPr lang="en-US" sz="1800" b="1" strike="noStrike" spc="-1">
                <a:solidFill>
                  <a:srgbClr val="1C7293"/>
                </a:solidFill>
                <a:latin typeface="Calibri"/>
                <a:ea typeface="Calibri"/>
              </a:rPr>
              <a:t>10.</a:t>
            </a:r>
            <a:endParaRPr lang="en-US" sz="1800" b="0" strike="noStrike" spc="-1">
              <a:solidFill>
                <a:srgbClr val="000000"/>
              </a:solidFill>
              <a:latin typeface="Arial"/>
            </a:endParaRPr>
          </a:p>
        </p:txBody>
      </p:sp>
      <p:sp>
        <p:nvSpPr>
          <p:cNvPr id="34" name="Text 5"/>
          <p:cNvSpPr/>
          <p:nvPr/>
        </p:nvSpPr>
        <p:spPr>
          <a:xfrm>
            <a:off x="868680" y="422460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i="1" strike="noStrike" spc="-1">
                <a:solidFill>
                  <a:srgbClr val="5E8A99"/>
                </a:solidFill>
                <a:latin typeface="Calibri"/>
                <a:ea typeface="Calibri"/>
              </a:rPr>
              <a:t>Iedereen werkt nu zelfstandig en in stilte.</a:t>
            </a:r>
            <a:endParaRPr lang="en-US" sz="1250" b="0" strike="noStrike" spc="-1">
              <a:solidFill>
                <a:srgbClr val="000000"/>
              </a:solidFill>
              <a:latin typeface="Arial"/>
            </a:endParaRPr>
          </a:p>
        </p:txBody>
      </p:sp>
      <p:sp>
        <p:nvSpPr>
          <p:cNvPr id="35" name="Shape 6"/>
          <p:cNvSpPr/>
          <p:nvPr/>
        </p:nvSpPr>
        <p:spPr>
          <a:xfrm>
            <a:off x="6126480" y="1828800"/>
            <a:ext cx="639720" cy="639720"/>
          </a:xfrm>
          <a:prstGeom prst="ellipse">
            <a:avLst/>
          </a:prstGeom>
          <a:solidFill>
            <a:srgbClr val="1C7293"/>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36" name="Image 0" descr="preencoded.png"/>
          <p:cNvPicPr/>
          <p:nvPr/>
        </p:nvPicPr>
        <p:blipFill>
          <a:blip r:embed="rId3"/>
          <a:stretch/>
        </p:blipFill>
        <p:spPr>
          <a:xfrm>
            <a:off x="6299280" y="2001600"/>
            <a:ext cx="294120" cy="294120"/>
          </a:xfrm>
          <a:prstGeom prst="rect">
            <a:avLst/>
          </a:prstGeom>
          <a:ln w="0">
            <a:noFill/>
          </a:ln>
        </p:spPr>
      </p:pic>
      <p:sp>
        <p:nvSpPr>
          <p:cNvPr id="37" name="Text 7"/>
          <p:cNvSpPr/>
          <p:nvPr/>
        </p:nvSpPr>
        <p:spPr>
          <a:xfrm>
            <a:off x="6126480" y="2606040"/>
            <a:ext cx="255996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2100"/>
              </a:lnSpc>
              <a:tabLst>
                <a:tab pos="0" algn="l"/>
              </a:tabLst>
            </a:pPr>
            <a:r>
              <a:rPr lang="en-US" sz="1500" b="0" strike="noStrike" spc="-1">
                <a:solidFill>
                  <a:srgbClr val="1B2B30"/>
                </a:solidFill>
                <a:latin typeface="Calibri"/>
                <a:ea typeface="Calibri"/>
              </a:rPr>
              <a:t>Geen overleg.</a:t>
            </a:r>
            <a:endParaRPr lang="en-US" sz="1500" b="0" strike="noStrike" spc="-1">
              <a:solidFill>
                <a:srgbClr val="000000"/>
              </a:solidFill>
              <a:latin typeface="Arial"/>
            </a:endParaRPr>
          </a:p>
          <a:p>
            <a:pPr defTabSz="914400">
              <a:lnSpc>
                <a:spcPts val="2100"/>
              </a:lnSpc>
              <a:tabLst>
                <a:tab pos="0" algn="l"/>
              </a:tabLst>
            </a:pPr>
            <a:r>
              <a:rPr lang="en-US" sz="1500" b="0" strike="noStrike" spc="-1">
                <a:solidFill>
                  <a:srgbClr val="1B2B30"/>
                </a:solidFill>
                <a:latin typeface="Calibri"/>
                <a:ea typeface="Calibri"/>
              </a:rPr>
              <a:t>Gewoon de eerste tien namen die in je opkomen: zangers, sporters, acteurs, politici, YouTubers.</a:t>
            </a:r>
            <a:endParaRPr lang="en-US" sz="1500" b="0" strike="noStrike" spc="-1">
              <a:solidFill>
                <a:srgbClr val="000000"/>
              </a:solidFill>
              <a:latin typeface="Arial"/>
            </a:endParaRPr>
          </a:p>
        </p:txBody>
      </p:sp>
      <p:sp>
        <p:nvSpPr>
          <p:cNvPr id="38" name="Shape 8"/>
          <p:cNvSpPr/>
          <p:nvPr/>
        </p:nvSpPr>
        <p:spPr>
          <a:xfrm>
            <a:off x="6126480" y="4160520"/>
            <a:ext cx="1874160" cy="383760"/>
          </a:xfrm>
          <a:prstGeom prst="roundRect">
            <a:avLst>
              <a:gd name="adj" fmla="val 50000"/>
            </a:avLst>
          </a:prstGeom>
          <a:solidFill>
            <a:srgbClr val="C0822F"/>
          </a:solidFill>
          <a:ln w="0">
            <a:noFill/>
          </a:ln>
          <a:effectLst>
            <a:outerShdw blurRad="6336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39" name="Image 1" descr="preencoded.png"/>
          <p:cNvPicPr/>
          <p:nvPr/>
        </p:nvPicPr>
        <p:blipFill>
          <a:blip r:embed="rId3"/>
          <a:stretch/>
        </p:blipFill>
        <p:spPr>
          <a:xfrm>
            <a:off x="6272640" y="4260960"/>
            <a:ext cx="182520" cy="182520"/>
          </a:xfrm>
          <a:prstGeom prst="rect">
            <a:avLst/>
          </a:prstGeom>
          <a:ln w="0">
            <a:noFill/>
          </a:ln>
        </p:spPr>
      </p:pic>
      <p:sp>
        <p:nvSpPr>
          <p:cNvPr id="40" name="Text 9"/>
          <p:cNvSpPr/>
          <p:nvPr/>
        </p:nvSpPr>
        <p:spPr>
          <a:xfrm>
            <a:off x="6510600" y="4160520"/>
            <a:ext cx="1416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FFFFFF"/>
                </a:solidFill>
                <a:latin typeface="Calibri"/>
                <a:ea typeface="Calibri"/>
              </a:rPr>
              <a:t>Schrijfmoment</a:t>
            </a:r>
            <a:endParaRPr lang="en-US" sz="1250" b="0" strike="noStrike" spc="-1">
              <a:solidFill>
                <a:srgbClr val="000000"/>
              </a:solidFill>
              <a:latin typeface="Arial"/>
            </a:endParaRPr>
          </a:p>
        </p:txBody>
      </p:sp>
      <p:sp>
        <p:nvSpPr>
          <p:cNvPr id="41" name="Text 10"/>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42" name="Text 11"/>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2</a:t>
            </a:r>
            <a:endParaRPr lang="en-US" sz="9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Text 0"/>
          <p:cNvSpPr/>
          <p:nvPr/>
        </p:nvSpPr>
        <p:spPr>
          <a:xfrm>
            <a:off x="548640" y="4572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STILLE START  ·  VERVOLG</a:t>
            </a:r>
            <a:endParaRPr lang="en-US" sz="1100" b="0" strike="noStrike" spc="-1">
              <a:solidFill>
                <a:srgbClr val="000000"/>
              </a:solidFill>
              <a:latin typeface="Arial"/>
            </a:endParaRPr>
          </a:p>
        </p:txBody>
      </p:sp>
      <p:sp>
        <p:nvSpPr>
          <p:cNvPr id="44" name="Text 1"/>
          <p:cNvSpPr/>
          <p:nvPr/>
        </p:nvSpPr>
        <p:spPr>
          <a:xfrm>
            <a:off x="548640" y="74988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B2B30"/>
                </a:solidFill>
                <a:latin typeface="Cambria"/>
                <a:ea typeface="Cambria"/>
              </a:rPr>
              <a:t>Plaats je beroemdheden op de lijn</a:t>
            </a:r>
            <a:endParaRPr lang="en-US" sz="3200" b="0" strike="noStrike" spc="-1">
              <a:solidFill>
                <a:srgbClr val="000000"/>
              </a:solidFill>
              <a:latin typeface="Arial"/>
            </a:endParaRPr>
          </a:p>
        </p:txBody>
      </p:sp>
      <p:sp>
        <p:nvSpPr>
          <p:cNvPr id="45" name="Text 2"/>
          <p:cNvSpPr/>
          <p:nvPr/>
        </p:nvSpPr>
        <p:spPr>
          <a:xfrm>
            <a:off x="548640" y="1417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strike="noStrike" spc="-1">
                <a:solidFill>
                  <a:srgbClr val="1B2B30"/>
                </a:solidFill>
                <a:latin typeface="Calibri"/>
                <a:ea typeface="Calibri"/>
              </a:rPr>
              <a:t>Teken de lijn over in je schrift en zet elke naam waar jij vindt dat die hoort.</a:t>
            </a:r>
            <a:endParaRPr lang="en-US" sz="1500" b="0" strike="noStrike" spc="-1">
              <a:solidFill>
                <a:srgbClr val="000000"/>
              </a:solidFill>
              <a:latin typeface="Arial"/>
            </a:endParaRPr>
          </a:p>
        </p:txBody>
      </p:sp>
      <p:sp>
        <p:nvSpPr>
          <p:cNvPr id="46" name="Shape 3"/>
          <p:cNvSpPr/>
          <p:nvPr/>
        </p:nvSpPr>
        <p:spPr>
          <a:xfrm>
            <a:off x="1188720" y="2880360"/>
            <a:ext cx="6766560" cy="360"/>
          </a:xfrm>
          <a:prstGeom prst="line">
            <a:avLst/>
          </a:prstGeom>
          <a:ln w="31750">
            <a:solidFill>
              <a:srgbClr val="1B2B3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47" name="Shape 4"/>
          <p:cNvSpPr/>
          <p:nvPr/>
        </p:nvSpPr>
        <p:spPr>
          <a:xfrm>
            <a:off x="1188720" y="2761200"/>
            <a:ext cx="360" cy="237960"/>
          </a:xfrm>
          <a:prstGeom prst="line">
            <a:avLst/>
          </a:prstGeom>
          <a:ln w="31750">
            <a:solidFill>
              <a:srgbClr val="1B2B3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48" name="Shape 5"/>
          <p:cNvSpPr/>
          <p:nvPr/>
        </p:nvSpPr>
        <p:spPr>
          <a:xfrm>
            <a:off x="7955280" y="2761200"/>
            <a:ext cx="360" cy="237960"/>
          </a:xfrm>
          <a:prstGeom prst="line">
            <a:avLst/>
          </a:prstGeom>
          <a:ln w="31750">
            <a:solidFill>
              <a:srgbClr val="1B2B3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49" name="Shape 6"/>
          <p:cNvSpPr/>
          <p:nvPr/>
        </p:nvSpPr>
        <p:spPr>
          <a:xfrm>
            <a:off x="502920" y="2578680"/>
            <a:ext cx="1416960" cy="566640"/>
          </a:xfrm>
          <a:prstGeom prst="roundRect">
            <a:avLst>
              <a:gd name="adj" fmla="val 16129"/>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0" name="Text 7"/>
          <p:cNvSpPr/>
          <p:nvPr/>
        </p:nvSpPr>
        <p:spPr>
          <a:xfrm>
            <a:off x="502920" y="2578680"/>
            <a:ext cx="1416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400"/>
              </a:lnSpc>
              <a:tabLst>
                <a:tab pos="0" algn="l"/>
              </a:tabLst>
            </a:pPr>
            <a:r>
              <a:rPr lang="en-US" sz="1300" b="1" strike="noStrike" spc="-1">
                <a:solidFill>
                  <a:srgbClr val="FFFFFF"/>
                </a:solidFill>
                <a:latin typeface="Calibri"/>
                <a:ea typeface="Calibri"/>
              </a:rPr>
              <a:t>Slecht</a:t>
            </a:r>
            <a:endParaRPr lang="en-US" sz="1300" b="0" strike="noStrike" spc="-1">
              <a:solidFill>
                <a:srgbClr val="000000"/>
              </a:solidFill>
              <a:latin typeface="Arial"/>
            </a:endParaRPr>
          </a:p>
          <a:p>
            <a:pPr algn="ctr" defTabSz="914400">
              <a:lnSpc>
                <a:spcPts val="1400"/>
              </a:lnSpc>
              <a:tabLst>
                <a:tab pos="0" algn="l"/>
              </a:tabLst>
            </a:pPr>
            <a:r>
              <a:rPr lang="en-US" sz="1300" b="1" strike="noStrike" spc="-1">
                <a:solidFill>
                  <a:srgbClr val="FFFFFF"/>
                </a:solidFill>
                <a:latin typeface="Calibri"/>
                <a:ea typeface="Calibri"/>
              </a:rPr>
              <a:t>persoon</a:t>
            </a:r>
            <a:endParaRPr lang="en-US" sz="1300" b="0" strike="noStrike" spc="-1">
              <a:solidFill>
                <a:srgbClr val="000000"/>
              </a:solidFill>
              <a:latin typeface="Arial"/>
            </a:endParaRPr>
          </a:p>
        </p:txBody>
      </p:sp>
      <p:sp>
        <p:nvSpPr>
          <p:cNvPr id="51" name="Shape 8"/>
          <p:cNvSpPr/>
          <p:nvPr/>
        </p:nvSpPr>
        <p:spPr>
          <a:xfrm>
            <a:off x="7223760" y="2578680"/>
            <a:ext cx="1416960" cy="566640"/>
          </a:xfrm>
          <a:prstGeom prst="roundRect">
            <a:avLst>
              <a:gd name="adj" fmla="val 16129"/>
            </a:avLst>
          </a:prstGeom>
          <a:solidFill>
            <a:srgbClr val="C082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2" name="Text 9"/>
          <p:cNvSpPr/>
          <p:nvPr/>
        </p:nvSpPr>
        <p:spPr>
          <a:xfrm>
            <a:off x="7223760" y="2578680"/>
            <a:ext cx="1416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400"/>
              </a:lnSpc>
              <a:tabLst>
                <a:tab pos="0" algn="l"/>
              </a:tabLst>
            </a:pPr>
            <a:r>
              <a:rPr lang="en-US" sz="1300" b="1" strike="noStrike" spc="-1">
                <a:solidFill>
                  <a:srgbClr val="FFFFFF"/>
                </a:solidFill>
                <a:latin typeface="Calibri"/>
                <a:ea typeface="Calibri"/>
              </a:rPr>
              <a:t>Goed</a:t>
            </a:r>
            <a:endParaRPr lang="en-US" sz="1300" b="0" strike="noStrike" spc="-1">
              <a:solidFill>
                <a:srgbClr val="000000"/>
              </a:solidFill>
              <a:latin typeface="Arial"/>
            </a:endParaRPr>
          </a:p>
          <a:p>
            <a:pPr algn="ctr" defTabSz="914400">
              <a:lnSpc>
                <a:spcPts val="1400"/>
              </a:lnSpc>
              <a:tabLst>
                <a:tab pos="0" algn="l"/>
              </a:tabLst>
            </a:pPr>
            <a:r>
              <a:rPr lang="en-US" sz="1300" b="1" strike="noStrike" spc="-1">
                <a:solidFill>
                  <a:srgbClr val="FFFFFF"/>
                </a:solidFill>
                <a:latin typeface="Calibri"/>
                <a:ea typeface="Calibri"/>
              </a:rPr>
              <a:t>persoon</a:t>
            </a:r>
            <a:endParaRPr lang="en-US" sz="1300" b="0" strike="noStrike" spc="-1">
              <a:solidFill>
                <a:srgbClr val="000000"/>
              </a:solidFill>
              <a:latin typeface="Arial"/>
            </a:endParaRPr>
          </a:p>
        </p:txBody>
      </p:sp>
      <p:sp>
        <p:nvSpPr>
          <p:cNvPr id="53" name="Text 10"/>
          <p:cNvSpPr/>
          <p:nvPr/>
        </p:nvSpPr>
        <p:spPr>
          <a:xfrm>
            <a:off x="1188720" y="3200400"/>
            <a:ext cx="6766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i="1" strike="noStrike" spc="-1">
                <a:solidFill>
                  <a:srgbClr val="5E8A99"/>
                </a:solidFill>
                <a:latin typeface="Calibri"/>
                <a:ea typeface="Calibri"/>
              </a:rPr>
              <a:t>Waar staat de twijfelaar in het midden?</a:t>
            </a:r>
            <a:endParaRPr lang="en-US" sz="1300" b="0" strike="noStrike" spc="-1">
              <a:solidFill>
                <a:srgbClr val="000000"/>
              </a:solidFill>
              <a:latin typeface="Arial"/>
            </a:endParaRPr>
          </a:p>
        </p:txBody>
      </p:sp>
      <p:sp>
        <p:nvSpPr>
          <p:cNvPr id="54" name="Shape 11"/>
          <p:cNvSpPr/>
          <p:nvPr/>
        </p:nvSpPr>
        <p:spPr>
          <a:xfrm>
            <a:off x="548640" y="4297680"/>
            <a:ext cx="1874160" cy="383760"/>
          </a:xfrm>
          <a:prstGeom prst="roundRect">
            <a:avLst>
              <a:gd name="adj" fmla="val 50000"/>
            </a:avLst>
          </a:prstGeom>
          <a:solidFill>
            <a:srgbClr val="C0822F"/>
          </a:solidFill>
          <a:ln w="0">
            <a:noFill/>
          </a:ln>
          <a:effectLst>
            <a:outerShdw blurRad="6336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55" name="Image 0" descr="preencoded.png"/>
          <p:cNvPicPr/>
          <p:nvPr/>
        </p:nvPicPr>
        <p:blipFill>
          <a:blip r:embed="rId3"/>
          <a:stretch/>
        </p:blipFill>
        <p:spPr>
          <a:xfrm>
            <a:off x="694800" y="4398120"/>
            <a:ext cx="182520" cy="182520"/>
          </a:xfrm>
          <a:prstGeom prst="rect">
            <a:avLst/>
          </a:prstGeom>
          <a:ln w="0">
            <a:noFill/>
          </a:ln>
        </p:spPr>
      </p:pic>
      <p:sp>
        <p:nvSpPr>
          <p:cNvPr id="56" name="Text 12"/>
          <p:cNvSpPr/>
          <p:nvPr/>
        </p:nvSpPr>
        <p:spPr>
          <a:xfrm>
            <a:off x="932760" y="4297680"/>
            <a:ext cx="1416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FFFFFF"/>
                </a:solidFill>
                <a:latin typeface="Calibri"/>
                <a:ea typeface="Calibri"/>
              </a:rPr>
              <a:t>Schrijfmoment</a:t>
            </a:r>
            <a:endParaRPr lang="en-US" sz="1250" b="0" strike="noStrike" spc="-1">
              <a:solidFill>
                <a:srgbClr val="000000"/>
              </a:solidFill>
              <a:latin typeface="Arial"/>
            </a:endParaRPr>
          </a:p>
        </p:txBody>
      </p:sp>
      <p:sp>
        <p:nvSpPr>
          <p:cNvPr id="57" name="Text 13"/>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58" name="Text 14"/>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3</a:t>
            </a:r>
            <a:endParaRPr lang="en-US" sz="9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Text 0"/>
          <p:cNvSpPr/>
          <p:nvPr/>
        </p:nvSpPr>
        <p:spPr>
          <a:xfrm>
            <a:off x="548640" y="4572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TERUGKOPPELING OPENER</a:t>
            </a:r>
            <a:endParaRPr lang="en-US" sz="1100" b="0" strike="noStrike" spc="-1">
              <a:solidFill>
                <a:srgbClr val="000000"/>
              </a:solidFill>
              <a:latin typeface="Arial"/>
            </a:endParaRPr>
          </a:p>
        </p:txBody>
      </p:sp>
      <p:sp>
        <p:nvSpPr>
          <p:cNvPr id="79" name="Text 1"/>
          <p:cNvSpPr/>
          <p:nvPr/>
        </p:nvSpPr>
        <p:spPr>
          <a:xfrm>
            <a:off x="548640" y="74988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100" b="1" strike="noStrike" spc="-1">
                <a:solidFill>
                  <a:srgbClr val="1B2B30"/>
                </a:solidFill>
                <a:latin typeface="Cambria"/>
                <a:ea typeface="Cambria"/>
              </a:rPr>
              <a:t>Waarom vind ik iemand goed of slecht?</a:t>
            </a:r>
            <a:endParaRPr lang="en-US" sz="3100" b="0" strike="noStrike" spc="-1">
              <a:solidFill>
                <a:srgbClr val="000000"/>
              </a:solidFill>
              <a:latin typeface="Arial"/>
            </a:endParaRPr>
          </a:p>
        </p:txBody>
      </p:sp>
      <p:sp>
        <p:nvSpPr>
          <p:cNvPr id="80" name="Shape 2"/>
          <p:cNvSpPr/>
          <p:nvPr/>
        </p:nvSpPr>
        <p:spPr>
          <a:xfrm>
            <a:off x="548640" y="1783080"/>
            <a:ext cx="3885840" cy="1874160"/>
          </a:xfrm>
          <a:prstGeom prst="roundRect">
            <a:avLst>
              <a:gd name="adj" fmla="val 4878"/>
            </a:avLst>
          </a:prstGeom>
          <a:solidFill>
            <a:srgbClr val="EEF3F4"/>
          </a:solidFill>
          <a:ln w="0">
            <a:noFill/>
          </a:ln>
          <a:effectLst>
            <a:outerShdw blurRad="101520" dist="25560" dir="5400000" algn="bl" rotWithShape="0">
              <a:srgbClr val="0F2D38">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 name="Shape 3"/>
          <p:cNvSpPr/>
          <p:nvPr/>
        </p:nvSpPr>
        <p:spPr>
          <a:xfrm>
            <a:off x="841320" y="2094120"/>
            <a:ext cx="639720" cy="639720"/>
          </a:xfrm>
          <a:prstGeom prst="ellipse">
            <a:avLst/>
          </a:prstGeom>
          <a:solidFill>
            <a:srgbClr val="1C7293"/>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82" name="Image 0" descr="preencoded.png"/>
          <p:cNvPicPr/>
          <p:nvPr/>
        </p:nvPicPr>
        <p:blipFill>
          <a:blip r:embed="rId3"/>
          <a:stretch/>
        </p:blipFill>
        <p:spPr>
          <a:xfrm>
            <a:off x="1014120" y="2266920"/>
            <a:ext cx="294120" cy="294120"/>
          </a:xfrm>
          <a:prstGeom prst="rect">
            <a:avLst/>
          </a:prstGeom>
          <a:ln w="0">
            <a:noFill/>
          </a:ln>
        </p:spPr>
      </p:pic>
      <p:sp>
        <p:nvSpPr>
          <p:cNvPr id="83" name="Text 4"/>
          <p:cNvSpPr/>
          <p:nvPr/>
        </p:nvSpPr>
        <p:spPr>
          <a:xfrm>
            <a:off x="1645920" y="209412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strike="noStrike" spc="-1">
                <a:solidFill>
                  <a:srgbClr val="1B2B30"/>
                </a:solidFill>
                <a:latin typeface="Cambria"/>
                <a:ea typeface="Cambria"/>
              </a:rPr>
              <a:t>Eigenschappen</a:t>
            </a:r>
            <a:endParaRPr lang="en-US" sz="2100" b="0" strike="noStrike" spc="-1">
              <a:solidFill>
                <a:srgbClr val="000000"/>
              </a:solidFill>
              <a:latin typeface="Arial"/>
            </a:endParaRPr>
          </a:p>
        </p:txBody>
      </p:sp>
      <p:sp>
        <p:nvSpPr>
          <p:cNvPr id="84" name="Text 5"/>
          <p:cNvSpPr/>
          <p:nvPr/>
        </p:nvSpPr>
        <p:spPr>
          <a:xfrm>
            <a:off x="859680" y="2880360"/>
            <a:ext cx="3282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2001"/>
              </a:lnSpc>
              <a:tabLst>
                <a:tab pos="0" algn="l"/>
              </a:tabLst>
            </a:pPr>
            <a:r>
              <a:rPr lang="en-US" sz="1500" b="0" strike="noStrike" spc="-1">
                <a:solidFill>
                  <a:srgbClr val="1B2B30"/>
                </a:solidFill>
                <a:latin typeface="Calibri"/>
                <a:ea typeface="Calibri"/>
              </a:rPr>
              <a:t>Mensen hebben eigenschappen die ik goed of slecht vind. Bijvoorbeeld: eerlijk, arrogant, behulpzaam.</a:t>
            </a:r>
            <a:endParaRPr lang="en-US" sz="1500" b="0" strike="noStrike" spc="-1">
              <a:solidFill>
                <a:srgbClr val="000000"/>
              </a:solidFill>
              <a:latin typeface="Arial"/>
            </a:endParaRPr>
          </a:p>
        </p:txBody>
      </p:sp>
      <p:sp>
        <p:nvSpPr>
          <p:cNvPr id="85" name="Shape 6"/>
          <p:cNvSpPr/>
          <p:nvPr/>
        </p:nvSpPr>
        <p:spPr>
          <a:xfrm>
            <a:off x="4709160" y="1783080"/>
            <a:ext cx="3885840" cy="1874160"/>
          </a:xfrm>
          <a:prstGeom prst="roundRect">
            <a:avLst>
              <a:gd name="adj" fmla="val 4878"/>
            </a:avLst>
          </a:prstGeom>
          <a:solidFill>
            <a:srgbClr val="EEF3F4"/>
          </a:solidFill>
          <a:ln w="0">
            <a:noFill/>
          </a:ln>
          <a:effectLst>
            <a:outerShdw blurRad="101520" dist="25560" dir="5400000" algn="bl" rotWithShape="0">
              <a:srgbClr val="0F2D38">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6" name="Shape 7"/>
          <p:cNvSpPr/>
          <p:nvPr/>
        </p:nvSpPr>
        <p:spPr>
          <a:xfrm>
            <a:off x="5001840" y="2094120"/>
            <a:ext cx="639720" cy="639720"/>
          </a:xfrm>
          <a:prstGeom prst="ellipse">
            <a:avLst/>
          </a:prstGeom>
          <a:solidFill>
            <a:srgbClr val="C0822F"/>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87" name="Image 1" descr="preencoded.png"/>
          <p:cNvPicPr/>
          <p:nvPr/>
        </p:nvPicPr>
        <p:blipFill>
          <a:blip r:embed="rId4"/>
          <a:stretch/>
        </p:blipFill>
        <p:spPr>
          <a:xfrm>
            <a:off x="5174640" y="2266920"/>
            <a:ext cx="294120" cy="294120"/>
          </a:xfrm>
          <a:prstGeom prst="rect">
            <a:avLst/>
          </a:prstGeom>
          <a:ln w="0">
            <a:noFill/>
          </a:ln>
        </p:spPr>
      </p:pic>
      <p:sp>
        <p:nvSpPr>
          <p:cNvPr id="88" name="Text 8"/>
          <p:cNvSpPr/>
          <p:nvPr/>
        </p:nvSpPr>
        <p:spPr>
          <a:xfrm>
            <a:off x="5806440" y="209412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strike="noStrike" spc="-1">
                <a:solidFill>
                  <a:srgbClr val="1B2B30"/>
                </a:solidFill>
                <a:latin typeface="Cambria"/>
                <a:ea typeface="Cambria"/>
              </a:rPr>
              <a:t>Daden</a:t>
            </a:r>
            <a:endParaRPr lang="en-US" sz="2100" b="0" strike="noStrike" spc="-1">
              <a:solidFill>
                <a:srgbClr val="000000"/>
              </a:solidFill>
              <a:latin typeface="Arial"/>
            </a:endParaRPr>
          </a:p>
        </p:txBody>
      </p:sp>
      <p:sp>
        <p:nvSpPr>
          <p:cNvPr id="89" name="Text 9"/>
          <p:cNvSpPr/>
          <p:nvPr/>
        </p:nvSpPr>
        <p:spPr>
          <a:xfrm>
            <a:off x="5020200" y="2880360"/>
            <a:ext cx="3282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2001"/>
              </a:lnSpc>
              <a:tabLst>
                <a:tab pos="0" algn="l"/>
              </a:tabLst>
            </a:pPr>
            <a:r>
              <a:rPr lang="en-US" sz="1500" b="0" strike="noStrike" spc="-1">
                <a:solidFill>
                  <a:srgbClr val="1B2B30"/>
                </a:solidFill>
                <a:latin typeface="Calibri"/>
                <a:ea typeface="Calibri"/>
              </a:rPr>
              <a:t>Mensen doen dingen die ik goed of slecht vind. Bijvoorbeeld: helpen, pesten, de waarheid spreken.</a:t>
            </a:r>
            <a:endParaRPr lang="en-US" sz="1500" b="0" strike="noStrike" spc="-1">
              <a:solidFill>
                <a:srgbClr val="000000"/>
              </a:solidFill>
              <a:latin typeface="Arial"/>
            </a:endParaRPr>
          </a:p>
        </p:txBody>
      </p:sp>
      <p:sp>
        <p:nvSpPr>
          <p:cNvPr id="90" name="Shape 10"/>
          <p:cNvSpPr/>
          <p:nvPr/>
        </p:nvSpPr>
        <p:spPr>
          <a:xfrm>
            <a:off x="548640" y="3886200"/>
            <a:ext cx="8046360" cy="776880"/>
          </a:xfrm>
          <a:prstGeom prst="roundRect">
            <a:avLst>
              <a:gd name="adj" fmla="val 11765"/>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1" name="Text 11"/>
          <p:cNvSpPr/>
          <p:nvPr/>
        </p:nvSpPr>
        <p:spPr>
          <a:xfrm>
            <a:off x="868680" y="3886200"/>
            <a:ext cx="7406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strike="noStrike" spc="-1">
                <a:solidFill>
                  <a:srgbClr val="E8EEF0"/>
                </a:solidFill>
                <a:latin typeface="Calibri"/>
                <a:ea typeface="Calibri"/>
              </a:rPr>
              <a:t>Wat ik goed of slecht vind, zegt iets over </a:t>
            </a:r>
            <a:r>
              <a:rPr lang="en-US" sz="1700" b="1" strike="noStrike" spc="-1">
                <a:solidFill>
                  <a:srgbClr val="E0A24A"/>
                </a:solidFill>
                <a:latin typeface="Calibri"/>
                <a:ea typeface="Calibri"/>
              </a:rPr>
              <a:t>wat ik belangrijk vind.</a:t>
            </a:r>
            <a:endParaRPr lang="en-US" sz="1700" b="0" strike="noStrike" spc="-1">
              <a:solidFill>
                <a:srgbClr val="000000"/>
              </a:solidFill>
              <a:latin typeface="Arial"/>
            </a:endParaRPr>
          </a:p>
        </p:txBody>
      </p:sp>
      <p:sp>
        <p:nvSpPr>
          <p:cNvPr id="92" name="Text 12"/>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93" name="Text 13"/>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5</a:t>
            </a:r>
            <a:endParaRPr lang="en-US" sz="9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 name="Text 0"/>
          <p:cNvSpPr/>
          <p:nvPr/>
        </p:nvSpPr>
        <p:spPr>
          <a:xfrm>
            <a:off x="548640" y="4572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DE CASUS  ·  EEN WAARGEBEURD VERHAAL</a:t>
            </a:r>
            <a:endParaRPr lang="en-US" sz="1100" b="0" strike="noStrike" spc="-1">
              <a:solidFill>
                <a:srgbClr val="000000"/>
              </a:solidFill>
              <a:latin typeface="Arial"/>
            </a:endParaRPr>
          </a:p>
        </p:txBody>
      </p:sp>
      <p:sp>
        <p:nvSpPr>
          <p:cNvPr id="95" name="Text 1"/>
          <p:cNvSpPr/>
          <p:nvPr/>
        </p:nvSpPr>
        <p:spPr>
          <a:xfrm>
            <a:off x="548640" y="749880"/>
            <a:ext cx="5486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strike="noStrike" spc="-1">
                <a:solidFill>
                  <a:srgbClr val="1B2B30"/>
                </a:solidFill>
                <a:latin typeface="Cambria"/>
                <a:ea typeface="Cambria"/>
              </a:rPr>
              <a:t>Het schip de Mignonette, 1884</a:t>
            </a:r>
            <a:endParaRPr lang="en-US" sz="2900" b="0" strike="noStrike" spc="-1">
              <a:solidFill>
                <a:srgbClr val="000000"/>
              </a:solidFill>
              <a:latin typeface="Arial"/>
            </a:endParaRPr>
          </a:p>
        </p:txBody>
      </p:sp>
      <p:sp>
        <p:nvSpPr>
          <p:cNvPr id="96" name="Text 2"/>
          <p:cNvSpPr/>
          <p:nvPr/>
        </p:nvSpPr>
        <p:spPr>
          <a:xfrm>
            <a:off x="548640" y="1417320"/>
            <a:ext cx="5211720" cy="265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550" b="0" strike="noStrike" spc="-1">
                <a:solidFill>
                  <a:srgbClr val="1B2B30"/>
                </a:solidFill>
                <a:latin typeface="Calibri"/>
                <a:ea typeface="Calibri"/>
              </a:rPr>
              <a:t>Een klein zeiljacht vergaat in een zware storm op de oceaan. Vier opvarenden ontkomen in een kleine reddingsboot, ver van land. Ze hebben bijna geen eten en geen drinkwater.</a:t>
            </a:r>
            <a:endParaRPr lang="en-US" sz="1550" b="0" strike="noStrike" spc="-1">
              <a:solidFill>
                <a:srgbClr val="000000"/>
              </a:solidFill>
              <a:latin typeface="Arial"/>
            </a:endParaRPr>
          </a:p>
          <a:p>
            <a:endParaRPr lang="en-US" sz="1550" b="0" strike="noStrike" spc="-1">
              <a:solidFill>
                <a:srgbClr val="000000"/>
              </a:solidFill>
              <a:latin typeface="Arial"/>
            </a:endParaRPr>
          </a:p>
          <a:p>
            <a:r>
              <a:rPr lang="en-US" sz="1550" b="0" strike="noStrike" spc="-1">
                <a:solidFill>
                  <a:srgbClr val="1B2B30"/>
                </a:solidFill>
                <a:latin typeface="Calibri"/>
                <a:ea typeface="Calibri"/>
              </a:rPr>
              <a:t>Na ruim twee weken is de jongste, een zieke scheepsjongen van zeventien, het zwakst. Om zelf te overleven besluiten drie mannen hem te doden en op te eten. De vierde man weigert mee te doen.</a:t>
            </a:r>
            <a:endParaRPr lang="en-US" sz="1550" b="0" strike="noStrike" spc="-1">
              <a:solidFill>
                <a:srgbClr val="000000"/>
              </a:solidFill>
              <a:latin typeface="Arial"/>
            </a:endParaRPr>
          </a:p>
          <a:p>
            <a:endParaRPr lang="en-US" sz="1550" b="0" strike="noStrike" spc="-1">
              <a:solidFill>
                <a:srgbClr val="000000"/>
              </a:solidFill>
              <a:latin typeface="Arial"/>
            </a:endParaRPr>
          </a:p>
          <a:p>
            <a:pPr defTabSz="914400">
              <a:lnSpc>
                <a:spcPts val="2001"/>
              </a:lnSpc>
              <a:tabLst>
                <a:tab pos="0" algn="l"/>
              </a:tabLst>
            </a:pPr>
            <a:r>
              <a:rPr lang="en-US" sz="1550" b="1" strike="noStrike" spc="-1">
                <a:solidFill>
                  <a:srgbClr val="1B2B30"/>
                </a:solidFill>
                <a:latin typeface="Calibri"/>
                <a:ea typeface="Calibri"/>
              </a:rPr>
              <a:t>Een paar dagen later worden de overlevenden gered.</a:t>
            </a:r>
            <a:endParaRPr lang="en-US" sz="1550" b="0" strike="noStrike" spc="-1">
              <a:solidFill>
                <a:srgbClr val="000000"/>
              </a:solidFill>
              <a:latin typeface="Arial"/>
            </a:endParaRPr>
          </a:p>
        </p:txBody>
      </p:sp>
      <p:sp>
        <p:nvSpPr>
          <p:cNvPr id="97" name="Shape 3"/>
          <p:cNvSpPr/>
          <p:nvPr/>
        </p:nvSpPr>
        <p:spPr>
          <a:xfrm>
            <a:off x="6071760" y="1271160"/>
            <a:ext cx="2669760" cy="2669760"/>
          </a:xfrm>
          <a:prstGeom prst="ellipse">
            <a:avLst/>
          </a:prstGeom>
          <a:solidFill>
            <a:srgbClr val="C082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8" name="Image 0"/>
          <p:cNvSpPr/>
          <p:nvPr/>
        </p:nvSpPr>
        <p:spPr>
          <a:xfrm>
            <a:off x="6172200" y="1371600"/>
            <a:ext cx="2468520" cy="2468520"/>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9" name="Shape 4"/>
          <p:cNvSpPr/>
          <p:nvPr/>
        </p:nvSpPr>
        <p:spPr>
          <a:xfrm>
            <a:off x="8741520" y="257868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0" name="Shape 5"/>
          <p:cNvSpPr/>
          <p:nvPr/>
        </p:nvSpPr>
        <p:spPr>
          <a:xfrm>
            <a:off x="8559000" y="325980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1" name="Shape 6"/>
          <p:cNvSpPr/>
          <p:nvPr/>
        </p:nvSpPr>
        <p:spPr>
          <a:xfrm>
            <a:off x="8060400" y="375840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2" name="Shape 7"/>
          <p:cNvSpPr/>
          <p:nvPr/>
        </p:nvSpPr>
        <p:spPr>
          <a:xfrm>
            <a:off x="7379280" y="394092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3" name="Shape 8"/>
          <p:cNvSpPr/>
          <p:nvPr/>
        </p:nvSpPr>
        <p:spPr>
          <a:xfrm>
            <a:off x="6698160" y="375840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4" name="Shape 9"/>
          <p:cNvSpPr/>
          <p:nvPr/>
        </p:nvSpPr>
        <p:spPr>
          <a:xfrm>
            <a:off x="6199200" y="325980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5" name="Shape 10"/>
          <p:cNvSpPr/>
          <p:nvPr/>
        </p:nvSpPr>
        <p:spPr>
          <a:xfrm>
            <a:off x="6016680" y="257868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6" name="Shape 11"/>
          <p:cNvSpPr/>
          <p:nvPr/>
        </p:nvSpPr>
        <p:spPr>
          <a:xfrm>
            <a:off x="6199200" y="189756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7" name="Shape 12"/>
          <p:cNvSpPr/>
          <p:nvPr/>
        </p:nvSpPr>
        <p:spPr>
          <a:xfrm>
            <a:off x="6698160" y="139860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8" name="Shape 13"/>
          <p:cNvSpPr/>
          <p:nvPr/>
        </p:nvSpPr>
        <p:spPr>
          <a:xfrm>
            <a:off x="7379280" y="121608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09" name="Shape 14"/>
          <p:cNvSpPr/>
          <p:nvPr/>
        </p:nvSpPr>
        <p:spPr>
          <a:xfrm>
            <a:off x="8060400" y="139860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10" name="Shape 15"/>
          <p:cNvSpPr/>
          <p:nvPr/>
        </p:nvSpPr>
        <p:spPr>
          <a:xfrm>
            <a:off x="8559000" y="1897560"/>
            <a:ext cx="54360" cy="54360"/>
          </a:xfrm>
          <a:prstGeom prst="ellipse">
            <a:avLst/>
          </a:prstGeom>
          <a:solidFill>
            <a:srgbClr val="E0A24A"/>
          </a:solidFill>
          <a:ln w="0">
            <a:noFill/>
          </a:ln>
        </p:spPr>
        <p:style>
          <a:lnRef idx="0">
            <a:scrgbClr r="0" g="0" b="0"/>
          </a:lnRef>
          <a:fillRef idx="0">
            <a:scrgbClr r="0" g="0" b="0"/>
          </a:fillRef>
          <a:effectRef idx="0">
            <a:scrgbClr r="0" g="0" b="0"/>
          </a:effectRef>
          <a:fontRef idx="minor"/>
        </p:style>
        <p:txBody>
          <a:bodyPr lIns="90000" tIns="-6480" rIns="90000" bIns="-6480" anchor="t">
            <a:noAutofit/>
          </a:bodyPr>
          <a:lstStyle/>
          <a:p>
            <a:endParaRPr lang="en-US" sz="1800" b="0" strike="noStrike" spc="-1">
              <a:solidFill>
                <a:srgbClr val="000000"/>
              </a:solidFill>
              <a:latin typeface="Arial"/>
            </a:endParaRPr>
          </a:p>
        </p:txBody>
      </p:sp>
      <p:sp>
        <p:nvSpPr>
          <p:cNvPr id="111" name="Text 16"/>
          <p:cNvSpPr/>
          <p:nvPr/>
        </p:nvSpPr>
        <p:spPr>
          <a:xfrm>
            <a:off x="5989320" y="4005000"/>
            <a:ext cx="2834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strike="noStrike" spc="-1">
                <a:solidFill>
                  <a:srgbClr val="5E8A99"/>
                </a:solidFill>
                <a:latin typeface="Calibri"/>
                <a:ea typeface="Calibri"/>
              </a:rPr>
              <a:t>Originele schets van het jacht uit het dossier</a:t>
            </a:r>
            <a:endParaRPr lang="en-US" sz="1050" b="0" strike="noStrike" spc="-1">
              <a:solidFill>
                <a:srgbClr val="000000"/>
              </a:solidFill>
              <a:latin typeface="Arial"/>
            </a:endParaRPr>
          </a:p>
        </p:txBody>
      </p:sp>
      <p:sp>
        <p:nvSpPr>
          <p:cNvPr id="112" name="Shape 17"/>
          <p:cNvSpPr/>
          <p:nvPr/>
        </p:nvSpPr>
        <p:spPr>
          <a:xfrm>
            <a:off x="548640" y="4206240"/>
            <a:ext cx="5211720" cy="502560"/>
          </a:xfrm>
          <a:prstGeom prst="roundRect">
            <a:avLst>
              <a:gd name="adj" fmla="val 18182"/>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3" name="Text 18"/>
          <p:cNvSpPr/>
          <p:nvPr/>
        </p:nvSpPr>
        <p:spPr>
          <a:xfrm>
            <a:off x="713160" y="4206240"/>
            <a:ext cx="49374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B2B30"/>
                </a:solidFill>
                <a:latin typeface="Calibri"/>
                <a:ea typeface="Calibri"/>
              </a:rPr>
              <a:t>Wat zou jij gedaan hebben in die boot? Schrijf het op.</a:t>
            </a:r>
            <a:endParaRPr lang="en-US" sz="1350" b="0" strike="noStrike" spc="-1">
              <a:solidFill>
                <a:srgbClr val="000000"/>
              </a:solidFill>
              <a:latin typeface="Arial"/>
            </a:endParaRPr>
          </a:p>
        </p:txBody>
      </p:sp>
      <p:sp>
        <p:nvSpPr>
          <p:cNvPr id="114" name="Shape 19"/>
          <p:cNvSpPr/>
          <p:nvPr/>
        </p:nvSpPr>
        <p:spPr>
          <a:xfrm>
            <a:off x="6355080" y="4370760"/>
            <a:ext cx="1874160" cy="383760"/>
          </a:xfrm>
          <a:prstGeom prst="roundRect">
            <a:avLst>
              <a:gd name="adj" fmla="val 50000"/>
            </a:avLst>
          </a:prstGeom>
          <a:solidFill>
            <a:srgbClr val="C0822F"/>
          </a:solidFill>
          <a:ln w="0">
            <a:noFill/>
          </a:ln>
          <a:effectLst>
            <a:outerShdw blurRad="6336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15" name="Image 1" descr="preencoded.png"/>
          <p:cNvPicPr/>
          <p:nvPr/>
        </p:nvPicPr>
        <p:blipFill>
          <a:blip r:embed="rId4"/>
          <a:stretch/>
        </p:blipFill>
        <p:spPr>
          <a:xfrm>
            <a:off x="6501240" y="4471560"/>
            <a:ext cx="182520" cy="182520"/>
          </a:xfrm>
          <a:prstGeom prst="rect">
            <a:avLst/>
          </a:prstGeom>
          <a:ln w="0">
            <a:noFill/>
          </a:ln>
        </p:spPr>
      </p:pic>
      <p:sp>
        <p:nvSpPr>
          <p:cNvPr id="116" name="Text 20"/>
          <p:cNvSpPr/>
          <p:nvPr/>
        </p:nvSpPr>
        <p:spPr>
          <a:xfrm>
            <a:off x="6739200" y="4370760"/>
            <a:ext cx="1416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FFFFFF"/>
                </a:solidFill>
                <a:latin typeface="Calibri"/>
                <a:ea typeface="Calibri"/>
              </a:rPr>
              <a:t>Schrijfmoment</a:t>
            </a:r>
            <a:endParaRPr lang="en-US" sz="1250" b="0" strike="noStrike" spc="-1">
              <a:solidFill>
                <a:srgbClr val="000000"/>
              </a:solidFill>
              <a:latin typeface="Arial"/>
            </a:endParaRPr>
          </a:p>
        </p:txBody>
      </p:sp>
      <p:sp>
        <p:nvSpPr>
          <p:cNvPr id="117" name="Text 21"/>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118" name="Text 22"/>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6</a:t>
            </a:r>
            <a:endParaRPr lang="en-US" sz="9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 name="Text 0"/>
          <p:cNvSpPr/>
          <p:nvPr/>
        </p:nvSpPr>
        <p:spPr>
          <a:xfrm>
            <a:off x="548640" y="4572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HERHALING  ·  KOMT DIT JE BEKEND VOOR?</a:t>
            </a:r>
            <a:endParaRPr lang="en-US" sz="1100" b="0" strike="noStrike" spc="-1">
              <a:solidFill>
                <a:srgbClr val="000000"/>
              </a:solidFill>
              <a:latin typeface="Arial"/>
            </a:endParaRPr>
          </a:p>
        </p:txBody>
      </p:sp>
      <p:sp>
        <p:nvSpPr>
          <p:cNvPr id="120" name="Text 1"/>
          <p:cNvSpPr/>
          <p:nvPr/>
        </p:nvSpPr>
        <p:spPr>
          <a:xfrm>
            <a:off x="548640" y="74988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strike="noStrike" spc="-1">
                <a:solidFill>
                  <a:srgbClr val="1B2B30"/>
                </a:solidFill>
                <a:latin typeface="Cambria"/>
                <a:ea typeface="Cambria"/>
              </a:rPr>
              <a:t>Het trolleyprobleem</a:t>
            </a:r>
            <a:endParaRPr lang="en-US" sz="3000" b="0" strike="noStrike" spc="-1">
              <a:solidFill>
                <a:srgbClr val="000000"/>
              </a:solidFill>
              <a:latin typeface="Arial"/>
            </a:endParaRPr>
          </a:p>
        </p:txBody>
      </p:sp>
      <p:sp>
        <p:nvSpPr>
          <p:cNvPr id="121" name="Shape 2"/>
          <p:cNvSpPr/>
          <p:nvPr/>
        </p:nvSpPr>
        <p:spPr>
          <a:xfrm>
            <a:off x="548640" y="1600200"/>
            <a:ext cx="5303160" cy="2285640"/>
          </a:xfrm>
          <a:prstGeom prst="roundRect">
            <a:avLst>
              <a:gd name="adj" fmla="val 4000"/>
            </a:avLst>
          </a:prstGeom>
          <a:solidFill>
            <a:srgbClr val="EEF3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 name="Shape 3"/>
          <p:cNvSpPr/>
          <p:nvPr/>
        </p:nvSpPr>
        <p:spPr>
          <a:xfrm>
            <a:off x="914400" y="2514600"/>
            <a:ext cx="2743200" cy="360"/>
          </a:xfrm>
          <a:prstGeom prst="line">
            <a:avLst/>
          </a:prstGeom>
          <a:ln w="38100">
            <a:solidFill>
              <a:srgbClr val="1B2B3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23" name="Shape 4"/>
          <p:cNvSpPr/>
          <p:nvPr/>
        </p:nvSpPr>
        <p:spPr>
          <a:xfrm flipV="1">
            <a:off x="3657600" y="1828800"/>
            <a:ext cx="1554480" cy="685800"/>
          </a:xfrm>
          <a:prstGeom prst="line">
            <a:avLst/>
          </a:prstGeom>
          <a:ln w="38100">
            <a:solidFill>
              <a:srgbClr val="1B2B3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124" name="Shape 5"/>
          <p:cNvSpPr/>
          <p:nvPr/>
        </p:nvSpPr>
        <p:spPr>
          <a:xfrm>
            <a:off x="3657600" y="2514600"/>
            <a:ext cx="1737360" cy="360"/>
          </a:xfrm>
          <a:prstGeom prst="line">
            <a:avLst/>
          </a:prstGeom>
          <a:ln w="38100">
            <a:solidFill>
              <a:srgbClr val="155A74"/>
            </a:solidFill>
            <a:prstDash val="dash"/>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25" name="Shape 6"/>
          <p:cNvSpPr/>
          <p:nvPr/>
        </p:nvSpPr>
        <p:spPr>
          <a:xfrm>
            <a:off x="960120" y="2258640"/>
            <a:ext cx="639720" cy="411120"/>
          </a:xfrm>
          <a:prstGeom prst="roundRect">
            <a:avLst>
              <a:gd name="adj" fmla="val 13333"/>
            </a:avLst>
          </a:prstGeom>
          <a:solidFill>
            <a:srgbClr val="C082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26" name="Image 0" descr="preencoded.png"/>
          <p:cNvPicPr/>
          <p:nvPr/>
        </p:nvPicPr>
        <p:blipFill>
          <a:blip r:embed="rId3"/>
          <a:stretch/>
        </p:blipFill>
        <p:spPr>
          <a:xfrm>
            <a:off x="1152000" y="2340720"/>
            <a:ext cx="255600" cy="255600"/>
          </a:xfrm>
          <a:prstGeom prst="rect">
            <a:avLst/>
          </a:prstGeom>
          <a:ln w="0">
            <a:noFill/>
          </a:ln>
        </p:spPr>
      </p:pic>
      <p:sp>
        <p:nvSpPr>
          <p:cNvPr id="127" name="Shape 7"/>
          <p:cNvSpPr/>
          <p:nvPr/>
        </p:nvSpPr>
        <p:spPr>
          <a:xfrm>
            <a:off x="5166360" y="2313360"/>
            <a:ext cx="456840" cy="456840"/>
          </a:xfrm>
          <a:prstGeom prst="ellipse">
            <a:avLst/>
          </a:prstGeom>
          <a:solidFill>
            <a:srgbClr val="155A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8" name="Text 8"/>
          <p:cNvSpPr/>
          <p:nvPr/>
        </p:nvSpPr>
        <p:spPr>
          <a:xfrm>
            <a:off x="5166360" y="23133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strike="noStrike" spc="-1">
                <a:solidFill>
                  <a:srgbClr val="FFFFFF"/>
                </a:solidFill>
                <a:latin typeface="Calibri"/>
                <a:ea typeface="Calibri"/>
              </a:rPr>
              <a:t>5</a:t>
            </a:r>
            <a:endParaRPr lang="en-US" sz="1700" b="0" strike="noStrike" spc="-1">
              <a:solidFill>
                <a:srgbClr val="000000"/>
              </a:solidFill>
              <a:latin typeface="Arial"/>
            </a:endParaRPr>
          </a:p>
        </p:txBody>
      </p:sp>
      <p:sp>
        <p:nvSpPr>
          <p:cNvPr id="129" name="Shape 9"/>
          <p:cNvSpPr/>
          <p:nvPr/>
        </p:nvSpPr>
        <p:spPr>
          <a:xfrm>
            <a:off x="5074920" y="1645920"/>
            <a:ext cx="383760" cy="383760"/>
          </a:xfrm>
          <a:prstGeom prst="ellipse">
            <a:avLst/>
          </a:prstGeom>
          <a:solidFill>
            <a:srgbClr val="C082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0" name="Text 10"/>
          <p:cNvSpPr/>
          <p:nvPr/>
        </p:nvSpPr>
        <p:spPr>
          <a:xfrm>
            <a:off x="5074920" y="164592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1</a:t>
            </a:r>
            <a:endParaRPr lang="en-US" sz="1400" b="0" strike="noStrike" spc="-1">
              <a:solidFill>
                <a:srgbClr val="000000"/>
              </a:solidFill>
              <a:latin typeface="Arial"/>
            </a:endParaRPr>
          </a:p>
        </p:txBody>
      </p:sp>
      <p:sp>
        <p:nvSpPr>
          <p:cNvPr id="131" name="Text 11"/>
          <p:cNvSpPr/>
          <p:nvPr/>
        </p:nvSpPr>
        <p:spPr>
          <a:xfrm>
            <a:off x="3383280" y="2624400"/>
            <a:ext cx="822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5E8A99"/>
                </a:solidFill>
                <a:latin typeface="Calibri"/>
                <a:ea typeface="Calibri"/>
              </a:rPr>
              <a:t>hendel</a:t>
            </a:r>
            <a:endParaRPr lang="en-US" sz="1100" b="0" strike="noStrike" spc="-1">
              <a:solidFill>
                <a:srgbClr val="000000"/>
              </a:solidFill>
              <a:latin typeface="Arial"/>
            </a:endParaRPr>
          </a:p>
        </p:txBody>
      </p:sp>
      <p:sp>
        <p:nvSpPr>
          <p:cNvPr id="132" name="Text 12"/>
          <p:cNvSpPr/>
          <p:nvPr/>
        </p:nvSpPr>
        <p:spPr>
          <a:xfrm>
            <a:off x="868680" y="3173040"/>
            <a:ext cx="46630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strike="noStrike" spc="-1">
                <a:solidFill>
                  <a:srgbClr val="1B2B30"/>
                </a:solidFill>
                <a:latin typeface="Calibri"/>
                <a:ea typeface="Calibri"/>
              </a:rPr>
              <a:t>Een op hol geslagen tram raast op vijf mensen af. Met een hendel stuur je hem naar een zijspoor, waar één mens staat. Wat doe je?</a:t>
            </a:r>
            <a:endParaRPr lang="en-US" sz="1250" b="0" strike="noStrike" spc="-1">
              <a:solidFill>
                <a:srgbClr val="000000"/>
              </a:solidFill>
              <a:latin typeface="Arial"/>
            </a:endParaRPr>
          </a:p>
        </p:txBody>
      </p:sp>
      <p:sp>
        <p:nvSpPr>
          <p:cNvPr id="133" name="Shape 13"/>
          <p:cNvSpPr/>
          <p:nvPr/>
        </p:nvSpPr>
        <p:spPr>
          <a:xfrm>
            <a:off x="6080760" y="1600200"/>
            <a:ext cx="2605680" cy="2285640"/>
          </a:xfrm>
          <a:prstGeom prst="roundRect">
            <a:avLst>
              <a:gd name="adj" fmla="val 4000"/>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4" name="Shape 14"/>
          <p:cNvSpPr/>
          <p:nvPr/>
        </p:nvSpPr>
        <p:spPr>
          <a:xfrm>
            <a:off x="6355080" y="1828800"/>
            <a:ext cx="548280" cy="548280"/>
          </a:xfrm>
          <a:prstGeom prst="ellipse">
            <a:avLst/>
          </a:prstGeom>
          <a:solidFill>
            <a:srgbClr val="C0822F"/>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35" name="Image 1" descr="preencoded.png"/>
          <p:cNvPicPr/>
          <p:nvPr/>
        </p:nvPicPr>
        <p:blipFill>
          <a:blip r:embed="rId4"/>
          <a:stretch/>
        </p:blipFill>
        <p:spPr>
          <a:xfrm>
            <a:off x="6503040" y="1976760"/>
            <a:ext cx="252000" cy="252000"/>
          </a:xfrm>
          <a:prstGeom prst="rect">
            <a:avLst/>
          </a:prstGeom>
          <a:ln w="0">
            <a:noFill/>
          </a:ln>
        </p:spPr>
      </p:pic>
      <p:sp>
        <p:nvSpPr>
          <p:cNvPr id="136" name="Text 15"/>
          <p:cNvSpPr/>
          <p:nvPr/>
        </p:nvSpPr>
        <p:spPr>
          <a:xfrm>
            <a:off x="6967800" y="1874520"/>
            <a:ext cx="1645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FFFFFF"/>
                </a:solidFill>
                <a:latin typeface="Cambria"/>
                <a:ea typeface="Cambria"/>
              </a:rPr>
              <a:t>Zelfde botsing</a:t>
            </a:r>
            <a:endParaRPr lang="en-US" sz="1800" b="0" strike="noStrike" spc="-1">
              <a:solidFill>
                <a:srgbClr val="000000"/>
              </a:solidFill>
              <a:latin typeface="Arial"/>
            </a:endParaRPr>
          </a:p>
        </p:txBody>
      </p:sp>
      <p:sp>
        <p:nvSpPr>
          <p:cNvPr id="137" name="Text 16"/>
          <p:cNvSpPr/>
          <p:nvPr/>
        </p:nvSpPr>
        <p:spPr>
          <a:xfrm>
            <a:off x="6355080" y="2514600"/>
            <a:ext cx="21942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800"/>
              </a:lnSpc>
              <a:tabLst>
                <a:tab pos="0" algn="l"/>
              </a:tabLst>
            </a:pPr>
            <a:r>
              <a:rPr lang="en-US" sz="1400" b="1" strike="noStrike" spc="-1">
                <a:solidFill>
                  <a:srgbClr val="E0A24A"/>
                </a:solidFill>
                <a:latin typeface="Calibri"/>
                <a:ea typeface="Calibri"/>
              </a:rPr>
              <a:t>Zo veel mogelijk mensen redden</a:t>
            </a:r>
            <a:endParaRPr lang="en-US" sz="1400" b="0" strike="noStrike" spc="-1">
              <a:solidFill>
                <a:srgbClr val="000000"/>
              </a:solidFill>
              <a:latin typeface="Arial"/>
            </a:endParaRPr>
          </a:p>
          <a:p>
            <a:pPr defTabSz="914400">
              <a:lnSpc>
                <a:spcPts val="1800"/>
              </a:lnSpc>
              <a:tabLst>
                <a:tab pos="0" algn="l"/>
              </a:tabLst>
            </a:pPr>
            <a:r>
              <a:rPr lang="en-US" sz="1200" b="0" i="1" strike="noStrike" spc="-1">
                <a:solidFill>
                  <a:srgbClr val="9FB0B5"/>
                </a:solidFill>
                <a:latin typeface="Calibri"/>
                <a:ea typeface="Calibri"/>
              </a:rPr>
              <a:t>botst met</a:t>
            </a:r>
            <a:endParaRPr lang="en-US" sz="1200" b="0" strike="noStrike" spc="-1">
              <a:solidFill>
                <a:srgbClr val="000000"/>
              </a:solidFill>
              <a:latin typeface="Arial"/>
            </a:endParaRPr>
          </a:p>
          <a:p>
            <a:pPr defTabSz="914400">
              <a:lnSpc>
                <a:spcPts val="1800"/>
              </a:lnSpc>
              <a:tabLst>
                <a:tab pos="0" algn="l"/>
              </a:tabLst>
            </a:pPr>
            <a:r>
              <a:rPr lang="en-US" sz="1400" b="1" strike="noStrike" spc="-1">
                <a:solidFill>
                  <a:srgbClr val="E0A24A"/>
                </a:solidFill>
                <a:latin typeface="Calibri"/>
                <a:ea typeface="Calibri"/>
              </a:rPr>
              <a:t>Je mag niemand opofferen</a:t>
            </a:r>
            <a:endParaRPr lang="en-US" sz="1400" b="0" strike="noStrike" spc="-1">
              <a:solidFill>
                <a:srgbClr val="000000"/>
              </a:solidFill>
              <a:latin typeface="Arial"/>
            </a:endParaRPr>
          </a:p>
          <a:p>
            <a:pPr defTabSz="914400">
              <a:lnSpc>
                <a:spcPts val="1800"/>
              </a:lnSpc>
              <a:tabLst>
                <a:tab pos="0" algn="l"/>
              </a:tabLst>
            </a:pPr>
            <a:endParaRPr lang="en-US" sz="1400" b="0" strike="noStrike" spc="-1">
              <a:solidFill>
                <a:srgbClr val="000000"/>
              </a:solidFill>
              <a:latin typeface="Arial"/>
            </a:endParaRPr>
          </a:p>
          <a:p>
            <a:pPr defTabSz="914400">
              <a:lnSpc>
                <a:spcPts val="1800"/>
              </a:lnSpc>
              <a:tabLst>
                <a:tab pos="0" algn="l"/>
              </a:tabLst>
            </a:pPr>
            <a:r>
              <a:rPr lang="en-US" sz="1400" b="0" strike="noStrike" spc="-1">
                <a:solidFill>
                  <a:srgbClr val="E8EEF0"/>
                </a:solidFill>
                <a:latin typeface="Calibri"/>
                <a:ea typeface="Calibri"/>
              </a:rPr>
              <a:t>Net als in de reddingsboot.</a:t>
            </a:r>
            <a:endParaRPr lang="en-US" sz="1400" b="0" strike="noStrike" spc="-1">
              <a:solidFill>
                <a:srgbClr val="000000"/>
              </a:solidFill>
              <a:latin typeface="Arial"/>
            </a:endParaRPr>
          </a:p>
        </p:txBody>
      </p:sp>
      <p:sp>
        <p:nvSpPr>
          <p:cNvPr id="138" name="Text 17"/>
          <p:cNvSpPr/>
          <p:nvPr/>
        </p:nvSpPr>
        <p:spPr>
          <a:xfrm>
            <a:off x="548640" y="411480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1C7293"/>
                </a:solidFill>
                <a:latin typeface="Calibri"/>
                <a:ea typeface="Calibri"/>
              </a:rPr>
              <a:t>Dilemma:  </a:t>
            </a:r>
            <a:r>
              <a:rPr lang="en-US" sz="1600" b="0" strike="noStrike" spc="-1">
                <a:solidFill>
                  <a:srgbClr val="1B2B30"/>
                </a:solidFill>
                <a:latin typeface="Calibri"/>
                <a:ea typeface="Calibri"/>
              </a:rPr>
              <a:t>een keuze waarbij elke optie je iets kost.</a:t>
            </a:r>
            <a:endParaRPr lang="en-US" sz="1600" b="0" strike="noStrike" spc="-1">
              <a:solidFill>
                <a:srgbClr val="000000"/>
              </a:solidFill>
              <a:latin typeface="Arial"/>
            </a:endParaRPr>
          </a:p>
        </p:txBody>
      </p:sp>
      <p:sp>
        <p:nvSpPr>
          <p:cNvPr id="139" name="Text 18"/>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140" name="Text 19"/>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7</a:t>
            </a:r>
            <a:endParaRPr lang="en-US" sz="9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2D38"/>
        </a:solidFill>
        <a:effectLst/>
      </p:bgPr>
    </p:bg>
    <p:spTree>
      <p:nvGrpSpPr>
        <p:cNvPr id="1" name=""/>
        <p:cNvGrpSpPr/>
        <p:nvPr/>
      </p:nvGrpSpPr>
      <p:grpSpPr>
        <a:xfrm>
          <a:off x="0" y="0"/>
          <a:ext cx="0" cy="0"/>
          <a:chOff x="0" y="0"/>
          <a:chExt cx="0" cy="0"/>
        </a:xfrm>
      </p:grpSpPr>
      <p:sp>
        <p:nvSpPr>
          <p:cNvPr id="141" name="Shape 0"/>
          <p:cNvSpPr/>
          <p:nvPr/>
        </p:nvSpPr>
        <p:spPr>
          <a:xfrm>
            <a:off x="0" y="0"/>
            <a:ext cx="9143640" cy="5143320"/>
          </a:xfrm>
          <a:prstGeom prst="rect">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2" name="Shape 1"/>
          <p:cNvSpPr/>
          <p:nvPr/>
        </p:nvSpPr>
        <p:spPr>
          <a:xfrm>
            <a:off x="4137840" y="777240"/>
            <a:ext cx="868320" cy="868320"/>
          </a:xfrm>
          <a:prstGeom prst="ellipse">
            <a:avLst/>
          </a:prstGeom>
          <a:solidFill>
            <a:srgbClr val="C0822F"/>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43" name="Image 0" descr="preencoded.png"/>
          <p:cNvPicPr/>
          <p:nvPr/>
        </p:nvPicPr>
        <p:blipFill>
          <a:blip r:embed="rId3"/>
          <a:stretch/>
        </p:blipFill>
        <p:spPr>
          <a:xfrm>
            <a:off x="4372200" y="1011960"/>
            <a:ext cx="399240" cy="399240"/>
          </a:xfrm>
          <a:prstGeom prst="rect">
            <a:avLst/>
          </a:prstGeom>
          <a:ln w="0">
            <a:noFill/>
          </a:ln>
        </p:spPr>
      </p:pic>
      <p:sp>
        <p:nvSpPr>
          <p:cNvPr id="144" name="Text 2"/>
          <p:cNvSpPr/>
          <p:nvPr/>
        </p:nvSpPr>
        <p:spPr>
          <a:xfrm>
            <a:off x="731520" y="1874520"/>
            <a:ext cx="7680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3600"/>
              </a:lnSpc>
              <a:tabLst>
                <a:tab pos="0" algn="l"/>
              </a:tabLst>
            </a:pPr>
            <a:r>
              <a:rPr lang="en-US" sz="3000" b="1" strike="noStrike" spc="-1">
                <a:solidFill>
                  <a:srgbClr val="FFFFFF"/>
                </a:solidFill>
                <a:latin typeface="Cambria"/>
                <a:ea typeface="Cambria"/>
              </a:rPr>
              <a:t>In een dilemma kies je tussen twee dingen</a:t>
            </a:r>
            <a:endParaRPr lang="en-US" sz="3000" b="0" strike="noStrike" spc="-1">
              <a:solidFill>
                <a:srgbClr val="FFFFFF"/>
              </a:solidFill>
              <a:latin typeface="Arial"/>
            </a:endParaRPr>
          </a:p>
          <a:p>
            <a:pPr algn="ctr" defTabSz="914400">
              <a:lnSpc>
                <a:spcPts val="3600"/>
              </a:lnSpc>
              <a:tabLst>
                <a:tab pos="0" algn="l"/>
              </a:tabLst>
            </a:pPr>
            <a:r>
              <a:rPr lang="en-US" sz="3000" b="1" strike="noStrike" spc="-1">
                <a:solidFill>
                  <a:srgbClr val="FFFFFF"/>
                </a:solidFill>
                <a:latin typeface="Cambria"/>
                <a:ea typeface="Cambria"/>
              </a:rPr>
              <a:t>die je allebei belangrijk vindt.</a:t>
            </a:r>
            <a:endParaRPr lang="en-US" sz="3000" b="0" strike="noStrike" spc="-1">
              <a:solidFill>
                <a:srgbClr val="FFFFFF"/>
              </a:solidFill>
              <a:latin typeface="Arial"/>
            </a:endParaRPr>
          </a:p>
        </p:txBody>
      </p:sp>
      <p:sp>
        <p:nvSpPr>
          <p:cNvPr id="145" name="Text 3"/>
          <p:cNvSpPr/>
          <p:nvPr/>
        </p:nvSpPr>
        <p:spPr>
          <a:xfrm>
            <a:off x="1188720" y="3429000"/>
            <a:ext cx="67662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2401"/>
              </a:lnSpc>
              <a:tabLst>
                <a:tab pos="0" algn="l"/>
              </a:tabLst>
            </a:pPr>
            <a:r>
              <a:rPr lang="en-US" sz="1700" b="0" strike="noStrike" spc="-1">
                <a:solidFill>
                  <a:srgbClr val="E8EEF0"/>
                </a:solidFill>
                <a:latin typeface="Calibri"/>
                <a:ea typeface="Calibri"/>
              </a:rPr>
              <a:t>Die dingen die je belangrijk vindt, noemen we </a:t>
            </a:r>
            <a:r>
              <a:rPr lang="en-US" sz="1700" b="1" strike="noStrike" spc="-1">
                <a:solidFill>
                  <a:srgbClr val="E0A24A"/>
                </a:solidFill>
                <a:latin typeface="Calibri"/>
                <a:ea typeface="Calibri"/>
              </a:rPr>
              <a:t>waarden</a:t>
            </a:r>
            <a:r>
              <a:rPr lang="en-US" sz="1700" b="0" strike="noStrike" spc="-1">
                <a:solidFill>
                  <a:srgbClr val="E8EEF0"/>
                </a:solidFill>
                <a:latin typeface="Calibri"/>
                <a:ea typeface="Calibri"/>
              </a:rPr>
              <a:t>.  De regels over wat je wel of niet mag doen, noemen we </a:t>
            </a:r>
            <a:r>
              <a:rPr lang="en-US" sz="1700" b="1" strike="noStrike" spc="-1">
                <a:solidFill>
                  <a:srgbClr val="7FC7E3"/>
                </a:solidFill>
                <a:latin typeface="Calibri"/>
                <a:ea typeface="Calibri"/>
              </a:rPr>
              <a:t>normen</a:t>
            </a:r>
            <a:r>
              <a:rPr lang="en-US" sz="1700" b="0" strike="noStrike" spc="-1">
                <a:solidFill>
                  <a:srgbClr val="E8EEF0"/>
                </a:solidFill>
                <a:latin typeface="Calibri"/>
                <a:ea typeface="Calibri"/>
              </a:rPr>
              <a:t>.</a:t>
            </a:r>
            <a:endParaRPr lang="en-US" sz="1700" b="0" strike="noStrike" spc="-1">
              <a:solidFill>
                <a:srgbClr val="FFFFFF"/>
              </a:solidFill>
              <a:latin typeface="Arial"/>
            </a:endParaRPr>
          </a:p>
        </p:txBody>
      </p:sp>
      <p:sp>
        <p:nvSpPr>
          <p:cNvPr id="146" name="Text 4"/>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5E8A99"/>
                </a:solidFill>
                <a:latin typeface="Calibri"/>
                <a:ea typeface="Calibri"/>
              </a:rPr>
              <a:t>Levensbeschouwing · Ethiek · Klas 1</a:t>
            </a:r>
            <a:endParaRPr lang="en-US" sz="900" b="0" strike="noStrike" spc="-1">
              <a:solidFill>
                <a:srgbClr val="FFFFFF"/>
              </a:solidFill>
              <a:latin typeface="Arial"/>
            </a:endParaRPr>
          </a:p>
        </p:txBody>
      </p:sp>
      <p:sp>
        <p:nvSpPr>
          <p:cNvPr id="147" name="Text 5"/>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E8A99"/>
                </a:solidFill>
                <a:latin typeface="Calibri"/>
                <a:ea typeface="Calibri"/>
              </a:rPr>
              <a:t>8</a:t>
            </a:r>
            <a:endParaRPr lang="en-US" sz="900" b="0" strike="noStrike" spc="-1">
              <a:solidFill>
                <a:srgbClr val="FFFFFF"/>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 name="Text 0"/>
          <p:cNvSpPr/>
          <p:nvPr/>
        </p:nvSpPr>
        <p:spPr>
          <a:xfrm>
            <a:off x="548640" y="4572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DE KERN</a:t>
            </a:r>
            <a:endParaRPr lang="en-US" sz="1100" b="0" strike="noStrike" spc="-1">
              <a:solidFill>
                <a:srgbClr val="000000"/>
              </a:solidFill>
              <a:latin typeface="Arial"/>
            </a:endParaRPr>
          </a:p>
        </p:txBody>
      </p:sp>
      <p:sp>
        <p:nvSpPr>
          <p:cNvPr id="149" name="Text 1"/>
          <p:cNvSpPr/>
          <p:nvPr/>
        </p:nvSpPr>
        <p:spPr>
          <a:xfrm>
            <a:off x="548640" y="74988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100" b="1" strike="noStrike" spc="-1">
                <a:solidFill>
                  <a:srgbClr val="1B2B30"/>
                </a:solidFill>
                <a:latin typeface="Cambria"/>
                <a:ea typeface="Cambria"/>
              </a:rPr>
              <a:t>Normen en waarden</a:t>
            </a:r>
            <a:endParaRPr lang="en-US" sz="3100" b="0" strike="noStrike" spc="-1">
              <a:solidFill>
                <a:srgbClr val="000000"/>
              </a:solidFill>
              <a:latin typeface="Arial"/>
            </a:endParaRPr>
          </a:p>
        </p:txBody>
      </p:sp>
      <p:sp>
        <p:nvSpPr>
          <p:cNvPr id="150" name="Shape 2"/>
          <p:cNvSpPr/>
          <p:nvPr/>
        </p:nvSpPr>
        <p:spPr>
          <a:xfrm>
            <a:off x="548640" y="1691640"/>
            <a:ext cx="3885840" cy="2148480"/>
          </a:xfrm>
          <a:prstGeom prst="roundRect">
            <a:avLst>
              <a:gd name="adj" fmla="val 4255"/>
            </a:avLst>
          </a:prstGeom>
          <a:solidFill>
            <a:srgbClr val="E7F0F3"/>
          </a:solidFill>
          <a:ln w="0">
            <a:noFill/>
          </a:ln>
          <a:effectLst>
            <a:outerShdw blurRad="101520" dist="25560" dir="5400000" algn="bl" rotWithShape="0">
              <a:srgbClr val="0F2D38">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1" name="Shape 3"/>
          <p:cNvSpPr/>
          <p:nvPr/>
        </p:nvSpPr>
        <p:spPr>
          <a:xfrm>
            <a:off x="859680" y="2002680"/>
            <a:ext cx="639720" cy="639720"/>
          </a:xfrm>
          <a:prstGeom prst="ellipse">
            <a:avLst/>
          </a:prstGeom>
          <a:solidFill>
            <a:srgbClr val="1C7293"/>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52" name="Image 0" descr="preencoded.png"/>
          <p:cNvPicPr/>
          <p:nvPr/>
        </p:nvPicPr>
        <p:blipFill>
          <a:blip r:embed="rId3"/>
          <a:stretch/>
        </p:blipFill>
        <p:spPr>
          <a:xfrm>
            <a:off x="1032480" y="2175480"/>
            <a:ext cx="294120" cy="294120"/>
          </a:xfrm>
          <a:prstGeom prst="rect">
            <a:avLst/>
          </a:prstGeom>
          <a:ln w="0">
            <a:noFill/>
          </a:ln>
        </p:spPr>
      </p:pic>
      <p:sp>
        <p:nvSpPr>
          <p:cNvPr id="153" name="Text 4"/>
          <p:cNvSpPr/>
          <p:nvPr/>
        </p:nvSpPr>
        <p:spPr>
          <a:xfrm>
            <a:off x="1645920" y="200268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1C7293"/>
                </a:solidFill>
                <a:latin typeface="Cambria"/>
                <a:ea typeface="Cambria"/>
              </a:rPr>
              <a:t>Norm</a:t>
            </a:r>
            <a:endParaRPr lang="en-US" sz="2200" b="0" strike="noStrike" spc="-1">
              <a:solidFill>
                <a:srgbClr val="000000"/>
              </a:solidFill>
              <a:latin typeface="Arial"/>
            </a:endParaRPr>
          </a:p>
        </p:txBody>
      </p:sp>
      <p:sp>
        <p:nvSpPr>
          <p:cNvPr id="154" name="Text 5"/>
          <p:cNvSpPr/>
          <p:nvPr/>
        </p:nvSpPr>
        <p:spPr>
          <a:xfrm>
            <a:off x="859680" y="277056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99"/>
              </a:lnSpc>
              <a:tabLst>
                <a:tab pos="0" algn="l"/>
              </a:tabLst>
            </a:pPr>
            <a:r>
              <a:rPr lang="en-US" sz="1500" b="0" strike="noStrike" spc="-1">
                <a:solidFill>
                  <a:srgbClr val="1B2B30"/>
                </a:solidFill>
                <a:latin typeface="Calibri"/>
                <a:ea typeface="Calibri"/>
              </a:rPr>
              <a:t>Een regel over wat je wel of niet moet of mag doen. Het gaat over je gedrag.</a:t>
            </a:r>
            <a:endParaRPr lang="en-US" sz="1500" b="0" strike="noStrike" spc="-1">
              <a:solidFill>
                <a:srgbClr val="000000"/>
              </a:solidFill>
              <a:latin typeface="Arial"/>
            </a:endParaRPr>
          </a:p>
        </p:txBody>
      </p:sp>
      <p:sp>
        <p:nvSpPr>
          <p:cNvPr id="155" name="Text 6"/>
          <p:cNvSpPr/>
          <p:nvPr/>
        </p:nvSpPr>
        <p:spPr>
          <a:xfrm>
            <a:off x="859680" y="3383280"/>
            <a:ext cx="3282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i="1" strike="noStrike" spc="-1">
                <a:solidFill>
                  <a:srgbClr val="5E8A99"/>
                </a:solidFill>
                <a:latin typeface="Calibri"/>
                <a:ea typeface="Calibri"/>
              </a:rPr>
              <a:t>Voorbeeld: je mag niet stelen.</a:t>
            </a:r>
            <a:endParaRPr lang="en-US" sz="1250" b="0" strike="noStrike" spc="-1">
              <a:solidFill>
                <a:srgbClr val="000000"/>
              </a:solidFill>
              <a:latin typeface="Arial"/>
            </a:endParaRPr>
          </a:p>
        </p:txBody>
      </p:sp>
      <p:sp>
        <p:nvSpPr>
          <p:cNvPr id="156" name="Shape 7"/>
          <p:cNvSpPr/>
          <p:nvPr/>
        </p:nvSpPr>
        <p:spPr>
          <a:xfrm>
            <a:off x="4709160" y="1691640"/>
            <a:ext cx="3885840" cy="2148480"/>
          </a:xfrm>
          <a:prstGeom prst="roundRect">
            <a:avLst>
              <a:gd name="adj" fmla="val 4255"/>
            </a:avLst>
          </a:prstGeom>
          <a:solidFill>
            <a:srgbClr val="F6ECDC"/>
          </a:solidFill>
          <a:ln w="0">
            <a:noFill/>
          </a:ln>
          <a:effectLst>
            <a:outerShdw blurRad="101520" dist="25560" dir="5400000" algn="bl" rotWithShape="0">
              <a:srgbClr val="0F2D38">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7" name="Shape 8"/>
          <p:cNvSpPr/>
          <p:nvPr/>
        </p:nvSpPr>
        <p:spPr>
          <a:xfrm>
            <a:off x="5020200" y="2002680"/>
            <a:ext cx="639720" cy="639720"/>
          </a:xfrm>
          <a:prstGeom prst="ellipse">
            <a:avLst/>
          </a:prstGeom>
          <a:solidFill>
            <a:srgbClr val="C0822F"/>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58" name="Image 1" descr="preencoded.png"/>
          <p:cNvPicPr/>
          <p:nvPr/>
        </p:nvPicPr>
        <p:blipFill>
          <a:blip r:embed="rId4"/>
          <a:stretch/>
        </p:blipFill>
        <p:spPr>
          <a:xfrm>
            <a:off x="5193000" y="2175480"/>
            <a:ext cx="294120" cy="294120"/>
          </a:xfrm>
          <a:prstGeom prst="rect">
            <a:avLst/>
          </a:prstGeom>
          <a:ln w="0">
            <a:noFill/>
          </a:ln>
        </p:spPr>
      </p:pic>
      <p:sp>
        <p:nvSpPr>
          <p:cNvPr id="159" name="Text 9"/>
          <p:cNvSpPr/>
          <p:nvPr/>
        </p:nvSpPr>
        <p:spPr>
          <a:xfrm>
            <a:off x="5806440" y="200268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C0822F"/>
                </a:solidFill>
                <a:latin typeface="Cambria"/>
                <a:ea typeface="Cambria"/>
              </a:rPr>
              <a:t>Waarde</a:t>
            </a:r>
            <a:endParaRPr lang="en-US" sz="2200" b="0" strike="noStrike" spc="-1">
              <a:solidFill>
                <a:srgbClr val="000000"/>
              </a:solidFill>
              <a:latin typeface="Arial"/>
            </a:endParaRPr>
          </a:p>
        </p:txBody>
      </p:sp>
      <p:sp>
        <p:nvSpPr>
          <p:cNvPr id="160" name="Text 10"/>
          <p:cNvSpPr/>
          <p:nvPr/>
        </p:nvSpPr>
        <p:spPr>
          <a:xfrm>
            <a:off x="5020200" y="277056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99"/>
              </a:lnSpc>
              <a:tabLst>
                <a:tab pos="0" algn="l"/>
              </a:tabLst>
            </a:pPr>
            <a:r>
              <a:rPr lang="en-US" sz="1500" b="0" strike="noStrike" spc="-1">
                <a:solidFill>
                  <a:srgbClr val="1B2B30"/>
                </a:solidFill>
                <a:latin typeface="Calibri"/>
                <a:ea typeface="Calibri"/>
              </a:rPr>
              <a:t>De achterliggende reden waarom je iets wel of niet doet. Het gaat over wat je belangrijk vindt.</a:t>
            </a:r>
            <a:endParaRPr lang="en-US" sz="1500" b="0" strike="noStrike" spc="-1">
              <a:solidFill>
                <a:srgbClr val="000000"/>
              </a:solidFill>
              <a:latin typeface="Arial"/>
            </a:endParaRPr>
          </a:p>
        </p:txBody>
      </p:sp>
      <p:sp>
        <p:nvSpPr>
          <p:cNvPr id="161" name="Text 11"/>
          <p:cNvSpPr/>
          <p:nvPr/>
        </p:nvSpPr>
        <p:spPr>
          <a:xfrm>
            <a:off x="5020200" y="3383280"/>
            <a:ext cx="3282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i="1" strike="noStrike" spc="-1">
                <a:solidFill>
                  <a:srgbClr val="5E8A99"/>
                </a:solidFill>
                <a:latin typeface="Calibri"/>
                <a:ea typeface="Calibri"/>
              </a:rPr>
              <a:t>Voorbeeld: eerlijkheid.</a:t>
            </a:r>
            <a:endParaRPr lang="en-US" sz="1250" b="0" strike="noStrike" spc="-1">
              <a:solidFill>
                <a:srgbClr val="000000"/>
              </a:solidFill>
              <a:latin typeface="Arial"/>
            </a:endParaRPr>
          </a:p>
        </p:txBody>
      </p:sp>
      <p:sp>
        <p:nvSpPr>
          <p:cNvPr id="162" name="Shape 12"/>
          <p:cNvSpPr/>
          <p:nvPr/>
        </p:nvSpPr>
        <p:spPr>
          <a:xfrm>
            <a:off x="548640" y="4114800"/>
            <a:ext cx="8046360" cy="566640"/>
          </a:xfrm>
          <a:prstGeom prst="roundRect">
            <a:avLst>
              <a:gd name="adj" fmla="val 16129"/>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3" name="Text 13"/>
          <p:cNvSpPr/>
          <p:nvPr/>
        </p:nvSpPr>
        <p:spPr>
          <a:xfrm>
            <a:off x="548640" y="4114800"/>
            <a:ext cx="8046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E8EEF0"/>
                </a:solidFill>
                <a:latin typeface="Calibri"/>
                <a:ea typeface="Calibri"/>
              </a:rPr>
              <a:t>Je moet </a:t>
            </a:r>
            <a:r>
              <a:rPr lang="en-US" sz="1600" b="1" strike="noStrike" spc="-1">
                <a:solidFill>
                  <a:srgbClr val="7FC7E3"/>
                </a:solidFill>
                <a:latin typeface="Calibri"/>
                <a:ea typeface="Calibri"/>
              </a:rPr>
              <a:t>… doen </a:t>
            </a:r>
            <a:r>
              <a:rPr lang="en-US" sz="1600" b="0" strike="noStrike" spc="-1">
                <a:solidFill>
                  <a:srgbClr val="7FC7E3"/>
                </a:solidFill>
                <a:latin typeface="Calibri"/>
                <a:ea typeface="Calibri"/>
              </a:rPr>
              <a:t>(norm)</a:t>
            </a:r>
            <a:r>
              <a:rPr lang="en-US" sz="1600" b="0" strike="noStrike" spc="-1">
                <a:solidFill>
                  <a:srgbClr val="E8EEF0"/>
                </a:solidFill>
                <a:latin typeface="Calibri"/>
                <a:ea typeface="Calibri"/>
              </a:rPr>
              <a:t>, want ik vind </a:t>
            </a:r>
            <a:r>
              <a:rPr lang="en-US" sz="1600" b="1" strike="noStrike" spc="-1">
                <a:solidFill>
                  <a:srgbClr val="E0A24A"/>
                </a:solidFill>
                <a:latin typeface="Calibri"/>
                <a:ea typeface="Calibri"/>
              </a:rPr>
              <a:t>… belangrijk </a:t>
            </a:r>
            <a:r>
              <a:rPr lang="en-US" sz="1600" b="0" strike="noStrike" spc="-1">
                <a:solidFill>
                  <a:srgbClr val="E0A24A"/>
                </a:solidFill>
                <a:latin typeface="Calibri"/>
                <a:ea typeface="Calibri"/>
              </a:rPr>
              <a:t>(waarde)</a:t>
            </a:r>
            <a:r>
              <a:rPr lang="en-US" sz="1600" b="0" strike="noStrike" spc="-1">
                <a:solidFill>
                  <a:srgbClr val="E8EEF0"/>
                </a:solidFill>
                <a:latin typeface="Calibri"/>
                <a:ea typeface="Calibri"/>
              </a:rPr>
              <a:t>.</a:t>
            </a:r>
            <a:endParaRPr lang="en-US" sz="1600" b="0" strike="noStrike" spc="-1">
              <a:solidFill>
                <a:srgbClr val="000000"/>
              </a:solidFill>
              <a:latin typeface="Arial"/>
            </a:endParaRPr>
          </a:p>
        </p:txBody>
      </p:sp>
      <p:sp>
        <p:nvSpPr>
          <p:cNvPr id="164" name="Text 14"/>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165" name="Text 15"/>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9</a:t>
            </a:r>
            <a:endParaRPr lang="en-US" sz="9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Text 0"/>
          <p:cNvSpPr/>
          <p:nvPr/>
        </p:nvSpPr>
        <p:spPr>
          <a:xfrm>
            <a:off x="548640" y="4572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TOEPASSEN  ·  TERUG NAAR DE REDDINGSBOOT</a:t>
            </a:r>
            <a:endParaRPr lang="en-US" sz="1100" b="0" strike="noStrike" spc="-1">
              <a:solidFill>
                <a:srgbClr val="000000"/>
              </a:solidFill>
              <a:latin typeface="Arial"/>
            </a:endParaRPr>
          </a:p>
        </p:txBody>
      </p:sp>
      <p:sp>
        <p:nvSpPr>
          <p:cNvPr id="167" name="Text 1"/>
          <p:cNvSpPr/>
          <p:nvPr/>
        </p:nvSpPr>
        <p:spPr>
          <a:xfrm>
            <a:off x="548640" y="74988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strike="noStrike" spc="-1">
                <a:solidFill>
                  <a:srgbClr val="1B2B30"/>
                </a:solidFill>
                <a:latin typeface="Cambria"/>
                <a:ea typeface="Cambria"/>
              </a:rPr>
              <a:t>Welke norm en welke waarden botsten?</a:t>
            </a:r>
            <a:endParaRPr lang="en-US" sz="2900" b="0" strike="noStrike" spc="-1">
              <a:solidFill>
                <a:srgbClr val="000000"/>
              </a:solidFill>
              <a:latin typeface="Arial"/>
            </a:endParaRPr>
          </a:p>
        </p:txBody>
      </p:sp>
      <p:sp>
        <p:nvSpPr>
          <p:cNvPr id="168" name="Shape 2"/>
          <p:cNvSpPr/>
          <p:nvPr/>
        </p:nvSpPr>
        <p:spPr>
          <a:xfrm>
            <a:off x="548640" y="1691640"/>
            <a:ext cx="3885840" cy="1828440"/>
          </a:xfrm>
          <a:prstGeom prst="roundRect">
            <a:avLst>
              <a:gd name="adj" fmla="val 5000"/>
            </a:avLst>
          </a:prstGeom>
          <a:solidFill>
            <a:srgbClr val="E7F0F3"/>
          </a:solidFill>
          <a:ln w="0">
            <a:noFill/>
          </a:ln>
          <a:effectLst>
            <a:outerShdw blurRad="101520" dist="25560" dir="5400000" algn="bl" rotWithShape="0">
              <a:srgbClr val="0F2D38">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9" name="Text 3"/>
          <p:cNvSpPr/>
          <p:nvPr/>
        </p:nvSpPr>
        <p:spPr>
          <a:xfrm>
            <a:off x="822960" y="192024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strike="noStrike" spc="-1">
                <a:solidFill>
                  <a:srgbClr val="1C7293"/>
                </a:solidFill>
                <a:latin typeface="Cambria"/>
                <a:ea typeface="Cambria"/>
              </a:rPr>
              <a:t>Welke norm werd gebroken?</a:t>
            </a:r>
            <a:endParaRPr lang="en-US" sz="1900" b="0" strike="noStrike" spc="-1">
              <a:solidFill>
                <a:srgbClr val="000000"/>
              </a:solidFill>
              <a:latin typeface="Arial"/>
            </a:endParaRPr>
          </a:p>
        </p:txBody>
      </p:sp>
      <p:sp>
        <p:nvSpPr>
          <p:cNvPr id="170" name="Text 4"/>
          <p:cNvSpPr/>
          <p:nvPr/>
        </p:nvSpPr>
        <p:spPr>
          <a:xfrm>
            <a:off x="822960" y="2606040"/>
            <a:ext cx="3382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99"/>
              </a:lnSpc>
              <a:tabLst>
                <a:tab pos="0" algn="l"/>
              </a:tabLst>
            </a:pPr>
            <a:r>
              <a:rPr lang="en-US" sz="1400" b="0" strike="noStrike" spc="-1">
                <a:solidFill>
                  <a:srgbClr val="1B2B30"/>
                </a:solidFill>
                <a:latin typeface="Calibri"/>
                <a:ea typeface="Calibri"/>
              </a:rPr>
              <a:t>Schrijf in één zin op welke regel hier werd overtreden.</a:t>
            </a:r>
            <a:endParaRPr lang="en-US" sz="1400" b="0" strike="noStrike" spc="-1">
              <a:solidFill>
                <a:srgbClr val="000000"/>
              </a:solidFill>
              <a:latin typeface="Arial"/>
            </a:endParaRPr>
          </a:p>
        </p:txBody>
      </p:sp>
      <p:sp>
        <p:nvSpPr>
          <p:cNvPr id="171" name="Shape 5"/>
          <p:cNvSpPr/>
          <p:nvPr/>
        </p:nvSpPr>
        <p:spPr>
          <a:xfrm>
            <a:off x="4709160" y="1691640"/>
            <a:ext cx="3885840" cy="1828440"/>
          </a:xfrm>
          <a:prstGeom prst="roundRect">
            <a:avLst>
              <a:gd name="adj" fmla="val 5000"/>
            </a:avLst>
          </a:prstGeom>
          <a:solidFill>
            <a:srgbClr val="F6ECDC"/>
          </a:solidFill>
          <a:ln w="0">
            <a:noFill/>
          </a:ln>
          <a:effectLst>
            <a:outerShdw blurRad="101520" dist="25560" dir="5400000" algn="bl" rotWithShape="0">
              <a:srgbClr val="0F2D38">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2" name="Text 6"/>
          <p:cNvSpPr/>
          <p:nvPr/>
        </p:nvSpPr>
        <p:spPr>
          <a:xfrm>
            <a:off x="4983480" y="192024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strike="noStrike" spc="-1">
                <a:solidFill>
                  <a:srgbClr val="C0822F"/>
                </a:solidFill>
                <a:latin typeface="Cambria"/>
                <a:ea typeface="Cambria"/>
              </a:rPr>
              <a:t>Welke twee waarden botsten?</a:t>
            </a:r>
            <a:endParaRPr lang="en-US" sz="1900" b="0" strike="noStrike" spc="-1">
              <a:solidFill>
                <a:srgbClr val="000000"/>
              </a:solidFill>
              <a:latin typeface="Arial"/>
            </a:endParaRPr>
          </a:p>
        </p:txBody>
      </p:sp>
      <p:sp>
        <p:nvSpPr>
          <p:cNvPr id="173" name="Text 7"/>
          <p:cNvSpPr/>
          <p:nvPr/>
        </p:nvSpPr>
        <p:spPr>
          <a:xfrm>
            <a:off x="4983480" y="2606040"/>
            <a:ext cx="3382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99"/>
              </a:lnSpc>
              <a:tabLst>
                <a:tab pos="0" algn="l"/>
              </a:tabLst>
            </a:pPr>
            <a:r>
              <a:rPr lang="en-US" sz="1400" b="0" strike="noStrike" spc="-1">
                <a:solidFill>
                  <a:srgbClr val="1B2B30"/>
                </a:solidFill>
                <a:latin typeface="Calibri"/>
                <a:ea typeface="Calibri"/>
              </a:rPr>
              <a:t>Noem de twee dingen die de mannen allebei belangrijk vonden.</a:t>
            </a:r>
            <a:endParaRPr lang="en-US" sz="1400" b="0" strike="noStrike" spc="-1">
              <a:solidFill>
                <a:srgbClr val="000000"/>
              </a:solidFill>
              <a:latin typeface="Arial"/>
            </a:endParaRPr>
          </a:p>
        </p:txBody>
      </p:sp>
      <p:sp>
        <p:nvSpPr>
          <p:cNvPr id="174" name="Shape 8"/>
          <p:cNvSpPr/>
          <p:nvPr/>
        </p:nvSpPr>
        <p:spPr>
          <a:xfrm>
            <a:off x="548640" y="3703320"/>
            <a:ext cx="5988960" cy="868320"/>
          </a:xfrm>
          <a:prstGeom prst="roundRect">
            <a:avLst>
              <a:gd name="adj" fmla="val 10526"/>
            </a:avLst>
          </a:prstGeom>
          <a:solidFill>
            <a:srgbClr val="EEF3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5" name="Text 9"/>
          <p:cNvSpPr/>
          <p:nvPr/>
        </p:nvSpPr>
        <p:spPr>
          <a:xfrm>
            <a:off x="777240" y="3703320"/>
            <a:ext cx="55774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99"/>
              </a:lnSpc>
              <a:tabLst>
                <a:tab pos="0" algn="l"/>
              </a:tabLst>
            </a:pPr>
            <a:r>
              <a:rPr lang="en-US" sz="1450" b="0" strike="noStrike" spc="-1">
                <a:solidFill>
                  <a:srgbClr val="1B2B30"/>
                </a:solidFill>
                <a:latin typeface="Calibri"/>
                <a:ea typeface="Calibri"/>
              </a:rPr>
              <a:t>Vul daarna de zin in voor de man die weigerde: “Je mag … niet doen, want ik vind … belangrijk.”</a:t>
            </a:r>
            <a:endParaRPr lang="en-US" sz="1450" b="0" strike="noStrike" spc="-1">
              <a:solidFill>
                <a:srgbClr val="000000"/>
              </a:solidFill>
              <a:latin typeface="Arial"/>
            </a:endParaRPr>
          </a:p>
        </p:txBody>
      </p:sp>
      <p:sp>
        <p:nvSpPr>
          <p:cNvPr id="176" name="Shape 10"/>
          <p:cNvSpPr/>
          <p:nvPr/>
        </p:nvSpPr>
        <p:spPr>
          <a:xfrm>
            <a:off x="6720840" y="3931920"/>
            <a:ext cx="1874160" cy="383760"/>
          </a:xfrm>
          <a:prstGeom prst="roundRect">
            <a:avLst>
              <a:gd name="adj" fmla="val 50000"/>
            </a:avLst>
          </a:prstGeom>
          <a:solidFill>
            <a:srgbClr val="C0822F"/>
          </a:solidFill>
          <a:ln w="0">
            <a:noFill/>
          </a:ln>
          <a:effectLst>
            <a:outerShdw blurRad="6336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77" name="Image 0" descr="preencoded.png"/>
          <p:cNvPicPr/>
          <p:nvPr/>
        </p:nvPicPr>
        <p:blipFill>
          <a:blip r:embed="rId3"/>
          <a:stretch/>
        </p:blipFill>
        <p:spPr>
          <a:xfrm>
            <a:off x="6867000" y="4032360"/>
            <a:ext cx="182520" cy="182520"/>
          </a:xfrm>
          <a:prstGeom prst="rect">
            <a:avLst/>
          </a:prstGeom>
          <a:ln w="0">
            <a:noFill/>
          </a:ln>
        </p:spPr>
      </p:pic>
      <p:sp>
        <p:nvSpPr>
          <p:cNvPr id="178" name="Text 11"/>
          <p:cNvSpPr/>
          <p:nvPr/>
        </p:nvSpPr>
        <p:spPr>
          <a:xfrm>
            <a:off x="7104960" y="3931920"/>
            <a:ext cx="14169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FFFFFF"/>
                </a:solidFill>
                <a:latin typeface="Calibri"/>
                <a:ea typeface="Calibri"/>
              </a:rPr>
              <a:t>Schrijfmoment</a:t>
            </a:r>
            <a:endParaRPr lang="en-US" sz="1250" b="0" strike="noStrike" spc="-1">
              <a:solidFill>
                <a:srgbClr val="000000"/>
              </a:solidFill>
              <a:latin typeface="Arial"/>
            </a:endParaRPr>
          </a:p>
        </p:txBody>
      </p:sp>
      <p:sp>
        <p:nvSpPr>
          <p:cNvPr id="179" name="Text 12"/>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180" name="Text 13"/>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10</a:t>
            </a:r>
            <a:endParaRPr lang="en-US" sz="9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 name="Text 0"/>
          <p:cNvSpPr/>
          <p:nvPr/>
        </p:nvSpPr>
        <p:spPr>
          <a:xfrm>
            <a:off x="548640" y="4114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1C7293"/>
                </a:solidFill>
                <a:latin typeface="Calibri"/>
                <a:ea typeface="Calibri"/>
              </a:rPr>
              <a:t>WERKVORM</a:t>
            </a:r>
            <a:endParaRPr lang="en-US" sz="1100" b="0" strike="noStrike" spc="-1">
              <a:solidFill>
                <a:srgbClr val="000000"/>
              </a:solidFill>
              <a:latin typeface="Arial"/>
            </a:endParaRPr>
          </a:p>
        </p:txBody>
      </p:sp>
      <p:sp>
        <p:nvSpPr>
          <p:cNvPr id="182" name="Text 1"/>
          <p:cNvSpPr/>
          <p:nvPr/>
        </p:nvSpPr>
        <p:spPr>
          <a:xfrm>
            <a:off x="548640" y="676800"/>
            <a:ext cx="8229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strike="noStrike" spc="-1">
                <a:solidFill>
                  <a:srgbClr val="1B2B30"/>
                </a:solidFill>
                <a:latin typeface="Cambria"/>
                <a:ea typeface="Cambria"/>
              </a:rPr>
              <a:t>Verbind elke waarde met de juiste norm</a:t>
            </a:r>
            <a:endParaRPr lang="en-US" sz="2700" b="0" strike="noStrike" spc="-1">
              <a:solidFill>
                <a:srgbClr val="000000"/>
              </a:solidFill>
              <a:latin typeface="Arial"/>
            </a:endParaRPr>
          </a:p>
        </p:txBody>
      </p:sp>
      <p:sp>
        <p:nvSpPr>
          <p:cNvPr id="183" name="Text 2"/>
          <p:cNvSpPr/>
          <p:nvPr/>
        </p:nvSpPr>
        <p:spPr>
          <a:xfrm>
            <a:off x="548640" y="1225440"/>
            <a:ext cx="8229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strike="noStrike" spc="-1">
                <a:solidFill>
                  <a:srgbClr val="5E8A99"/>
                </a:solidFill>
                <a:latin typeface="Calibri"/>
                <a:ea typeface="Calibri"/>
              </a:rPr>
              <a:t>Schrijf in je schrift achter elke letter het juiste nummer.</a:t>
            </a:r>
            <a:endParaRPr lang="en-US" sz="1350" b="0" strike="noStrike" spc="-1">
              <a:solidFill>
                <a:srgbClr val="000000"/>
              </a:solidFill>
              <a:latin typeface="Arial"/>
            </a:endParaRPr>
          </a:p>
        </p:txBody>
      </p:sp>
      <p:sp>
        <p:nvSpPr>
          <p:cNvPr id="184" name="Shape 3"/>
          <p:cNvSpPr/>
          <p:nvPr/>
        </p:nvSpPr>
        <p:spPr>
          <a:xfrm>
            <a:off x="548640" y="1572840"/>
            <a:ext cx="3885840" cy="383760"/>
          </a:xfrm>
          <a:prstGeom prst="roundRect">
            <a:avLst>
              <a:gd name="adj" fmla="val 19048"/>
            </a:avLst>
          </a:prstGeom>
          <a:solidFill>
            <a:srgbClr val="C082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5" name="Text 4"/>
          <p:cNvSpPr/>
          <p:nvPr/>
        </p:nvSpPr>
        <p:spPr>
          <a:xfrm>
            <a:off x="548640" y="1572840"/>
            <a:ext cx="3885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99">
                <a:solidFill>
                  <a:srgbClr val="FFFFFF"/>
                </a:solidFill>
                <a:latin typeface="Calibri"/>
                <a:ea typeface="Calibri"/>
              </a:rPr>
              <a:t>WAARDE</a:t>
            </a:r>
            <a:endParaRPr lang="en-US" sz="1300" b="0" strike="noStrike" spc="-1">
              <a:solidFill>
                <a:srgbClr val="000000"/>
              </a:solidFill>
              <a:latin typeface="Arial"/>
            </a:endParaRPr>
          </a:p>
        </p:txBody>
      </p:sp>
      <p:sp>
        <p:nvSpPr>
          <p:cNvPr id="186" name="Shape 5"/>
          <p:cNvSpPr/>
          <p:nvPr/>
        </p:nvSpPr>
        <p:spPr>
          <a:xfrm>
            <a:off x="4709160" y="1572840"/>
            <a:ext cx="3885840" cy="383760"/>
          </a:xfrm>
          <a:prstGeom prst="roundRect">
            <a:avLst>
              <a:gd name="adj" fmla="val 19048"/>
            </a:avLst>
          </a:prstGeom>
          <a:solidFill>
            <a:srgbClr val="1C729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7" name="Text 6"/>
          <p:cNvSpPr/>
          <p:nvPr/>
        </p:nvSpPr>
        <p:spPr>
          <a:xfrm>
            <a:off x="4709160" y="1572840"/>
            <a:ext cx="3885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99">
                <a:solidFill>
                  <a:srgbClr val="FFFFFF"/>
                </a:solidFill>
                <a:latin typeface="Calibri"/>
                <a:ea typeface="Calibri"/>
              </a:rPr>
              <a:t>NORM</a:t>
            </a:r>
            <a:endParaRPr lang="en-US" sz="1300" b="0" strike="noStrike" spc="-1">
              <a:solidFill>
                <a:srgbClr val="000000"/>
              </a:solidFill>
              <a:latin typeface="Arial"/>
            </a:endParaRPr>
          </a:p>
        </p:txBody>
      </p:sp>
      <p:sp>
        <p:nvSpPr>
          <p:cNvPr id="188" name="Shape 7"/>
          <p:cNvSpPr/>
          <p:nvPr/>
        </p:nvSpPr>
        <p:spPr>
          <a:xfrm>
            <a:off x="548640" y="2066400"/>
            <a:ext cx="3885840" cy="370080"/>
          </a:xfrm>
          <a:prstGeom prst="roundRect">
            <a:avLst>
              <a:gd name="adj" fmla="val 14815"/>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9" name="Text 8"/>
          <p:cNvSpPr/>
          <p:nvPr/>
        </p:nvSpPr>
        <p:spPr>
          <a:xfrm>
            <a:off x="713160" y="206640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C0822F"/>
                </a:solidFill>
                <a:latin typeface="Calibri"/>
                <a:ea typeface="Calibri"/>
              </a:rPr>
              <a:t>a)  </a:t>
            </a:r>
            <a:r>
              <a:rPr lang="en-US" sz="1350" b="0" strike="noStrike" spc="-1">
                <a:solidFill>
                  <a:srgbClr val="1B2B30"/>
                </a:solidFill>
                <a:latin typeface="Calibri"/>
                <a:ea typeface="Calibri"/>
              </a:rPr>
              <a:t>Rijkdom</a:t>
            </a:r>
            <a:endParaRPr lang="en-US" sz="1350" b="0" strike="noStrike" spc="-1">
              <a:solidFill>
                <a:srgbClr val="000000"/>
              </a:solidFill>
              <a:latin typeface="Arial"/>
            </a:endParaRPr>
          </a:p>
        </p:txBody>
      </p:sp>
      <p:sp>
        <p:nvSpPr>
          <p:cNvPr id="190" name="Shape 9"/>
          <p:cNvSpPr/>
          <p:nvPr/>
        </p:nvSpPr>
        <p:spPr>
          <a:xfrm>
            <a:off x="4709160" y="2066400"/>
            <a:ext cx="3885840" cy="370080"/>
          </a:xfrm>
          <a:prstGeom prst="roundRect">
            <a:avLst>
              <a:gd name="adj" fmla="val 14815"/>
            </a:avLst>
          </a:prstGeom>
          <a:solidFill>
            <a:srgbClr val="E7F0F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1" name="Text 10"/>
          <p:cNvSpPr/>
          <p:nvPr/>
        </p:nvSpPr>
        <p:spPr>
          <a:xfrm>
            <a:off x="4873680" y="206640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C7293"/>
                </a:solidFill>
                <a:latin typeface="Calibri"/>
                <a:ea typeface="Calibri"/>
              </a:rPr>
              <a:t>1)  </a:t>
            </a:r>
            <a:r>
              <a:rPr lang="en-US" sz="1300" b="0" strike="noStrike" spc="-1">
                <a:solidFill>
                  <a:srgbClr val="1B2B30"/>
                </a:solidFill>
                <a:latin typeface="Calibri"/>
                <a:ea typeface="Calibri"/>
              </a:rPr>
              <a:t>Afwassen met je moeder</a:t>
            </a:r>
            <a:endParaRPr lang="en-US" sz="1300" b="0" strike="noStrike" spc="-1">
              <a:solidFill>
                <a:srgbClr val="000000"/>
              </a:solidFill>
              <a:latin typeface="Arial"/>
            </a:endParaRPr>
          </a:p>
        </p:txBody>
      </p:sp>
      <p:sp>
        <p:nvSpPr>
          <p:cNvPr id="192" name="Shape 11"/>
          <p:cNvSpPr/>
          <p:nvPr/>
        </p:nvSpPr>
        <p:spPr>
          <a:xfrm>
            <a:off x="548640" y="2455200"/>
            <a:ext cx="3885840" cy="370080"/>
          </a:xfrm>
          <a:prstGeom prst="roundRect">
            <a:avLst>
              <a:gd name="adj" fmla="val 14815"/>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3" name="Text 12"/>
          <p:cNvSpPr/>
          <p:nvPr/>
        </p:nvSpPr>
        <p:spPr>
          <a:xfrm>
            <a:off x="713160" y="245520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C0822F"/>
                </a:solidFill>
                <a:latin typeface="Calibri"/>
                <a:ea typeface="Calibri"/>
              </a:rPr>
              <a:t>b)  </a:t>
            </a:r>
            <a:r>
              <a:rPr lang="en-US" sz="1350" b="0" strike="noStrike" spc="-1">
                <a:solidFill>
                  <a:srgbClr val="1B2B30"/>
                </a:solidFill>
                <a:latin typeface="Calibri"/>
                <a:ea typeface="Calibri"/>
              </a:rPr>
              <a:t>Gelijkheid</a:t>
            </a:r>
            <a:endParaRPr lang="en-US" sz="1350" b="0" strike="noStrike" spc="-1">
              <a:solidFill>
                <a:srgbClr val="000000"/>
              </a:solidFill>
              <a:latin typeface="Arial"/>
            </a:endParaRPr>
          </a:p>
        </p:txBody>
      </p:sp>
      <p:sp>
        <p:nvSpPr>
          <p:cNvPr id="194" name="Shape 13"/>
          <p:cNvSpPr/>
          <p:nvPr/>
        </p:nvSpPr>
        <p:spPr>
          <a:xfrm>
            <a:off x="4709160" y="2455200"/>
            <a:ext cx="3885840" cy="370080"/>
          </a:xfrm>
          <a:prstGeom prst="roundRect">
            <a:avLst>
              <a:gd name="adj" fmla="val 14815"/>
            </a:avLst>
          </a:prstGeom>
          <a:solidFill>
            <a:srgbClr val="E7F0F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5" name="Text 14"/>
          <p:cNvSpPr/>
          <p:nvPr/>
        </p:nvSpPr>
        <p:spPr>
          <a:xfrm>
            <a:off x="4873680" y="245520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C7293"/>
                </a:solidFill>
                <a:latin typeface="Calibri"/>
                <a:ea typeface="Calibri"/>
              </a:rPr>
              <a:t>2)  </a:t>
            </a:r>
            <a:r>
              <a:rPr lang="en-US" sz="1300" b="0" strike="noStrike" spc="-1">
                <a:solidFill>
                  <a:srgbClr val="1B2B30"/>
                </a:solidFill>
                <a:latin typeface="Calibri"/>
                <a:ea typeface="Calibri"/>
              </a:rPr>
              <a:t>Je huiswerk elke dag maken</a:t>
            </a:r>
            <a:endParaRPr lang="en-US" sz="1300" b="0" strike="noStrike" spc="-1">
              <a:solidFill>
                <a:srgbClr val="000000"/>
              </a:solidFill>
              <a:latin typeface="Arial"/>
            </a:endParaRPr>
          </a:p>
        </p:txBody>
      </p:sp>
      <p:sp>
        <p:nvSpPr>
          <p:cNvPr id="196" name="Shape 15"/>
          <p:cNvSpPr/>
          <p:nvPr/>
        </p:nvSpPr>
        <p:spPr>
          <a:xfrm>
            <a:off x="548640" y="2843640"/>
            <a:ext cx="3885840" cy="370080"/>
          </a:xfrm>
          <a:prstGeom prst="roundRect">
            <a:avLst>
              <a:gd name="adj" fmla="val 14815"/>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7" name="Text 16"/>
          <p:cNvSpPr/>
          <p:nvPr/>
        </p:nvSpPr>
        <p:spPr>
          <a:xfrm>
            <a:off x="713160" y="284364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C0822F"/>
                </a:solidFill>
                <a:latin typeface="Calibri"/>
                <a:ea typeface="Calibri"/>
              </a:rPr>
              <a:t>c)  </a:t>
            </a:r>
            <a:r>
              <a:rPr lang="en-US" sz="1350" b="0" strike="noStrike" spc="-1">
                <a:solidFill>
                  <a:srgbClr val="1B2B30"/>
                </a:solidFill>
                <a:latin typeface="Calibri"/>
                <a:ea typeface="Calibri"/>
              </a:rPr>
              <a:t>Eerlijkheid</a:t>
            </a:r>
            <a:endParaRPr lang="en-US" sz="1350" b="0" strike="noStrike" spc="-1">
              <a:solidFill>
                <a:srgbClr val="000000"/>
              </a:solidFill>
              <a:latin typeface="Arial"/>
            </a:endParaRPr>
          </a:p>
        </p:txBody>
      </p:sp>
      <p:sp>
        <p:nvSpPr>
          <p:cNvPr id="198" name="Shape 17"/>
          <p:cNvSpPr/>
          <p:nvPr/>
        </p:nvSpPr>
        <p:spPr>
          <a:xfrm>
            <a:off x="4709160" y="2843640"/>
            <a:ext cx="3885840" cy="370080"/>
          </a:xfrm>
          <a:prstGeom prst="roundRect">
            <a:avLst>
              <a:gd name="adj" fmla="val 14815"/>
            </a:avLst>
          </a:prstGeom>
          <a:solidFill>
            <a:srgbClr val="E7F0F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9" name="Text 18"/>
          <p:cNvSpPr/>
          <p:nvPr/>
        </p:nvSpPr>
        <p:spPr>
          <a:xfrm>
            <a:off x="4873680" y="284364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C7293"/>
                </a:solidFill>
                <a:latin typeface="Calibri"/>
                <a:ea typeface="Calibri"/>
              </a:rPr>
              <a:t>3)  </a:t>
            </a:r>
            <a:r>
              <a:rPr lang="en-US" sz="1300" b="0" strike="noStrike" spc="-1">
                <a:solidFill>
                  <a:srgbClr val="1B2B30"/>
                </a:solidFill>
                <a:latin typeface="Calibri"/>
                <a:ea typeface="Calibri"/>
              </a:rPr>
              <a:t>Niet te veel over jezelf praten</a:t>
            </a:r>
            <a:endParaRPr lang="en-US" sz="1300" b="0" strike="noStrike" spc="-1">
              <a:solidFill>
                <a:srgbClr val="000000"/>
              </a:solidFill>
              <a:latin typeface="Arial"/>
            </a:endParaRPr>
          </a:p>
        </p:txBody>
      </p:sp>
      <p:sp>
        <p:nvSpPr>
          <p:cNvPr id="200" name="Shape 19"/>
          <p:cNvSpPr/>
          <p:nvPr/>
        </p:nvSpPr>
        <p:spPr>
          <a:xfrm>
            <a:off x="548640" y="3232440"/>
            <a:ext cx="3885840" cy="370080"/>
          </a:xfrm>
          <a:prstGeom prst="roundRect">
            <a:avLst>
              <a:gd name="adj" fmla="val 14815"/>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1" name="Text 20"/>
          <p:cNvSpPr/>
          <p:nvPr/>
        </p:nvSpPr>
        <p:spPr>
          <a:xfrm>
            <a:off x="713160" y="323244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C0822F"/>
                </a:solidFill>
                <a:latin typeface="Calibri"/>
                <a:ea typeface="Calibri"/>
              </a:rPr>
              <a:t>d)  </a:t>
            </a:r>
            <a:r>
              <a:rPr lang="en-US" sz="1350" b="0" strike="noStrike" spc="-1">
                <a:solidFill>
                  <a:srgbClr val="1B2B30"/>
                </a:solidFill>
                <a:latin typeface="Calibri"/>
                <a:ea typeface="Calibri"/>
              </a:rPr>
              <a:t>Hoog opgeleid zijn</a:t>
            </a:r>
            <a:endParaRPr lang="en-US" sz="1350" b="0" strike="noStrike" spc="-1">
              <a:solidFill>
                <a:srgbClr val="000000"/>
              </a:solidFill>
              <a:latin typeface="Arial"/>
            </a:endParaRPr>
          </a:p>
        </p:txBody>
      </p:sp>
      <p:sp>
        <p:nvSpPr>
          <p:cNvPr id="202" name="Shape 21"/>
          <p:cNvSpPr/>
          <p:nvPr/>
        </p:nvSpPr>
        <p:spPr>
          <a:xfrm>
            <a:off x="4709160" y="3232440"/>
            <a:ext cx="3885840" cy="370080"/>
          </a:xfrm>
          <a:prstGeom prst="roundRect">
            <a:avLst>
              <a:gd name="adj" fmla="val 14815"/>
            </a:avLst>
          </a:prstGeom>
          <a:solidFill>
            <a:srgbClr val="E7F0F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3" name="Text 22"/>
          <p:cNvSpPr/>
          <p:nvPr/>
        </p:nvSpPr>
        <p:spPr>
          <a:xfrm>
            <a:off x="4873680" y="323244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C7293"/>
                </a:solidFill>
                <a:latin typeface="Calibri"/>
                <a:ea typeface="Calibri"/>
              </a:rPr>
              <a:t>4)  </a:t>
            </a:r>
            <a:r>
              <a:rPr lang="en-US" sz="1300" b="0" strike="noStrike" spc="-1">
                <a:solidFill>
                  <a:srgbClr val="1B2B30"/>
                </a:solidFill>
                <a:latin typeface="Calibri"/>
                <a:ea typeface="Calibri"/>
              </a:rPr>
              <a:t>Verschillende geloven gelijk behandelen</a:t>
            </a:r>
            <a:endParaRPr lang="en-US" sz="1300" b="0" strike="noStrike" spc="-1">
              <a:solidFill>
                <a:srgbClr val="000000"/>
              </a:solidFill>
              <a:latin typeface="Arial"/>
            </a:endParaRPr>
          </a:p>
        </p:txBody>
      </p:sp>
      <p:sp>
        <p:nvSpPr>
          <p:cNvPr id="204" name="Shape 23"/>
          <p:cNvSpPr/>
          <p:nvPr/>
        </p:nvSpPr>
        <p:spPr>
          <a:xfrm>
            <a:off x="548640" y="3620880"/>
            <a:ext cx="3885840" cy="370080"/>
          </a:xfrm>
          <a:prstGeom prst="roundRect">
            <a:avLst>
              <a:gd name="adj" fmla="val 14815"/>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5" name="Text 24"/>
          <p:cNvSpPr/>
          <p:nvPr/>
        </p:nvSpPr>
        <p:spPr>
          <a:xfrm>
            <a:off x="713160" y="362088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C0822F"/>
                </a:solidFill>
                <a:latin typeface="Calibri"/>
                <a:ea typeface="Calibri"/>
              </a:rPr>
              <a:t>e)  </a:t>
            </a:r>
            <a:r>
              <a:rPr lang="en-US" sz="1350" b="0" strike="noStrike" spc="-1">
                <a:solidFill>
                  <a:srgbClr val="1B2B30"/>
                </a:solidFill>
                <a:latin typeface="Calibri"/>
                <a:ea typeface="Calibri"/>
              </a:rPr>
              <a:t>Niet arrogant zijn</a:t>
            </a:r>
            <a:endParaRPr lang="en-US" sz="1350" b="0" strike="noStrike" spc="-1">
              <a:solidFill>
                <a:srgbClr val="000000"/>
              </a:solidFill>
              <a:latin typeface="Arial"/>
            </a:endParaRPr>
          </a:p>
        </p:txBody>
      </p:sp>
      <p:sp>
        <p:nvSpPr>
          <p:cNvPr id="206" name="Shape 25"/>
          <p:cNvSpPr/>
          <p:nvPr/>
        </p:nvSpPr>
        <p:spPr>
          <a:xfrm>
            <a:off x="4709160" y="3620880"/>
            <a:ext cx="3885840" cy="370080"/>
          </a:xfrm>
          <a:prstGeom prst="roundRect">
            <a:avLst>
              <a:gd name="adj" fmla="val 14815"/>
            </a:avLst>
          </a:prstGeom>
          <a:solidFill>
            <a:srgbClr val="E7F0F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7" name="Text 26"/>
          <p:cNvSpPr/>
          <p:nvPr/>
        </p:nvSpPr>
        <p:spPr>
          <a:xfrm>
            <a:off x="4873680" y="362088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C7293"/>
                </a:solidFill>
                <a:latin typeface="Calibri"/>
                <a:ea typeface="Calibri"/>
              </a:rPr>
              <a:t>5)  </a:t>
            </a:r>
            <a:r>
              <a:rPr lang="en-US" sz="1300" b="0" strike="noStrike" spc="-1">
                <a:solidFill>
                  <a:srgbClr val="1B2B30"/>
                </a:solidFill>
                <a:latin typeface="Calibri"/>
                <a:ea typeface="Calibri"/>
              </a:rPr>
              <a:t>Vertellen aan je docent dat je gespiekt hebt</a:t>
            </a:r>
            <a:endParaRPr lang="en-US" sz="1300" b="0" strike="noStrike" spc="-1">
              <a:solidFill>
                <a:srgbClr val="000000"/>
              </a:solidFill>
              <a:latin typeface="Arial"/>
            </a:endParaRPr>
          </a:p>
        </p:txBody>
      </p:sp>
      <p:sp>
        <p:nvSpPr>
          <p:cNvPr id="208" name="Shape 27"/>
          <p:cNvSpPr/>
          <p:nvPr/>
        </p:nvSpPr>
        <p:spPr>
          <a:xfrm>
            <a:off x="548640" y="4009680"/>
            <a:ext cx="3885840" cy="370080"/>
          </a:xfrm>
          <a:prstGeom prst="roundRect">
            <a:avLst>
              <a:gd name="adj" fmla="val 14815"/>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9" name="Text 28"/>
          <p:cNvSpPr/>
          <p:nvPr/>
        </p:nvSpPr>
        <p:spPr>
          <a:xfrm>
            <a:off x="713160" y="400968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C0822F"/>
                </a:solidFill>
                <a:latin typeface="Calibri"/>
                <a:ea typeface="Calibri"/>
              </a:rPr>
              <a:t>f)  </a:t>
            </a:r>
            <a:r>
              <a:rPr lang="en-US" sz="1350" b="0" strike="noStrike" spc="-1">
                <a:solidFill>
                  <a:srgbClr val="1B2B30"/>
                </a:solidFill>
                <a:latin typeface="Calibri"/>
                <a:ea typeface="Calibri"/>
              </a:rPr>
              <a:t>Behulpzaam zijn</a:t>
            </a:r>
            <a:endParaRPr lang="en-US" sz="1350" b="0" strike="noStrike" spc="-1">
              <a:solidFill>
                <a:srgbClr val="000000"/>
              </a:solidFill>
              <a:latin typeface="Arial"/>
            </a:endParaRPr>
          </a:p>
        </p:txBody>
      </p:sp>
      <p:sp>
        <p:nvSpPr>
          <p:cNvPr id="210" name="Shape 29"/>
          <p:cNvSpPr/>
          <p:nvPr/>
        </p:nvSpPr>
        <p:spPr>
          <a:xfrm>
            <a:off x="4709160" y="4009680"/>
            <a:ext cx="3885840" cy="370080"/>
          </a:xfrm>
          <a:prstGeom prst="roundRect">
            <a:avLst>
              <a:gd name="adj" fmla="val 14815"/>
            </a:avLst>
          </a:prstGeom>
          <a:solidFill>
            <a:srgbClr val="E7F0F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1" name="Text 30"/>
          <p:cNvSpPr/>
          <p:nvPr/>
        </p:nvSpPr>
        <p:spPr>
          <a:xfrm>
            <a:off x="4873680" y="400968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C7293"/>
                </a:solidFill>
                <a:latin typeface="Calibri"/>
                <a:ea typeface="Calibri"/>
              </a:rPr>
              <a:t>6)  </a:t>
            </a:r>
            <a:r>
              <a:rPr lang="en-US" sz="1300" b="0" strike="noStrike" spc="-1">
                <a:solidFill>
                  <a:srgbClr val="1B2B30"/>
                </a:solidFill>
                <a:latin typeface="Calibri"/>
                <a:ea typeface="Calibri"/>
              </a:rPr>
              <a:t>Je geld investeren</a:t>
            </a:r>
            <a:endParaRPr lang="en-US" sz="1300" b="0" strike="noStrike" spc="-1">
              <a:solidFill>
                <a:srgbClr val="000000"/>
              </a:solidFill>
              <a:latin typeface="Arial"/>
            </a:endParaRPr>
          </a:p>
        </p:txBody>
      </p:sp>
      <p:sp>
        <p:nvSpPr>
          <p:cNvPr id="212" name="Shape 31"/>
          <p:cNvSpPr/>
          <p:nvPr/>
        </p:nvSpPr>
        <p:spPr>
          <a:xfrm>
            <a:off x="548640" y="4398120"/>
            <a:ext cx="3885840" cy="370080"/>
          </a:xfrm>
          <a:prstGeom prst="roundRect">
            <a:avLst>
              <a:gd name="adj" fmla="val 14815"/>
            </a:avLst>
          </a:prstGeom>
          <a:solidFill>
            <a:srgbClr val="F6EC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3" name="Text 32"/>
          <p:cNvSpPr/>
          <p:nvPr/>
        </p:nvSpPr>
        <p:spPr>
          <a:xfrm>
            <a:off x="713160" y="439812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C0822F"/>
                </a:solidFill>
                <a:latin typeface="Calibri"/>
                <a:ea typeface="Calibri"/>
              </a:rPr>
              <a:t>g)  </a:t>
            </a:r>
            <a:r>
              <a:rPr lang="en-US" sz="1350" b="0" strike="noStrike" spc="-1">
                <a:solidFill>
                  <a:srgbClr val="1B2B30"/>
                </a:solidFill>
                <a:latin typeface="Calibri"/>
                <a:ea typeface="Calibri"/>
              </a:rPr>
              <a:t>Beleefd zijn</a:t>
            </a:r>
            <a:endParaRPr lang="en-US" sz="1350" b="0" strike="noStrike" spc="-1">
              <a:solidFill>
                <a:srgbClr val="000000"/>
              </a:solidFill>
              <a:latin typeface="Arial"/>
            </a:endParaRPr>
          </a:p>
        </p:txBody>
      </p:sp>
      <p:sp>
        <p:nvSpPr>
          <p:cNvPr id="214" name="Shape 33"/>
          <p:cNvSpPr/>
          <p:nvPr/>
        </p:nvSpPr>
        <p:spPr>
          <a:xfrm>
            <a:off x="4709160" y="4398120"/>
            <a:ext cx="3885840" cy="370080"/>
          </a:xfrm>
          <a:prstGeom prst="roundRect">
            <a:avLst>
              <a:gd name="adj" fmla="val 14815"/>
            </a:avLst>
          </a:prstGeom>
          <a:solidFill>
            <a:srgbClr val="E7F0F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5" name="Text 34"/>
          <p:cNvSpPr/>
          <p:nvPr/>
        </p:nvSpPr>
        <p:spPr>
          <a:xfrm>
            <a:off x="4873680" y="4398120"/>
            <a:ext cx="3657240" cy="37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C7293"/>
                </a:solidFill>
                <a:latin typeface="Calibri"/>
                <a:ea typeface="Calibri"/>
              </a:rPr>
              <a:t>7)  </a:t>
            </a:r>
            <a:r>
              <a:rPr lang="en-US" sz="1300" b="0" strike="noStrike" spc="-1">
                <a:solidFill>
                  <a:srgbClr val="1B2B30"/>
                </a:solidFill>
                <a:latin typeface="Calibri"/>
                <a:ea typeface="Calibri"/>
              </a:rPr>
              <a:t>Altijd met twee woorden spreken</a:t>
            </a:r>
            <a:endParaRPr lang="en-US" sz="1300" b="0" strike="noStrike" spc="-1">
              <a:solidFill>
                <a:srgbClr val="000000"/>
              </a:solidFill>
              <a:latin typeface="Arial"/>
            </a:endParaRPr>
          </a:p>
        </p:txBody>
      </p:sp>
      <p:sp>
        <p:nvSpPr>
          <p:cNvPr id="216" name="Text 35"/>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9FB0B5"/>
                </a:solidFill>
                <a:latin typeface="Calibri"/>
                <a:ea typeface="Calibri"/>
              </a:rPr>
              <a:t>Levensbeschouwing · Ethiek · Klas 1</a:t>
            </a:r>
            <a:endParaRPr lang="en-US" sz="900" b="0" strike="noStrike" spc="-1">
              <a:solidFill>
                <a:srgbClr val="000000"/>
              </a:solidFill>
              <a:latin typeface="Arial"/>
            </a:endParaRPr>
          </a:p>
        </p:txBody>
      </p:sp>
      <p:sp>
        <p:nvSpPr>
          <p:cNvPr id="217" name="Text 36"/>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9FB0B5"/>
                </a:solidFill>
                <a:latin typeface="Calibri"/>
                <a:ea typeface="Calibri"/>
              </a:rPr>
              <a:t>11</a:t>
            </a:r>
            <a:endParaRPr lang="en-US" sz="9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2D38"/>
        </a:solidFill>
        <a:effectLst/>
      </p:bgPr>
    </p:bg>
    <p:spTree>
      <p:nvGrpSpPr>
        <p:cNvPr id="1" name=""/>
        <p:cNvGrpSpPr/>
        <p:nvPr/>
      </p:nvGrpSpPr>
      <p:grpSpPr>
        <a:xfrm>
          <a:off x="0" y="0"/>
          <a:ext cx="0" cy="0"/>
          <a:chOff x="0" y="0"/>
          <a:chExt cx="0" cy="0"/>
        </a:xfrm>
      </p:grpSpPr>
      <p:sp>
        <p:nvSpPr>
          <p:cNvPr id="218" name="Shape 0"/>
          <p:cNvSpPr/>
          <p:nvPr/>
        </p:nvSpPr>
        <p:spPr>
          <a:xfrm>
            <a:off x="0" y="0"/>
            <a:ext cx="9143640" cy="5143320"/>
          </a:xfrm>
          <a:prstGeom prst="rect">
            <a:avLst/>
          </a:prstGeom>
          <a:solidFill>
            <a:srgbClr val="0F2D3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19" name="Shape 1"/>
          <p:cNvSpPr/>
          <p:nvPr/>
        </p:nvSpPr>
        <p:spPr>
          <a:xfrm>
            <a:off x="640080" y="640080"/>
            <a:ext cx="731160" cy="731160"/>
          </a:xfrm>
          <a:prstGeom prst="ellipse">
            <a:avLst/>
          </a:prstGeom>
          <a:solidFill>
            <a:srgbClr val="C0822F"/>
          </a:solidFill>
          <a:ln w="0">
            <a:noFill/>
          </a:ln>
          <a:effectLst>
            <a:outerShdw blurRad="76320" dist="25560" dir="5400000" algn="bl" rotWithShape="0">
              <a:srgbClr val="0F2D38">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20" name="Image 0" descr="preencoded.png"/>
          <p:cNvPicPr/>
          <p:nvPr/>
        </p:nvPicPr>
        <p:blipFill>
          <a:blip r:embed="rId3"/>
          <a:stretch/>
        </p:blipFill>
        <p:spPr>
          <a:xfrm>
            <a:off x="837720" y="837720"/>
            <a:ext cx="336240" cy="336240"/>
          </a:xfrm>
          <a:prstGeom prst="rect">
            <a:avLst/>
          </a:prstGeom>
          <a:ln w="0">
            <a:noFill/>
          </a:ln>
        </p:spPr>
      </p:pic>
      <p:sp>
        <p:nvSpPr>
          <p:cNvPr id="221" name="Text 2"/>
          <p:cNvSpPr/>
          <p:nvPr/>
        </p:nvSpPr>
        <p:spPr>
          <a:xfrm>
            <a:off x="1600200" y="71316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299">
                <a:solidFill>
                  <a:srgbClr val="E0A24A"/>
                </a:solidFill>
                <a:latin typeface="Calibri"/>
                <a:ea typeface="Calibri"/>
              </a:rPr>
              <a:t>VOORDAT JE GAAT</a:t>
            </a:r>
            <a:endParaRPr lang="en-US" sz="1100" b="0" strike="noStrike" spc="-1">
              <a:solidFill>
                <a:srgbClr val="FFFFFF"/>
              </a:solidFill>
              <a:latin typeface="Arial"/>
            </a:endParaRPr>
          </a:p>
        </p:txBody>
      </p:sp>
      <p:sp>
        <p:nvSpPr>
          <p:cNvPr id="222" name="Text 3"/>
          <p:cNvSpPr/>
          <p:nvPr/>
        </p:nvSpPr>
        <p:spPr>
          <a:xfrm>
            <a:off x="1572840" y="960120"/>
            <a:ext cx="64004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FFFFFF"/>
                </a:solidFill>
                <a:latin typeface="Cambria"/>
                <a:ea typeface="Cambria"/>
              </a:rPr>
              <a:t>Exit ticket</a:t>
            </a:r>
            <a:endParaRPr lang="en-US" sz="3400" b="0" strike="noStrike" spc="-1">
              <a:solidFill>
                <a:srgbClr val="FFFFFF"/>
              </a:solidFill>
              <a:latin typeface="Arial"/>
            </a:endParaRPr>
          </a:p>
        </p:txBody>
      </p:sp>
      <p:sp>
        <p:nvSpPr>
          <p:cNvPr id="223" name="Text 4"/>
          <p:cNvSpPr/>
          <p:nvPr/>
        </p:nvSpPr>
        <p:spPr>
          <a:xfrm>
            <a:off x="640080" y="1965960"/>
            <a:ext cx="78634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strike="noStrike" spc="-1">
                <a:solidFill>
                  <a:srgbClr val="E8EEF0"/>
                </a:solidFill>
                <a:latin typeface="Calibri"/>
                <a:ea typeface="Calibri"/>
              </a:rPr>
              <a:t>Maak deze zin af in je schrift:</a:t>
            </a:r>
            <a:endParaRPr lang="en-US" sz="1800" b="0" strike="noStrike" spc="-1">
              <a:solidFill>
                <a:srgbClr val="FFFFFF"/>
              </a:solidFill>
              <a:latin typeface="Arial"/>
            </a:endParaRPr>
          </a:p>
        </p:txBody>
      </p:sp>
      <p:sp>
        <p:nvSpPr>
          <p:cNvPr id="224" name="Shape 5"/>
          <p:cNvSpPr/>
          <p:nvPr/>
        </p:nvSpPr>
        <p:spPr>
          <a:xfrm>
            <a:off x="640080" y="2514600"/>
            <a:ext cx="7863480" cy="1142640"/>
          </a:xfrm>
          <a:prstGeom prst="roundRect">
            <a:avLst>
              <a:gd name="adj" fmla="val 9600"/>
            </a:avLst>
          </a:prstGeom>
          <a:solidFill>
            <a:srgbClr val="12343F"/>
          </a:solidFill>
          <a:ln w="15875">
            <a:solidFill>
              <a:srgbClr val="C0822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25" name="Text 6"/>
          <p:cNvSpPr/>
          <p:nvPr/>
        </p:nvSpPr>
        <p:spPr>
          <a:xfrm>
            <a:off x="822960" y="2514600"/>
            <a:ext cx="749772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2999"/>
              </a:lnSpc>
              <a:tabLst>
                <a:tab pos="0" algn="l"/>
              </a:tabLst>
            </a:pPr>
            <a:r>
              <a:rPr lang="en-US" sz="2100" b="0" strike="noStrike" spc="-1">
                <a:solidFill>
                  <a:srgbClr val="FFFFFF"/>
                </a:solidFill>
                <a:latin typeface="Calibri"/>
                <a:ea typeface="Calibri"/>
              </a:rPr>
              <a:t>Ik vind dat je </a:t>
            </a:r>
            <a:r>
              <a:rPr lang="en-US" sz="2100" b="1" strike="noStrike" spc="-1">
                <a:solidFill>
                  <a:srgbClr val="7FC7E3"/>
                </a:solidFill>
                <a:latin typeface="Calibri"/>
                <a:ea typeface="Calibri"/>
              </a:rPr>
              <a:t>… moet doen </a:t>
            </a:r>
            <a:r>
              <a:rPr lang="en-US" sz="2100" b="0" strike="noStrike" spc="-1">
                <a:solidFill>
                  <a:srgbClr val="7FC7E3"/>
                </a:solidFill>
                <a:latin typeface="Calibri"/>
                <a:ea typeface="Calibri"/>
              </a:rPr>
              <a:t>(norm)</a:t>
            </a:r>
            <a:r>
              <a:rPr lang="en-US" sz="2100" b="0" strike="noStrike" spc="-1">
                <a:solidFill>
                  <a:srgbClr val="FFFFFF"/>
                </a:solidFill>
                <a:latin typeface="Calibri"/>
                <a:ea typeface="Calibri"/>
              </a:rPr>
              <a:t>,</a:t>
            </a:r>
            <a:endParaRPr lang="en-US" sz="2100" b="0" strike="noStrike" spc="-1">
              <a:solidFill>
                <a:srgbClr val="FFFFFF"/>
              </a:solidFill>
              <a:latin typeface="Arial"/>
            </a:endParaRPr>
          </a:p>
          <a:p>
            <a:pPr algn="ctr" defTabSz="914400">
              <a:lnSpc>
                <a:spcPts val="2999"/>
              </a:lnSpc>
              <a:tabLst>
                <a:tab pos="0" algn="l"/>
              </a:tabLst>
            </a:pPr>
            <a:r>
              <a:rPr lang="en-US" sz="2100" b="0" strike="noStrike" spc="-1">
                <a:solidFill>
                  <a:srgbClr val="FFFFFF"/>
                </a:solidFill>
                <a:latin typeface="Calibri"/>
                <a:ea typeface="Calibri"/>
              </a:rPr>
              <a:t>want ik vind </a:t>
            </a:r>
            <a:endParaRPr lang="en-US" sz="2100" b="0" strike="noStrike" spc="-1">
              <a:solidFill>
                <a:srgbClr val="FFFFFF"/>
              </a:solidFill>
              <a:latin typeface="Arial"/>
            </a:endParaRPr>
          </a:p>
          <a:p>
            <a:pPr algn="ctr" defTabSz="914400">
              <a:lnSpc>
                <a:spcPts val="2999"/>
              </a:lnSpc>
              <a:tabLst>
                <a:tab pos="0" algn="l"/>
              </a:tabLst>
            </a:pPr>
            <a:r>
              <a:rPr lang="en-US" sz="2100" b="1" strike="noStrike" spc="-1">
                <a:solidFill>
                  <a:srgbClr val="E0A24A"/>
                </a:solidFill>
                <a:latin typeface="Calibri"/>
                <a:ea typeface="Calibri"/>
              </a:rPr>
              <a:t>… belangrijk </a:t>
            </a:r>
            <a:r>
              <a:rPr lang="en-US" sz="2100" b="0" strike="noStrike" spc="-1">
                <a:solidFill>
                  <a:srgbClr val="E0A24A"/>
                </a:solidFill>
                <a:latin typeface="Calibri"/>
                <a:ea typeface="Calibri"/>
              </a:rPr>
              <a:t>(waarde)</a:t>
            </a:r>
            <a:r>
              <a:rPr lang="en-US" sz="2100" b="0" strike="noStrike" spc="-1">
                <a:solidFill>
                  <a:srgbClr val="FFFFFF"/>
                </a:solidFill>
                <a:latin typeface="Calibri"/>
                <a:ea typeface="Calibri"/>
              </a:rPr>
              <a:t>.</a:t>
            </a:r>
            <a:endParaRPr lang="en-US" sz="2100" b="0" strike="noStrike" spc="-1">
              <a:solidFill>
                <a:srgbClr val="FFFFFF"/>
              </a:solidFill>
              <a:latin typeface="Arial"/>
            </a:endParaRPr>
          </a:p>
        </p:txBody>
      </p:sp>
      <p:sp>
        <p:nvSpPr>
          <p:cNvPr id="226" name="Text 7"/>
          <p:cNvSpPr/>
          <p:nvPr/>
        </p:nvSpPr>
        <p:spPr>
          <a:xfrm>
            <a:off x="640080" y="3886200"/>
            <a:ext cx="7863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i="1" strike="noStrike" spc="-1">
                <a:solidFill>
                  <a:srgbClr val="5E8A99"/>
                </a:solidFill>
                <a:latin typeface="Calibri"/>
                <a:ea typeface="Calibri"/>
              </a:rPr>
              <a:t>Inleveren bij de deur. We gebruiken een paar van jullie zinnen als Stille Start van de volgende les.</a:t>
            </a:r>
            <a:endParaRPr lang="en-US" sz="1350" b="0" strike="noStrike" spc="-1">
              <a:solidFill>
                <a:srgbClr val="FFFFFF"/>
              </a:solidFill>
              <a:latin typeface="Arial"/>
            </a:endParaRPr>
          </a:p>
        </p:txBody>
      </p:sp>
      <p:sp>
        <p:nvSpPr>
          <p:cNvPr id="227" name="Text 8"/>
          <p:cNvSpPr/>
          <p:nvPr/>
        </p:nvSpPr>
        <p:spPr>
          <a:xfrm>
            <a:off x="457200" y="481428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5E8A99"/>
                </a:solidFill>
                <a:latin typeface="Calibri"/>
                <a:ea typeface="Calibri"/>
              </a:rPr>
              <a:t>Levensbeschouwing · Ethiek · Klas 1</a:t>
            </a:r>
            <a:endParaRPr lang="en-US" sz="900" b="0" strike="noStrike" spc="-1">
              <a:solidFill>
                <a:srgbClr val="FFFFFF"/>
              </a:solidFill>
              <a:latin typeface="Arial"/>
            </a:endParaRPr>
          </a:p>
        </p:txBody>
      </p:sp>
      <p:sp>
        <p:nvSpPr>
          <p:cNvPr id="228" name="Text 9"/>
          <p:cNvSpPr/>
          <p:nvPr/>
        </p:nvSpPr>
        <p:spPr>
          <a:xfrm>
            <a:off x="8321040" y="48142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5E8A99"/>
                </a:solidFill>
                <a:latin typeface="Calibri"/>
                <a:ea typeface="Calibri"/>
              </a:rPr>
              <a:t>12</a:t>
            </a:r>
            <a:endParaRPr lang="en-US" sz="9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1980</Words>
  <Application>Microsoft Macintosh PowerPoint</Application>
  <PresentationFormat>On-screen Show (16:9)</PresentationFormat>
  <Paragraphs>163</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Cambria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Alexander de Jeger</cp:lastModifiedBy>
  <cp:revision>1</cp:revision>
  <dcterms:modified xsi:type="dcterms:W3CDTF">2026-06-29T16:33:01Z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2026-06-29T16:21:45Z</dcterms:created>
  <dc:creator>Levensbeschouwing</dc:creator>
  <dc:description/>
  <dc:language>en-US</dc:language>
  <cp:lastModifiedBy>Levensbeschouwing</cp:lastModifiedBy>
  <dcterms:modified xsi:type="dcterms:W3CDTF">2026-06-29T16:21:45Z</dcterms:modified>
  <cp:revision>1</cp:revision>
  <dc:subject>PptxGenJS Presentation</dc:subject>
  <dc:title>Normen &amp; Waarden — De reddingsboot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12</vt:r8>
  </property>
  <property fmtid="{D5CDD505-2E9C-101B-9397-08002B2CF9AE}" pid="3" name="PresentationFormat">
    <vt:lpwstr>On-screen Show (16:9)</vt:lpwstr>
  </property>
  <property fmtid="{D5CDD505-2E9C-101B-9397-08002B2CF9AE}" pid="4" name="Slides">
    <vt:r8>12</vt:r8>
  </property>
</Properties>
</file>