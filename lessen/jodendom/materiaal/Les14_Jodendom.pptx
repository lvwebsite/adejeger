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65" r:id="rId2"/>
    <p:sldId id="257" r:id="rId3"/>
    <p:sldId id="262" r:id="rId4"/>
    <p:sldId id="263" r:id="rId5"/>
    <p:sldId id="264" r:id="rId6"/>
    <p:sldId id="266" r:id="rId7"/>
    <p:sldId id="267" r:id="rId8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901E2D8-BBE9-2643-808C-8563884F6F18}" v="1" dt="2026-03-22T13:37:39.31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749"/>
    <p:restoredTop sz="94728"/>
  </p:normalViewPr>
  <p:slideViewPr>
    <p:cSldViewPr snapToGrid="0">
      <p:cViewPr varScale="1">
        <p:scale>
          <a:sx n="205" d="100"/>
          <a:sy n="205" d="100"/>
        </p:scale>
        <p:origin x="138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F2308D-1391-D749-A7EE-F4E7A8D39C53}" type="datetimeFigureOut">
              <a:rPr lang="en-NL" smtClean="0"/>
              <a:t>19/03/2026</a:t>
            </a:fld>
            <a:endParaRPr lang="en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688660-2AD9-9342-980A-DE926E197E39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7012197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D01959-BAF1-3B88-7145-B6A2A92226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965D84-03EB-2FC5-373D-D17DD48B5D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1BC11D-ED7F-C0C4-2CA3-B17DBA7434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CAC71C-C52A-BE80-8C39-06CCD955585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0073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FD0F2-08E3-27AA-260D-179B2D81DE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B2486B-8ECD-8410-1253-E3A8058F44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6081F3-45F0-C765-EC88-936B3E362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DA288-E2E6-8943-8EE1-D36BC61755A8}" type="datetimeFigureOut">
              <a:rPr lang="en-NL" smtClean="0"/>
              <a:t>19/03/2026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711752-F02A-F4FD-A8C1-7DFD9B2D3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27A94B-2A67-C035-1532-C93BA8AC4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CDD79-E965-A444-B572-7950F5B5F841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7715372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7F4CA-DA36-7F1D-055E-4E1EA854D4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2CF831-74AE-2670-AE83-9C64D51212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0462AA-BC8C-787A-D681-EEEA6CDA61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DA288-E2E6-8943-8EE1-D36BC61755A8}" type="datetimeFigureOut">
              <a:rPr lang="en-NL" smtClean="0"/>
              <a:t>19/03/2026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C4A004-8972-E50E-20E5-4952DBF23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2BCCDB-7BA2-F5B1-85DB-3DA14DBDB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CDD79-E965-A444-B572-7950F5B5F841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8854142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08C4F-B553-C683-FD51-DCD616CA68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20F955-0DA4-7806-1951-0F0DE8FB01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BAD59B-C869-3392-24DC-1217B60DB7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DA288-E2E6-8943-8EE1-D36BC61755A8}" type="datetimeFigureOut">
              <a:rPr lang="en-NL" smtClean="0"/>
              <a:t>19/03/2026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6F4D92-DFD6-B4DC-22D7-3FE33FC3D5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0DA6E6-DEEF-23C2-137F-DDB35FF8D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CDD79-E965-A444-B572-7950F5B5F841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7677841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C9F871-E23A-A294-45D7-FB4145719A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C9C7EE-F08D-5030-38CE-96EB8BDE5E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94E8AB-FD6E-17FA-0F05-3A89EBF83B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B901EC-B4AC-D678-C00C-9AA3E27CF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DA288-E2E6-8943-8EE1-D36BC61755A8}" type="datetimeFigureOut">
              <a:rPr lang="en-NL" smtClean="0"/>
              <a:t>19/03/2026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84872F-1C07-23B9-5351-4EB4D6ECC4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931BF2-E58E-3487-F07E-4FD0C6526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CDD79-E965-A444-B572-7950F5B5F841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1355547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6F0F1-6C23-42DB-3DC3-B0F926FC9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A608D7-D50A-AC48-618B-9E9FA9BB27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83B724-CFE1-037C-714C-D1D14F8E11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F90A46E-D6A7-91DA-0F48-AB8CF488C1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12B0D5-1610-63EA-93D1-DF1F011C18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83C2DD0-150C-4B08-99B3-BA7A6C77A4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DA288-E2E6-8943-8EE1-D36BC61755A8}" type="datetimeFigureOut">
              <a:rPr lang="en-NL" smtClean="0"/>
              <a:t>19/03/2026</a:t>
            </a:fld>
            <a:endParaRPr lang="en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4154068-10AE-900C-3A05-6EB03B9EEB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14F3D08-2F62-CE7E-216A-96FC63A79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CDD79-E965-A444-B572-7950F5B5F841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3496821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6C6AB1-67CF-518C-130A-9AF1BA980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75B91C3-5CF1-36C2-546C-29264A436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DA288-E2E6-8943-8EE1-D36BC61755A8}" type="datetimeFigureOut">
              <a:rPr lang="en-NL" smtClean="0"/>
              <a:t>19/03/2026</a:t>
            </a:fld>
            <a:endParaRPr lang="en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27895D-9644-EFFD-2B0C-CD7E3F9F81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6C4555-32E2-458C-E0D2-9F96BB648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CDD79-E965-A444-B572-7950F5B5F841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0530467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F2D8F76-1D03-84F8-63D2-77B2BC0E50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DA288-E2E6-8943-8EE1-D36BC61755A8}" type="datetimeFigureOut">
              <a:rPr lang="en-NL" smtClean="0"/>
              <a:t>19/03/2026</a:t>
            </a:fld>
            <a:endParaRPr lang="en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53AAFD-6A10-3B2C-3CA5-C5171AF45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BB2502-C791-89FF-F098-C6EA46D035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CDD79-E965-A444-B572-7950F5B5F841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3397742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C11D70-9272-9245-4303-9227A3B8EA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A2732B-D88F-EE66-1C2A-A56A8B3A1C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C147EB-237B-20E7-1DBC-60AF690CA7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BE8608-9AAB-F0CA-4DF7-3B3AE3B763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DA288-E2E6-8943-8EE1-D36BC61755A8}" type="datetimeFigureOut">
              <a:rPr lang="en-NL" smtClean="0"/>
              <a:t>19/03/2026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72103C-8117-82B2-DA0C-F194A29F69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EFE60E-BE69-892B-A04D-557333915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CDD79-E965-A444-B572-7950F5B5F841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1544023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E0CBE-F97D-0658-623B-89E1AF6129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E93D723-A49B-24C2-60A9-F45AE59BDF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DA7D5C-0ADF-AEDA-3CDB-837E11D11C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F65CE6-368C-4EE9-A96D-41446BE56C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DA288-E2E6-8943-8EE1-D36BC61755A8}" type="datetimeFigureOut">
              <a:rPr lang="en-NL" smtClean="0"/>
              <a:t>19/03/2026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F3781C-F6A9-72F3-80B6-E2D957DB81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DBA52E-A41C-8DAA-3E5C-513B1B007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CDD79-E965-A444-B572-7950F5B5F841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486863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B2BF7-E5EC-4E2B-9CA8-6D54A7B53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3CA20A-50CE-626E-EAA6-4FED16BC4D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816A68-41AB-9D58-4E74-2F805D8B3C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DA288-E2E6-8943-8EE1-D36BC61755A8}" type="datetimeFigureOut">
              <a:rPr lang="en-NL" smtClean="0"/>
              <a:t>19/03/2026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DDE69F-8B3A-2429-0B1C-7655F1EE5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1B8C94-0867-B731-BBF1-EDEDE4E2F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CDD79-E965-A444-B572-7950F5B5F841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948417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830D6A0-261C-421C-716D-2939DB7ECF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F5B4F6-1121-3E30-13AE-20E51EAA24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517A13-7A75-9EF2-01C6-9D22AF260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DA288-E2E6-8943-8EE1-D36BC61755A8}" type="datetimeFigureOut">
              <a:rPr lang="en-NL" smtClean="0"/>
              <a:t>19/03/2026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0B26F4-41F6-E144-B093-4AE51A591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6B7A82-574F-1878-49BD-F69B50F5F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CDD79-E965-A444-B572-7950F5B5F841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7369110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50976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D5D925-5A32-608D-CABB-C15C40F2D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4EC3BC-6E36-DFC8-CBFC-B42EFB0196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7644E2-AE57-9A8C-77CA-79112DAA6B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ADA288-E2E6-8943-8EE1-D36BC61755A8}" type="datetimeFigureOut">
              <a:rPr lang="en-NL" smtClean="0"/>
              <a:t>19/03/2026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D378A9-A39A-4977-560E-F863BB849C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A452A2-8715-E8E4-1182-C332B53619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ACDD79-E965-A444-B572-7950F5B5F841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3793054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6E7C77-FA14-8192-3622-060956BC4E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84A8ED4-BE27-B624-7A75-4FC6E9C4D2BB}"/>
              </a:ext>
            </a:extLst>
          </p:cNvPr>
          <p:cNvSpPr/>
          <p:nvPr/>
        </p:nvSpPr>
        <p:spPr>
          <a:xfrm>
            <a:off x="0" y="0"/>
            <a:ext cx="85344" cy="685800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NL" sz="24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D923917-01CC-9D03-88DA-B7FC55877CB5}"/>
              </a:ext>
            </a:extLst>
          </p:cNvPr>
          <p:cNvSpPr/>
          <p:nvPr/>
        </p:nvSpPr>
        <p:spPr>
          <a:xfrm>
            <a:off x="365760" y="97536"/>
            <a:ext cx="1146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467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Leerdoelen</a:t>
            </a:r>
            <a:endParaRPr lang="en-US" sz="3467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602E489-C19C-4C8D-BDD1-D969AC330340}"/>
              </a:ext>
            </a:extLst>
          </p:cNvPr>
          <p:cNvSpPr/>
          <p:nvPr/>
        </p:nvSpPr>
        <p:spPr>
          <a:xfrm>
            <a:off x="365760" y="792480"/>
            <a:ext cx="1146048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i="1" dirty="0">
                <a:solidFill>
                  <a:srgbClr val="F5E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deze les kun jij...</a:t>
            </a:r>
            <a:endParaRPr lang="en-US" sz="1733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743E355-F1A5-7801-7F4D-1490621F6A60}"/>
              </a:ext>
            </a:extLst>
          </p:cNvPr>
          <p:cNvSpPr/>
          <p:nvPr/>
        </p:nvSpPr>
        <p:spPr>
          <a:xfrm>
            <a:off x="10728960" y="6461760"/>
            <a:ext cx="12192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333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17</a:t>
            </a:r>
            <a:endParaRPr lang="en-US" sz="1333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71F9315E-DD85-B922-8650-BAA3C08B65C3}"/>
              </a:ext>
            </a:extLst>
          </p:cNvPr>
          <p:cNvSpPr/>
          <p:nvPr/>
        </p:nvSpPr>
        <p:spPr>
          <a:xfrm>
            <a:off x="365760" y="6461760"/>
            <a:ext cx="97536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Levensbeschouwing – Klas 1 – Het Jodendom</a:t>
            </a:r>
            <a:endParaRPr lang="en-US" sz="1333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EE38467B-37FF-C856-3B80-0CA80D663DBB}"/>
              </a:ext>
            </a:extLst>
          </p:cNvPr>
          <p:cNvSpPr/>
          <p:nvPr/>
        </p:nvSpPr>
        <p:spPr>
          <a:xfrm>
            <a:off x="412057" y="1561482"/>
            <a:ext cx="512064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sp>
        <p:nvSpPr>
          <p:cNvPr id="14" name="Shape 1">
            <a:extLst>
              <a:ext uri="{FF2B5EF4-FFF2-40B4-BE49-F238E27FC236}">
                <a16:creationId xmlns:a16="http://schemas.microsoft.com/office/drawing/2014/main" id="{33E35497-B0CF-496E-667E-8F1FAE13CD87}"/>
              </a:ext>
            </a:extLst>
          </p:cNvPr>
          <p:cNvSpPr/>
          <p:nvPr/>
        </p:nvSpPr>
        <p:spPr>
          <a:xfrm>
            <a:off x="85344" y="0"/>
            <a:ext cx="12192000" cy="12801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NL" sz="240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4975732-2AF7-0BA9-183D-5915ECB82E2F}"/>
              </a:ext>
            </a:extLst>
          </p:cNvPr>
          <p:cNvSpPr/>
          <p:nvPr/>
        </p:nvSpPr>
        <p:spPr>
          <a:xfrm>
            <a:off x="321692" y="178415"/>
            <a:ext cx="320171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sz="5400" b="1" cap="none" spc="50" dirty="0" err="1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Opdracht</a:t>
            </a:r>
            <a:endParaRPr lang="en-GB" sz="5400" b="1" cap="none" spc="50" dirty="0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FB15CA1-4FF5-BA29-D3FD-ECBA75899FF2}"/>
              </a:ext>
            </a:extLst>
          </p:cNvPr>
          <p:cNvSpPr txBox="1"/>
          <p:nvPr/>
        </p:nvSpPr>
        <p:spPr>
          <a:xfrm>
            <a:off x="572877" y="1696598"/>
            <a:ext cx="571775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L" dirty="0"/>
              <a:t>Opdracht: </a:t>
            </a:r>
          </a:p>
          <a:p>
            <a:pPr marL="285750" indent="-285750">
              <a:buFontTx/>
              <a:buChar char="-"/>
            </a:pPr>
            <a:r>
              <a:rPr lang="en-NL" dirty="0"/>
              <a:t>Waar denk je aan als je “Jodendom” hoort? Schrijf drie dingen op?</a:t>
            </a:r>
          </a:p>
          <a:p>
            <a:pPr marL="285750" indent="-285750">
              <a:buFontTx/>
              <a:buChar char="-"/>
            </a:pPr>
            <a:r>
              <a:rPr lang="en-NL" dirty="0"/>
              <a:t>Hoeveel Joodse mensen ken jij? Hoe ken je die?</a:t>
            </a:r>
          </a:p>
          <a:p>
            <a:pPr marL="285750" indent="-285750">
              <a:buFontTx/>
              <a:buChar char="-"/>
            </a:pPr>
            <a:r>
              <a:rPr lang="en-NL" dirty="0"/>
              <a:t>Geloof jij in God? </a:t>
            </a:r>
          </a:p>
          <a:p>
            <a:pPr marL="285750" indent="-285750">
              <a:buFontTx/>
              <a:buChar char="-"/>
            </a:pPr>
            <a:r>
              <a:rPr lang="en-NL" dirty="0"/>
              <a:t>Ken jij een verhaal uit de bijbel? Schrijf er minstens een  op (als jij niets weet, schrijf dan op wat je denkt dat er in de bijbel staat). </a:t>
            </a:r>
          </a:p>
        </p:txBody>
      </p:sp>
    </p:spTree>
    <p:extLst>
      <p:ext uri="{BB962C8B-B14F-4D97-AF65-F5344CB8AC3E}">
        <p14:creationId xmlns:p14="http://schemas.microsoft.com/office/powerpoint/2010/main" val="14542084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5344" cy="685800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NL" sz="240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12801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NL" sz="2400"/>
          </a:p>
        </p:txBody>
      </p:sp>
      <p:sp>
        <p:nvSpPr>
          <p:cNvPr id="4" name="Text 2"/>
          <p:cNvSpPr/>
          <p:nvPr/>
        </p:nvSpPr>
        <p:spPr>
          <a:xfrm>
            <a:off x="365760" y="97536"/>
            <a:ext cx="1146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467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Leerdoelen</a:t>
            </a:r>
            <a:endParaRPr lang="en-US" sz="3467" dirty="0"/>
          </a:p>
        </p:txBody>
      </p:sp>
      <p:sp>
        <p:nvSpPr>
          <p:cNvPr id="5" name="Text 3"/>
          <p:cNvSpPr/>
          <p:nvPr/>
        </p:nvSpPr>
        <p:spPr>
          <a:xfrm>
            <a:off x="365760" y="792480"/>
            <a:ext cx="1146048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i="1" dirty="0">
                <a:solidFill>
                  <a:srgbClr val="F5E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deze les kun jij...</a:t>
            </a:r>
            <a:endParaRPr lang="en-US" sz="1733" dirty="0"/>
          </a:p>
        </p:txBody>
      </p:sp>
      <p:sp>
        <p:nvSpPr>
          <p:cNvPr id="6" name="Text 4"/>
          <p:cNvSpPr/>
          <p:nvPr/>
        </p:nvSpPr>
        <p:spPr>
          <a:xfrm>
            <a:off x="10728960" y="6461760"/>
            <a:ext cx="12192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333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</a:t>
            </a:r>
            <a:endParaRPr lang="en-US" sz="1333" dirty="0"/>
          </a:p>
        </p:txBody>
      </p:sp>
      <p:sp>
        <p:nvSpPr>
          <p:cNvPr id="7" name="Text 5"/>
          <p:cNvSpPr/>
          <p:nvPr/>
        </p:nvSpPr>
        <p:spPr>
          <a:xfrm>
            <a:off x="365760" y="6461760"/>
            <a:ext cx="97536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Levensbeschouwing – Klas 1 – Het Jodendom</a:t>
            </a:r>
            <a:endParaRPr lang="en-US" sz="1333" dirty="0"/>
          </a:p>
        </p:txBody>
      </p:sp>
      <p:sp>
        <p:nvSpPr>
          <p:cNvPr id="8" name="Shape 6"/>
          <p:cNvSpPr/>
          <p:nvPr/>
        </p:nvSpPr>
        <p:spPr>
          <a:xfrm>
            <a:off x="391627" y="1576063"/>
            <a:ext cx="512064" cy="633984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NL" sz="2400"/>
          </a:p>
        </p:txBody>
      </p:sp>
      <p:sp>
        <p:nvSpPr>
          <p:cNvPr id="9" name="Text 7"/>
          <p:cNvSpPr/>
          <p:nvPr/>
        </p:nvSpPr>
        <p:spPr>
          <a:xfrm>
            <a:off x="412057" y="1561482"/>
            <a:ext cx="512064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109472" y="1584960"/>
            <a:ext cx="10850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Uitleggen wat de kern van het joodse geloof is (verbond, Torah, monotheïsme)</a:t>
            </a:r>
            <a:endParaRPr lang="en-US" sz="1867" dirty="0"/>
          </a:p>
        </p:txBody>
      </p:sp>
      <p:sp>
        <p:nvSpPr>
          <p:cNvPr id="11" name="Shape 9"/>
          <p:cNvSpPr/>
          <p:nvPr/>
        </p:nvSpPr>
        <p:spPr>
          <a:xfrm>
            <a:off x="430015" y="3552568"/>
            <a:ext cx="512064" cy="633984"/>
          </a:xfrm>
          <a:prstGeom prst="rect">
            <a:avLst/>
          </a:prstGeom>
          <a:solidFill>
            <a:srgbClr val="2A5298"/>
          </a:solidFill>
          <a:ln w="12700">
            <a:solidFill>
              <a:srgbClr val="2A5298"/>
            </a:solidFill>
            <a:prstDash val="solid"/>
          </a:ln>
        </p:spPr>
        <p:txBody>
          <a:bodyPr/>
          <a:lstStyle/>
          <a:p>
            <a:endParaRPr lang="en-NL" sz="2400"/>
          </a:p>
        </p:txBody>
      </p:sp>
      <p:sp>
        <p:nvSpPr>
          <p:cNvPr id="12" name="Text 10"/>
          <p:cNvSpPr/>
          <p:nvPr/>
        </p:nvSpPr>
        <p:spPr>
          <a:xfrm>
            <a:off x="413375" y="3567149"/>
            <a:ext cx="512064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109472" y="3646809"/>
            <a:ext cx="10850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dirty="0" err="1">
                <a:solidFill>
                  <a:srgbClr val="1C1C2E"/>
                </a:solidFill>
                <a:latin typeface="Calibri" pitchFamily="34" charset="0"/>
                <a:cs typeface="Calibri" pitchFamily="34" charset="-120"/>
              </a:rPr>
              <a:t>Minstens</a:t>
            </a:r>
            <a:r>
              <a:rPr lang="en-US" sz="1867" dirty="0">
                <a:solidFill>
                  <a:srgbClr val="1C1C2E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1867" dirty="0" err="1">
                <a:solidFill>
                  <a:srgbClr val="1C1C2E"/>
                </a:solidFill>
                <a:latin typeface="Calibri" pitchFamily="34" charset="0"/>
                <a:cs typeface="Calibri" pitchFamily="34" charset="-120"/>
              </a:rPr>
              <a:t>drie</a:t>
            </a:r>
            <a:r>
              <a:rPr lang="en-US" sz="1867" dirty="0">
                <a:solidFill>
                  <a:srgbClr val="1C1C2E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1867" dirty="0" err="1">
                <a:solidFill>
                  <a:srgbClr val="1C1C2E"/>
                </a:solidFill>
                <a:latin typeface="Calibri" pitchFamily="34" charset="0"/>
                <a:cs typeface="Calibri" pitchFamily="34" charset="-120"/>
              </a:rPr>
              <a:t>Joodse</a:t>
            </a:r>
            <a:r>
              <a:rPr lang="en-US" sz="1867" dirty="0">
                <a:solidFill>
                  <a:srgbClr val="1C1C2E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1867" dirty="0" err="1">
                <a:solidFill>
                  <a:srgbClr val="1C1C2E"/>
                </a:solidFill>
                <a:latin typeface="Calibri" pitchFamily="34" charset="0"/>
                <a:cs typeface="Calibri" pitchFamily="34" charset="-120"/>
              </a:rPr>
              <a:t>feestdagen</a:t>
            </a:r>
            <a:r>
              <a:rPr lang="en-US" sz="1867" dirty="0">
                <a:solidFill>
                  <a:srgbClr val="1C1C2E"/>
                </a:solidFill>
                <a:latin typeface="Calibri" pitchFamily="34" charset="0"/>
                <a:cs typeface="Calibri" pitchFamily="34" charset="-120"/>
              </a:rPr>
              <a:t> of </a:t>
            </a:r>
            <a:r>
              <a:rPr lang="en-US" sz="1867" dirty="0" err="1">
                <a:solidFill>
                  <a:srgbClr val="1C1C2E"/>
                </a:solidFill>
                <a:latin typeface="Calibri" pitchFamily="34" charset="0"/>
                <a:cs typeface="Calibri" pitchFamily="34" charset="-120"/>
              </a:rPr>
              <a:t>gebruiken</a:t>
            </a:r>
            <a:r>
              <a:rPr lang="en-US" sz="1867" dirty="0">
                <a:solidFill>
                  <a:srgbClr val="1C1C2E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1867" dirty="0" err="1">
                <a:solidFill>
                  <a:srgbClr val="1C1C2E"/>
                </a:solidFill>
                <a:latin typeface="Calibri" pitchFamily="34" charset="0"/>
                <a:cs typeface="Calibri" pitchFamily="34" charset="-120"/>
              </a:rPr>
              <a:t>beschrijven</a:t>
            </a:r>
            <a:r>
              <a:rPr lang="en-US" sz="1867" dirty="0">
                <a:solidFill>
                  <a:srgbClr val="1C1C2E"/>
                </a:solidFill>
                <a:latin typeface="Calibri" pitchFamily="34" charset="0"/>
                <a:cs typeface="Calibri" pitchFamily="34" charset="-120"/>
              </a:rPr>
              <a:t> </a:t>
            </a:r>
            <a:endParaRPr lang="en-US" sz="1867" dirty="0"/>
          </a:p>
        </p:txBody>
      </p:sp>
      <p:sp>
        <p:nvSpPr>
          <p:cNvPr id="17" name="Shape 15"/>
          <p:cNvSpPr/>
          <p:nvPr/>
        </p:nvSpPr>
        <p:spPr>
          <a:xfrm>
            <a:off x="391627" y="5332352"/>
            <a:ext cx="512064" cy="633984"/>
          </a:xfrm>
          <a:prstGeom prst="rect">
            <a:avLst/>
          </a:prstGeom>
          <a:solidFill>
            <a:srgbClr val="2A5298"/>
          </a:solidFill>
          <a:ln w="12700">
            <a:solidFill>
              <a:srgbClr val="2A5298"/>
            </a:solidFill>
            <a:prstDash val="solid"/>
          </a:ln>
        </p:spPr>
        <p:txBody>
          <a:bodyPr/>
          <a:lstStyle/>
          <a:p>
            <a:endParaRPr lang="en-NL" sz="2400"/>
          </a:p>
        </p:txBody>
      </p:sp>
      <p:sp>
        <p:nvSpPr>
          <p:cNvPr id="18" name="Text 16"/>
          <p:cNvSpPr/>
          <p:nvPr/>
        </p:nvSpPr>
        <p:spPr>
          <a:xfrm>
            <a:off x="391627" y="5281937"/>
            <a:ext cx="512064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060704" y="5365798"/>
            <a:ext cx="10850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dirty="0" err="1">
                <a:solidFill>
                  <a:srgbClr val="1C1C2E"/>
                </a:solidFill>
                <a:latin typeface="Calibri" pitchFamily="34" charset="0"/>
                <a:cs typeface="Calibri" pitchFamily="34" charset="-120"/>
              </a:rPr>
              <a:t>Uitleggen</a:t>
            </a:r>
            <a:r>
              <a:rPr lang="en-US" sz="1867" dirty="0">
                <a:solidFill>
                  <a:srgbClr val="1C1C2E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1867" dirty="0" err="1">
                <a:solidFill>
                  <a:srgbClr val="1C1C2E"/>
                </a:solidFill>
                <a:latin typeface="Calibri" pitchFamily="34" charset="0"/>
                <a:cs typeface="Calibri" pitchFamily="34" charset="-120"/>
              </a:rPr>
              <a:t>waarom</a:t>
            </a:r>
            <a:r>
              <a:rPr lang="en-US" sz="1867" dirty="0">
                <a:solidFill>
                  <a:srgbClr val="1C1C2E"/>
                </a:solidFill>
                <a:latin typeface="Calibri" pitchFamily="34" charset="0"/>
                <a:cs typeface="Calibri" pitchFamily="34" charset="-120"/>
              </a:rPr>
              <a:t> het </a:t>
            </a:r>
            <a:r>
              <a:rPr lang="en-US" sz="1867" dirty="0" err="1">
                <a:solidFill>
                  <a:srgbClr val="1C1C2E"/>
                </a:solidFill>
                <a:latin typeface="Calibri" pitchFamily="34" charset="0"/>
                <a:cs typeface="Calibri" pitchFamily="34" charset="-120"/>
              </a:rPr>
              <a:t>Jodendom</a:t>
            </a:r>
            <a:r>
              <a:rPr lang="en-US" sz="1867" dirty="0">
                <a:solidFill>
                  <a:srgbClr val="1C1C2E"/>
                </a:solidFill>
                <a:latin typeface="Calibri" pitchFamily="34" charset="0"/>
                <a:cs typeface="Calibri" pitchFamily="34" charset="-120"/>
              </a:rPr>
              <a:t> zo </a:t>
            </a:r>
            <a:r>
              <a:rPr lang="en-US" sz="1867" dirty="0" err="1">
                <a:solidFill>
                  <a:srgbClr val="1C1C2E"/>
                </a:solidFill>
                <a:latin typeface="Calibri" pitchFamily="34" charset="0"/>
                <a:cs typeface="Calibri" pitchFamily="34" charset="-120"/>
              </a:rPr>
              <a:t>belangrijk</a:t>
            </a:r>
            <a:r>
              <a:rPr lang="en-US" sz="1867" dirty="0">
                <a:solidFill>
                  <a:srgbClr val="1C1C2E"/>
                </a:solidFill>
                <a:latin typeface="Calibri" pitchFamily="34" charset="0"/>
                <a:cs typeface="Calibri" pitchFamily="34" charset="-120"/>
              </a:rPr>
              <a:t> is </a:t>
            </a:r>
            <a:r>
              <a:rPr lang="en-US" sz="1867" dirty="0" err="1">
                <a:solidFill>
                  <a:srgbClr val="1C1C2E"/>
                </a:solidFill>
                <a:latin typeface="Calibri" pitchFamily="34" charset="0"/>
                <a:cs typeface="Calibri" pitchFamily="34" charset="-120"/>
              </a:rPr>
              <a:t>voor</a:t>
            </a:r>
            <a:r>
              <a:rPr lang="en-US" sz="1867" dirty="0">
                <a:solidFill>
                  <a:srgbClr val="1C1C2E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1867" dirty="0" err="1">
                <a:solidFill>
                  <a:srgbClr val="1C1C2E"/>
                </a:solidFill>
                <a:latin typeface="Calibri" pitchFamily="34" charset="0"/>
                <a:cs typeface="Calibri" pitchFamily="34" charset="-120"/>
              </a:rPr>
              <a:t>Joodse</a:t>
            </a:r>
            <a:r>
              <a:rPr lang="en-US" sz="1867" dirty="0">
                <a:solidFill>
                  <a:srgbClr val="1C1C2E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1867" dirty="0" err="1">
                <a:solidFill>
                  <a:srgbClr val="1C1C2E"/>
                </a:solidFill>
                <a:latin typeface="Calibri" pitchFamily="34" charset="0"/>
                <a:cs typeface="Calibri" pitchFamily="34" charset="-120"/>
              </a:rPr>
              <a:t>mensen</a:t>
            </a:r>
            <a:endParaRPr lang="en-US" sz="1867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5344" cy="685800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NL" sz="240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12801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NL" sz="2400"/>
          </a:p>
        </p:txBody>
      </p:sp>
      <p:sp>
        <p:nvSpPr>
          <p:cNvPr id="4" name="Text 2"/>
          <p:cNvSpPr/>
          <p:nvPr/>
        </p:nvSpPr>
        <p:spPr>
          <a:xfrm>
            <a:off x="365760" y="97536"/>
            <a:ext cx="1146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467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Abraham en het Verbond</a:t>
            </a:r>
            <a:endParaRPr lang="en-US" sz="3467" dirty="0"/>
          </a:p>
        </p:txBody>
      </p:sp>
      <p:sp>
        <p:nvSpPr>
          <p:cNvPr id="5" name="Text 3"/>
          <p:cNvSpPr/>
          <p:nvPr/>
        </p:nvSpPr>
        <p:spPr>
          <a:xfrm>
            <a:off x="365760" y="792480"/>
            <a:ext cx="1146048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i="1" dirty="0">
                <a:solidFill>
                  <a:srgbClr val="F5E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begin van het jodendom – ca. 2000 v.Chr.</a:t>
            </a:r>
            <a:endParaRPr lang="en-US" sz="1733" dirty="0"/>
          </a:p>
        </p:txBody>
      </p:sp>
      <p:sp>
        <p:nvSpPr>
          <p:cNvPr id="7" name="Text 5"/>
          <p:cNvSpPr/>
          <p:nvPr/>
        </p:nvSpPr>
        <p:spPr>
          <a:xfrm>
            <a:off x="365760" y="6461760"/>
            <a:ext cx="97536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Levensbeschouwing – Klas 1 – Het Jodendom</a:t>
            </a:r>
            <a:endParaRPr lang="en-US" sz="1333" dirty="0"/>
          </a:p>
        </p:txBody>
      </p:sp>
      <p:sp>
        <p:nvSpPr>
          <p:cNvPr id="8" name="Shape 6"/>
          <p:cNvSpPr/>
          <p:nvPr/>
        </p:nvSpPr>
        <p:spPr>
          <a:xfrm>
            <a:off x="304800" y="1463040"/>
            <a:ext cx="5364480" cy="49987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L" sz="2400"/>
          </a:p>
        </p:txBody>
      </p:sp>
      <p:sp>
        <p:nvSpPr>
          <p:cNvPr id="9" name="Shape 7"/>
          <p:cNvSpPr/>
          <p:nvPr/>
        </p:nvSpPr>
        <p:spPr>
          <a:xfrm>
            <a:off x="304800" y="1463040"/>
            <a:ext cx="5364480" cy="60960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NL" sz="2400"/>
          </a:p>
        </p:txBody>
      </p:sp>
      <p:sp>
        <p:nvSpPr>
          <p:cNvPr id="10" name="Text 8"/>
          <p:cNvSpPr/>
          <p:nvPr/>
        </p:nvSpPr>
        <p:spPr>
          <a:xfrm>
            <a:off x="426720" y="1487424"/>
            <a:ext cx="5120640" cy="560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Het Verbond (Brit)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26720" y="2133600"/>
            <a:ext cx="5120640" cy="414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733" i="1" dirty="0">
                <a:solidFill>
                  <a:srgbClr val="F5E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“Ik zal jou en jouw nakomelingen zegenen – en jij zult mijn geboden volgen.”</a:t>
            </a:r>
            <a:endParaRPr lang="en-US" sz="1733" dirty="0"/>
          </a:p>
          <a:p>
            <a:endParaRPr lang="en-US" sz="1733" dirty="0"/>
          </a:p>
          <a:p>
            <a:r>
              <a:rPr lang="en-US" sz="1733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God en Abrahams volk sluiten een belofte</a:t>
            </a:r>
            <a:endParaRPr lang="en-US" sz="1733" dirty="0"/>
          </a:p>
          <a:p>
            <a:r>
              <a:rPr lang="en-US" sz="1733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Dit verbond is de basis van het jodendom</a:t>
            </a:r>
            <a:endParaRPr lang="en-US" sz="1733" dirty="0"/>
          </a:p>
          <a:p>
            <a:r>
              <a:rPr lang="en-US" sz="1733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Het volk Israël is Gods uitverkoren volk</a:t>
            </a:r>
            <a:endParaRPr lang="en-US" sz="1733" dirty="0"/>
          </a:p>
        </p:txBody>
      </p:sp>
      <p:sp>
        <p:nvSpPr>
          <p:cNvPr id="12" name="Shape 10"/>
          <p:cNvSpPr/>
          <p:nvPr/>
        </p:nvSpPr>
        <p:spPr>
          <a:xfrm>
            <a:off x="6315456" y="1524000"/>
            <a:ext cx="60960" cy="469392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NL" sz="2400"/>
          </a:p>
        </p:txBody>
      </p:sp>
      <p:sp>
        <p:nvSpPr>
          <p:cNvPr id="13" name="Shape 11"/>
          <p:cNvSpPr/>
          <p:nvPr/>
        </p:nvSpPr>
        <p:spPr>
          <a:xfrm>
            <a:off x="6181344" y="1584960"/>
            <a:ext cx="329184" cy="329184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NL" sz="2400"/>
          </a:p>
        </p:txBody>
      </p:sp>
      <p:sp>
        <p:nvSpPr>
          <p:cNvPr id="14" name="Text 12"/>
          <p:cNvSpPr/>
          <p:nvPr/>
        </p:nvSpPr>
        <p:spPr>
          <a:xfrm>
            <a:off x="6644640" y="1524000"/>
            <a:ext cx="25603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2A52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ca. 2000 v.Chr.</a:t>
            </a:r>
            <a:endParaRPr lang="en-US" sz="1333" dirty="0"/>
          </a:p>
        </p:txBody>
      </p:sp>
      <p:sp>
        <p:nvSpPr>
          <p:cNvPr id="15" name="Text 13"/>
          <p:cNvSpPr/>
          <p:nvPr/>
        </p:nvSpPr>
        <p:spPr>
          <a:xfrm>
            <a:off x="6644640" y="1853184"/>
            <a:ext cx="512064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Abraham verlaat Ur. God sluit verbond.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181344" y="2926080"/>
            <a:ext cx="329184" cy="329184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NL" sz="2400"/>
          </a:p>
        </p:txBody>
      </p:sp>
      <p:sp>
        <p:nvSpPr>
          <p:cNvPr id="17" name="Text 15"/>
          <p:cNvSpPr/>
          <p:nvPr/>
        </p:nvSpPr>
        <p:spPr>
          <a:xfrm>
            <a:off x="6644640" y="2865120"/>
            <a:ext cx="25603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2A52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ca. 1250 v.Chr.</a:t>
            </a:r>
            <a:endParaRPr lang="en-US" sz="1333" dirty="0"/>
          </a:p>
        </p:txBody>
      </p:sp>
      <p:sp>
        <p:nvSpPr>
          <p:cNvPr id="18" name="Text 16"/>
          <p:cNvSpPr/>
          <p:nvPr/>
        </p:nvSpPr>
        <p:spPr>
          <a:xfrm>
            <a:off x="6644640" y="3194304"/>
            <a:ext cx="512064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Mozes leidt het volk uit Egypte (Exodus).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181344" y="4267200"/>
            <a:ext cx="329184" cy="329184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NL" sz="2400"/>
          </a:p>
        </p:txBody>
      </p:sp>
      <p:sp>
        <p:nvSpPr>
          <p:cNvPr id="20" name="Text 18"/>
          <p:cNvSpPr/>
          <p:nvPr/>
        </p:nvSpPr>
        <p:spPr>
          <a:xfrm>
            <a:off x="6644640" y="4206240"/>
            <a:ext cx="25603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2A52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ca. 1000 v.Chr.</a:t>
            </a:r>
            <a:endParaRPr lang="en-US" sz="1333" dirty="0"/>
          </a:p>
        </p:txBody>
      </p:sp>
      <p:sp>
        <p:nvSpPr>
          <p:cNvPr id="21" name="Text 19"/>
          <p:cNvSpPr/>
          <p:nvPr/>
        </p:nvSpPr>
        <p:spPr>
          <a:xfrm>
            <a:off x="6644640" y="4535424"/>
            <a:ext cx="512064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Koning David sticht Jeruzalem als hoofdstad.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181344" y="5608320"/>
            <a:ext cx="329184" cy="329184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NL" sz="2400"/>
          </a:p>
        </p:txBody>
      </p:sp>
      <p:sp>
        <p:nvSpPr>
          <p:cNvPr id="23" name="Text 21"/>
          <p:cNvSpPr/>
          <p:nvPr/>
        </p:nvSpPr>
        <p:spPr>
          <a:xfrm>
            <a:off x="6644640" y="5547360"/>
            <a:ext cx="25603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2A52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 n.Chr.</a:t>
            </a:r>
            <a:endParaRPr lang="en-US" sz="1333" dirty="0"/>
          </a:p>
        </p:txBody>
      </p:sp>
      <p:sp>
        <p:nvSpPr>
          <p:cNvPr id="24" name="Text 22"/>
          <p:cNvSpPr/>
          <p:nvPr/>
        </p:nvSpPr>
        <p:spPr>
          <a:xfrm>
            <a:off x="6644640" y="5876544"/>
            <a:ext cx="512064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Verwoesting Tweede Tempel – verspreiding wereldwijd.</a:t>
            </a:r>
            <a:endParaRPr lang="en-US" sz="160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F03D622-E5F6-D92E-DF69-0DBB37BFAE79}"/>
              </a:ext>
            </a:extLst>
          </p:cNvPr>
          <p:cNvSpPr/>
          <p:nvPr/>
        </p:nvSpPr>
        <p:spPr>
          <a:xfrm>
            <a:off x="219456" y="2110538"/>
            <a:ext cx="5254752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3600" b="1" cap="none" spc="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Wat is </a:t>
            </a:r>
            <a:r>
              <a:rPr lang="en-GB" sz="3600" b="1" cap="none" spc="0" dirty="0" err="1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een</a:t>
            </a:r>
            <a:r>
              <a:rPr lang="en-GB" sz="3600" b="1" cap="none" spc="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 Verbond </a:t>
            </a:r>
            <a:r>
              <a:rPr lang="en-GB" sz="3600" b="1" cap="none" spc="0" dirty="0" err="1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en</a:t>
            </a:r>
            <a:r>
              <a:rPr lang="en-GB" sz="36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 </a:t>
            </a:r>
            <a:r>
              <a:rPr lang="en-GB" sz="3600" b="1" dirty="0" err="1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waar</a:t>
            </a:r>
            <a:r>
              <a:rPr lang="en-GB" sz="36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 </a:t>
            </a:r>
            <a:r>
              <a:rPr lang="en-GB" sz="3600" b="1" dirty="0" err="1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kom</a:t>
            </a:r>
            <a:r>
              <a:rPr lang="en-GB" sz="36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 het </a:t>
            </a:r>
            <a:r>
              <a:rPr lang="en-GB" sz="3600" b="1" dirty="0" err="1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Joodse</a:t>
            </a:r>
            <a:r>
              <a:rPr lang="en-GB" sz="36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 Verbond </a:t>
            </a:r>
            <a:r>
              <a:rPr lang="en-GB" sz="3600" b="1" dirty="0" err="1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vandaan</a:t>
            </a:r>
            <a:r>
              <a:rPr lang="en-GB" sz="36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?</a:t>
            </a:r>
            <a:endParaRPr lang="en-GB" sz="3600" b="1" cap="none" spc="0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5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1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2672" y="2488"/>
            <a:ext cx="85344" cy="685800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NL" sz="2400"/>
          </a:p>
        </p:txBody>
      </p:sp>
      <p:sp>
        <p:nvSpPr>
          <p:cNvPr id="3" name="Shape 1"/>
          <p:cNvSpPr/>
          <p:nvPr/>
        </p:nvSpPr>
        <p:spPr>
          <a:xfrm>
            <a:off x="0" y="12192"/>
            <a:ext cx="12192000" cy="12801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NL" sz="2400"/>
          </a:p>
        </p:txBody>
      </p:sp>
      <p:sp>
        <p:nvSpPr>
          <p:cNvPr id="4" name="Text 2"/>
          <p:cNvSpPr/>
          <p:nvPr/>
        </p:nvSpPr>
        <p:spPr>
          <a:xfrm>
            <a:off x="365760" y="97536"/>
            <a:ext cx="1146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467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Torah </a:t>
            </a:r>
            <a:r>
              <a:rPr lang="en-US" sz="3467" b="1" dirty="0" err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</a:t>
            </a:r>
            <a:r>
              <a:rPr lang="en-US" sz="3467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de </a:t>
            </a:r>
            <a:r>
              <a:rPr lang="en-US" sz="3467" b="1" dirty="0" err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Tenach</a:t>
            </a:r>
            <a:endParaRPr lang="en-US" sz="3467" dirty="0"/>
          </a:p>
        </p:txBody>
      </p:sp>
      <p:sp>
        <p:nvSpPr>
          <p:cNvPr id="5" name="Text 3"/>
          <p:cNvSpPr/>
          <p:nvPr/>
        </p:nvSpPr>
        <p:spPr>
          <a:xfrm>
            <a:off x="365760" y="792480"/>
            <a:ext cx="1146048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i="1" dirty="0">
                <a:solidFill>
                  <a:srgbClr val="F5E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heilige boek van het jodendom</a:t>
            </a:r>
            <a:endParaRPr lang="en-US" sz="1733" dirty="0"/>
          </a:p>
        </p:txBody>
      </p:sp>
      <p:sp>
        <p:nvSpPr>
          <p:cNvPr id="7" name="Text 5"/>
          <p:cNvSpPr/>
          <p:nvPr/>
        </p:nvSpPr>
        <p:spPr>
          <a:xfrm>
            <a:off x="365760" y="6461760"/>
            <a:ext cx="97536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Levensbeschouwing – Klas 1 – Het Jodendom</a:t>
            </a:r>
            <a:endParaRPr lang="en-US" sz="1333" dirty="0"/>
          </a:p>
        </p:txBody>
      </p:sp>
      <p:sp>
        <p:nvSpPr>
          <p:cNvPr id="8" name="Shape 6"/>
          <p:cNvSpPr/>
          <p:nvPr/>
        </p:nvSpPr>
        <p:spPr>
          <a:xfrm>
            <a:off x="243840" y="1402080"/>
            <a:ext cx="2097024" cy="31699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L" sz="2400"/>
          </a:p>
        </p:txBody>
      </p:sp>
      <p:sp>
        <p:nvSpPr>
          <p:cNvPr id="9" name="Shape 7"/>
          <p:cNvSpPr/>
          <p:nvPr/>
        </p:nvSpPr>
        <p:spPr>
          <a:xfrm>
            <a:off x="243840" y="1408176"/>
            <a:ext cx="2097024" cy="60960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NL" sz="2400"/>
          </a:p>
        </p:txBody>
      </p:sp>
      <p:sp>
        <p:nvSpPr>
          <p:cNvPr id="10" name="Text 8"/>
          <p:cNvSpPr/>
          <p:nvPr/>
        </p:nvSpPr>
        <p:spPr>
          <a:xfrm>
            <a:off x="243840" y="1402080"/>
            <a:ext cx="2097024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41376" y="2072640"/>
            <a:ext cx="1901952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33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Genesis</a:t>
            </a:r>
            <a:endParaRPr lang="en-US" sz="1733" dirty="0"/>
          </a:p>
        </p:txBody>
      </p:sp>
      <p:sp>
        <p:nvSpPr>
          <p:cNvPr id="12" name="Text 10"/>
          <p:cNvSpPr/>
          <p:nvPr/>
        </p:nvSpPr>
        <p:spPr>
          <a:xfrm>
            <a:off x="341376" y="2743200"/>
            <a:ext cx="1901952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33" dirty="0">
                <a:solidFill>
                  <a:srgbClr val="F5E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בראשית</a:t>
            </a:r>
            <a:endParaRPr lang="en-US" sz="2133" dirty="0"/>
          </a:p>
        </p:txBody>
      </p:sp>
      <p:sp>
        <p:nvSpPr>
          <p:cNvPr id="13" name="Text 11"/>
          <p:cNvSpPr/>
          <p:nvPr/>
        </p:nvSpPr>
        <p:spPr>
          <a:xfrm>
            <a:off x="341376" y="3413760"/>
            <a:ext cx="1901952" cy="999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dirty="0">
                <a:solidFill>
                  <a:srgbClr val="AAC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schepping</a:t>
            </a:r>
            <a:endParaRPr lang="en-US" sz="1467" dirty="0"/>
          </a:p>
          <a:p>
            <a:pPr algn="ctr"/>
            <a:r>
              <a:rPr lang="en-US" sz="1467" dirty="0">
                <a:solidFill>
                  <a:srgbClr val="AAC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de aartsvaders</a:t>
            </a:r>
            <a:endParaRPr lang="en-US" sz="1467" dirty="0"/>
          </a:p>
        </p:txBody>
      </p:sp>
      <p:sp>
        <p:nvSpPr>
          <p:cNvPr id="14" name="Shape 12"/>
          <p:cNvSpPr/>
          <p:nvPr/>
        </p:nvSpPr>
        <p:spPr>
          <a:xfrm>
            <a:off x="2426208" y="1402080"/>
            <a:ext cx="2097024" cy="3169920"/>
          </a:xfrm>
          <a:prstGeom prst="rect">
            <a:avLst/>
          </a:prstGeom>
          <a:solidFill>
            <a:srgbClr val="1F4E82"/>
          </a:solidFill>
          <a:ln w="12700">
            <a:solidFill>
              <a:srgbClr val="1F4E82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L" sz="2400"/>
          </a:p>
        </p:txBody>
      </p:sp>
      <p:sp>
        <p:nvSpPr>
          <p:cNvPr id="15" name="Shape 13"/>
          <p:cNvSpPr/>
          <p:nvPr/>
        </p:nvSpPr>
        <p:spPr>
          <a:xfrm>
            <a:off x="2426208" y="1402080"/>
            <a:ext cx="2097024" cy="60960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NL" sz="2400"/>
          </a:p>
        </p:txBody>
      </p:sp>
      <p:sp>
        <p:nvSpPr>
          <p:cNvPr id="16" name="Text 14"/>
          <p:cNvSpPr/>
          <p:nvPr/>
        </p:nvSpPr>
        <p:spPr>
          <a:xfrm>
            <a:off x="2426208" y="1402080"/>
            <a:ext cx="2097024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2523744" y="2072640"/>
            <a:ext cx="1901952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33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Exodus</a:t>
            </a:r>
            <a:endParaRPr lang="en-US" sz="1733" dirty="0"/>
          </a:p>
        </p:txBody>
      </p:sp>
      <p:sp>
        <p:nvSpPr>
          <p:cNvPr id="18" name="Text 16"/>
          <p:cNvSpPr/>
          <p:nvPr/>
        </p:nvSpPr>
        <p:spPr>
          <a:xfrm>
            <a:off x="2523744" y="2743200"/>
            <a:ext cx="1901952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33" dirty="0">
                <a:solidFill>
                  <a:srgbClr val="F5E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שמות</a:t>
            </a:r>
            <a:endParaRPr lang="en-US" sz="2133" dirty="0"/>
          </a:p>
        </p:txBody>
      </p:sp>
      <p:sp>
        <p:nvSpPr>
          <p:cNvPr id="19" name="Text 17"/>
          <p:cNvSpPr/>
          <p:nvPr/>
        </p:nvSpPr>
        <p:spPr>
          <a:xfrm>
            <a:off x="2523744" y="3413760"/>
            <a:ext cx="1901952" cy="999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dirty="0">
                <a:solidFill>
                  <a:srgbClr val="AAC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Uittocht uit</a:t>
            </a:r>
            <a:endParaRPr lang="en-US" sz="1467" dirty="0"/>
          </a:p>
          <a:p>
            <a:pPr algn="ctr"/>
            <a:r>
              <a:rPr lang="en-US" sz="1467" dirty="0">
                <a:solidFill>
                  <a:srgbClr val="AAC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Egypte + Mozes</a:t>
            </a:r>
            <a:endParaRPr lang="en-US" sz="1467" dirty="0"/>
          </a:p>
        </p:txBody>
      </p:sp>
      <p:sp>
        <p:nvSpPr>
          <p:cNvPr id="20" name="Shape 18"/>
          <p:cNvSpPr/>
          <p:nvPr/>
        </p:nvSpPr>
        <p:spPr>
          <a:xfrm>
            <a:off x="4608576" y="1402080"/>
            <a:ext cx="2097024" cy="3169920"/>
          </a:xfrm>
          <a:prstGeom prst="rect">
            <a:avLst/>
          </a:prstGeom>
          <a:solidFill>
            <a:srgbClr val="2A5298"/>
          </a:solidFill>
          <a:ln w="12700">
            <a:solidFill>
              <a:srgbClr val="2A5298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L" sz="2400"/>
          </a:p>
        </p:txBody>
      </p:sp>
      <p:sp>
        <p:nvSpPr>
          <p:cNvPr id="21" name="Shape 19"/>
          <p:cNvSpPr/>
          <p:nvPr/>
        </p:nvSpPr>
        <p:spPr>
          <a:xfrm>
            <a:off x="4608576" y="1402080"/>
            <a:ext cx="2097024" cy="60960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NL" sz="2400"/>
          </a:p>
        </p:txBody>
      </p:sp>
      <p:sp>
        <p:nvSpPr>
          <p:cNvPr id="22" name="Text 20"/>
          <p:cNvSpPr/>
          <p:nvPr/>
        </p:nvSpPr>
        <p:spPr>
          <a:xfrm>
            <a:off x="4608576" y="1402080"/>
            <a:ext cx="2097024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4706112" y="2072640"/>
            <a:ext cx="1901952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33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Leviticus</a:t>
            </a:r>
            <a:endParaRPr lang="en-US" sz="1733" dirty="0"/>
          </a:p>
        </p:txBody>
      </p:sp>
      <p:sp>
        <p:nvSpPr>
          <p:cNvPr id="24" name="Text 22"/>
          <p:cNvSpPr/>
          <p:nvPr/>
        </p:nvSpPr>
        <p:spPr>
          <a:xfrm>
            <a:off x="4706112" y="2743200"/>
            <a:ext cx="1901952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33" dirty="0">
                <a:solidFill>
                  <a:srgbClr val="F5E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ויקרא</a:t>
            </a:r>
            <a:endParaRPr lang="en-US" sz="2133" dirty="0"/>
          </a:p>
        </p:txBody>
      </p:sp>
      <p:sp>
        <p:nvSpPr>
          <p:cNvPr id="25" name="Text 23"/>
          <p:cNvSpPr/>
          <p:nvPr/>
        </p:nvSpPr>
        <p:spPr>
          <a:xfrm>
            <a:off x="4706112" y="3413760"/>
            <a:ext cx="1901952" cy="999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dirty="0">
                <a:solidFill>
                  <a:srgbClr val="AAC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Wetten en</a:t>
            </a:r>
            <a:endParaRPr lang="en-US" sz="1467" dirty="0"/>
          </a:p>
          <a:p>
            <a:pPr algn="ctr"/>
            <a:r>
              <a:rPr lang="en-US" sz="1467" dirty="0">
                <a:solidFill>
                  <a:srgbClr val="AAC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geboden</a:t>
            </a:r>
            <a:endParaRPr lang="en-US" sz="1467" dirty="0"/>
          </a:p>
        </p:txBody>
      </p:sp>
      <p:sp>
        <p:nvSpPr>
          <p:cNvPr id="26" name="Shape 24"/>
          <p:cNvSpPr/>
          <p:nvPr/>
        </p:nvSpPr>
        <p:spPr>
          <a:xfrm>
            <a:off x="6790944" y="1402080"/>
            <a:ext cx="2097024" cy="3169920"/>
          </a:xfrm>
          <a:prstGeom prst="rect">
            <a:avLst/>
          </a:prstGeom>
          <a:solidFill>
            <a:srgbClr val="1F4E82"/>
          </a:solidFill>
          <a:ln w="12700">
            <a:solidFill>
              <a:srgbClr val="1F4E82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L" sz="2400"/>
          </a:p>
        </p:txBody>
      </p:sp>
      <p:sp>
        <p:nvSpPr>
          <p:cNvPr id="27" name="Shape 25"/>
          <p:cNvSpPr/>
          <p:nvPr/>
        </p:nvSpPr>
        <p:spPr>
          <a:xfrm>
            <a:off x="6790944" y="1402080"/>
            <a:ext cx="2097024" cy="60960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NL" sz="2400"/>
          </a:p>
        </p:txBody>
      </p:sp>
      <p:sp>
        <p:nvSpPr>
          <p:cNvPr id="28" name="Text 26"/>
          <p:cNvSpPr/>
          <p:nvPr/>
        </p:nvSpPr>
        <p:spPr>
          <a:xfrm>
            <a:off x="6790944" y="1402080"/>
            <a:ext cx="2097024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6888480" y="2072640"/>
            <a:ext cx="1901952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33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Numeri</a:t>
            </a:r>
            <a:endParaRPr lang="en-US" sz="1733" dirty="0"/>
          </a:p>
        </p:txBody>
      </p:sp>
      <p:sp>
        <p:nvSpPr>
          <p:cNvPr id="30" name="Text 28"/>
          <p:cNvSpPr/>
          <p:nvPr/>
        </p:nvSpPr>
        <p:spPr>
          <a:xfrm>
            <a:off x="6888480" y="2743200"/>
            <a:ext cx="1901952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33" dirty="0">
                <a:solidFill>
                  <a:srgbClr val="F5E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במדבר</a:t>
            </a:r>
            <a:endParaRPr lang="en-US" sz="2133" dirty="0"/>
          </a:p>
        </p:txBody>
      </p:sp>
      <p:sp>
        <p:nvSpPr>
          <p:cNvPr id="31" name="Text 29"/>
          <p:cNvSpPr/>
          <p:nvPr/>
        </p:nvSpPr>
        <p:spPr>
          <a:xfrm>
            <a:off x="6888480" y="3413760"/>
            <a:ext cx="1901952" cy="999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dirty="0">
                <a:solidFill>
                  <a:srgbClr val="AAC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Woestijnreis</a:t>
            </a:r>
            <a:endParaRPr lang="en-US" sz="1467" dirty="0"/>
          </a:p>
          <a:p>
            <a:pPr algn="ctr"/>
            <a:r>
              <a:rPr lang="en-US" sz="1467" dirty="0">
                <a:solidFill>
                  <a:srgbClr val="AAC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naar Kanaän</a:t>
            </a:r>
            <a:endParaRPr lang="en-US" sz="1467" dirty="0"/>
          </a:p>
        </p:txBody>
      </p:sp>
      <p:sp>
        <p:nvSpPr>
          <p:cNvPr id="32" name="Shape 30"/>
          <p:cNvSpPr/>
          <p:nvPr/>
        </p:nvSpPr>
        <p:spPr>
          <a:xfrm>
            <a:off x="8973312" y="1402080"/>
            <a:ext cx="2097024" cy="31699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L" sz="2400"/>
          </a:p>
        </p:txBody>
      </p:sp>
      <p:sp>
        <p:nvSpPr>
          <p:cNvPr id="33" name="Shape 31"/>
          <p:cNvSpPr/>
          <p:nvPr/>
        </p:nvSpPr>
        <p:spPr>
          <a:xfrm>
            <a:off x="8973312" y="1402080"/>
            <a:ext cx="2097024" cy="60960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NL" sz="2400"/>
          </a:p>
        </p:txBody>
      </p:sp>
      <p:sp>
        <p:nvSpPr>
          <p:cNvPr id="34" name="Text 32"/>
          <p:cNvSpPr/>
          <p:nvPr/>
        </p:nvSpPr>
        <p:spPr>
          <a:xfrm>
            <a:off x="8973312" y="1402080"/>
            <a:ext cx="2097024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9070848" y="2072640"/>
            <a:ext cx="1901952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33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Deuteronomium</a:t>
            </a:r>
            <a:endParaRPr lang="en-US" sz="1733" dirty="0"/>
          </a:p>
        </p:txBody>
      </p:sp>
      <p:sp>
        <p:nvSpPr>
          <p:cNvPr id="36" name="Text 34"/>
          <p:cNvSpPr/>
          <p:nvPr/>
        </p:nvSpPr>
        <p:spPr>
          <a:xfrm>
            <a:off x="9070848" y="2743200"/>
            <a:ext cx="1901952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33" dirty="0">
                <a:solidFill>
                  <a:srgbClr val="F5E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דברים</a:t>
            </a:r>
            <a:endParaRPr lang="en-US" sz="2133" dirty="0"/>
          </a:p>
        </p:txBody>
      </p:sp>
      <p:sp>
        <p:nvSpPr>
          <p:cNvPr id="37" name="Text 35"/>
          <p:cNvSpPr/>
          <p:nvPr/>
        </p:nvSpPr>
        <p:spPr>
          <a:xfrm>
            <a:off x="9070848" y="3413760"/>
            <a:ext cx="1901952" cy="999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dirty="0">
                <a:solidFill>
                  <a:srgbClr val="AAC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Herhaling wetten</a:t>
            </a:r>
            <a:endParaRPr lang="en-US" sz="1467" dirty="0"/>
          </a:p>
          <a:p>
            <a:pPr algn="ctr"/>
            <a:r>
              <a:rPr lang="en-US" sz="1467" dirty="0">
                <a:solidFill>
                  <a:srgbClr val="AAC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voor het volk</a:t>
            </a:r>
            <a:endParaRPr lang="en-US" sz="1467" dirty="0"/>
          </a:p>
        </p:txBody>
      </p:sp>
      <p:sp>
        <p:nvSpPr>
          <p:cNvPr id="38" name="Shape 36"/>
          <p:cNvSpPr/>
          <p:nvPr/>
        </p:nvSpPr>
        <p:spPr>
          <a:xfrm>
            <a:off x="243840" y="4700887"/>
            <a:ext cx="11704320" cy="1706880"/>
          </a:xfrm>
          <a:prstGeom prst="rect">
            <a:avLst/>
          </a:prstGeom>
          <a:solidFill>
            <a:srgbClr val="D6E4F7"/>
          </a:solidFill>
          <a:ln w="6350">
            <a:solidFill>
              <a:srgbClr val="2A5298"/>
            </a:solidFill>
            <a:prstDash val="solid"/>
          </a:ln>
        </p:spPr>
        <p:txBody>
          <a:bodyPr/>
          <a:lstStyle/>
          <a:p>
            <a:endParaRPr lang="en-NL" sz="2400"/>
          </a:p>
        </p:txBody>
      </p:sp>
      <p:sp>
        <p:nvSpPr>
          <p:cNvPr id="39" name="Text 37"/>
          <p:cNvSpPr/>
          <p:nvPr/>
        </p:nvSpPr>
        <p:spPr>
          <a:xfrm>
            <a:off x="426720" y="4876800"/>
            <a:ext cx="11338560" cy="1560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67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Tenach </a:t>
            </a:r>
            <a:r>
              <a:rPr lang="en-US" sz="1667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Torah + Neviʼim (profeten) + Ketuvim (geschriften) = het complete joodse </a:t>
            </a:r>
            <a:r>
              <a:rPr lang="en-US" sz="1667" dirty="0" err="1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heilige</a:t>
            </a:r>
            <a:r>
              <a:rPr lang="en-US" sz="1667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67" dirty="0" err="1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boek</a:t>
            </a:r>
            <a:endParaRPr lang="en-US" sz="1667" dirty="0">
              <a:solidFill>
                <a:srgbClr val="1C1C2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br>
              <a:rPr lang="en-US" sz="1667" dirty="0">
                <a:solidFill>
                  <a:srgbClr val="1C1C2E"/>
                </a:solidFill>
                <a:latin typeface="Calibri" pitchFamily="34" charset="0"/>
                <a:cs typeface="Calibri" pitchFamily="34" charset="-120"/>
              </a:rPr>
            </a:br>
            <a:r>
              <a:rPr lang="en-US" sz="1667" b="1" dirty="0">
                <a:solidFill>
                  <a:srgbClr val="1C1C2E"/>
                </a:solidFill>
                <a:latin typeface="Calibri" pitchFamily="34" charset="0"/>
                <a:cs typeface="Calibri" pitchFamily="34" charset="-120"/>
              </a:rPr>
              <a:t>De Torah = </a:t>
            </a:r>
            <a:r>
              <a:rPr lang="en-US" sz="1667" dirty="0">
                <a:solidFill>
                  <a:srgbClr val="1C1C2E"/>
                </a:solidFill>
                <a:latin typeface="Calibri" pitchFamily="34" charset="0"/>
                <a:cs typeface="Calibri" pitchFamily="34" charset="-120"/>
              </a:rPr>
              <a:t>Het </a:t>
            </a:r>
            <a:r>
              <a:rPr lang="en-US" sz="1667" dirty="0" err="1">
                <a:solidFill>
                  <a:srgbClr val="1C1C2E"/>
                </a:solidFill>
                <a:latin typeface="Calibri" pitchFamily="34" charset="0"/>
                <a:cs typeface="Calibri" pitchFamily="34" charset="-120"/>
              </a:rPr>
              <a:t>belangrijkste</a:t>
            </a:r>
            <a:r>
              <a:rPr lang="en-US" sz="1667" dirty="0">
                <a:solidFill>
                  <a:srgbClr val="1C1C2E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1667" dirty="0" err="1">
                <a:solidFill>
                  <a:srgbClr val="1C1C2E"/>
                </a:solidFill>
                <a:latin typeface="Calibri" pitchFamily="34" charset="0"/>
                <a:cs typeface="Calibri" pitchFamily="34" charset="-120"/>
              </a:rPr>
              <a:t>gedeelte</a:t>
            </a:r>
            <a:r>
              <a:rPr lang="en-US" sz="1667" dirty="0">
                <a:solidFill>
                  <a:srgbClr val="1C1C2E"/>
                </a:solidFill>
                <a:latin typeface="Calibri" pitchFamily="34" charset="0"/>
                <a:cs typeface="Calibri" pitchFamily="34" charset="-120"/>
              </a:rPr>
              <a:t> van de </a:t>
            </a:r>
            <a:r>
              <a:rPr lang="en-US" sz="1667" dirty="0" err="1">
                <a:solidFill>
                  <a:srgbClr val="1C1C2E"/>
                </a:solidFill>
                <a:latin typeface="Calibri" pitchFamily="34" charset="0"/>
                <a:cs typeface="Calibri" pitchFamily="34" charset="-120"/>
              </a:rPr>
              <a:t>Tenach</a:t>
            </a:r>
            <a:r>
              <a:rPr lang="en-US" sz="1667" dirty="0">
                <a:solidFill>
                  <a:srgbClr val="1C1C2E"/>
                </a:solidFill>
                <a:latin typeface="Calibri" pitchFamily="34" charset="0"/>
                <a:cs typeface="Calibri" pitchFamily="34" charset="-120"/>
              </a:rPr>
              <a:t>, met </a:t>
            </a:r>
            <a:r>
              <a:rPr lang="en-US" sz="1667" dirty="0" err="1">
                <a:solidFill>
                  <a:srgbClr val="1C1C2E"/>
                </a:solidFill>
                <a:latin typeface="Calibri" pitchFamily="34" charset="0"/>
                <a:cs typeface="Calibri" pitchFamily="34" charset="-120"/>
              </a:rPr>
              <a:t>daarin</a:t>
            </a:r>
            <a:r>
              <a:rPr lang="en-US" sz="1667" dirty="0">
                <a:solidFill>
                  <a:srgbClr val="1C1C2E"/>
                </a:solidFill>
                <a:latin typeface="Calibri" pitchFamily="34" charset="0"/>
                <a:cs typeface="Calibri" pitchFamily="34" charset="-120"/>
              </a:rPr>
              <a:t> de </a:t>
            </a:r>
            <a:r>
              <a:rPr lang="en-US" sz="1667" dirty="0" err="1">
                <a:solidFill>
                  <a:srgbClr val="1C1C2E"/>
                </a:solidFill>
                <a:latin typeface="Calibri" pitchFamily="34" charset="0"/>
                <a:cs typeface="Calibri" pitchFamily="34" charset="-120"/>
              </a:rPr>
              <a:t>wettne</a:t>
            </a:r>
            <a:r>
              <a:rPr lang="en-US" sz="1667" dirty="0">
                <a:solidFill>
                  <a:srgbClr val="1C1C2E"/>
                </a:solidFill>
                <a:latin typeface="Calibri" pitchFamily="34" charset="0"/>
                <a:cs typeface="Calibri" pitchFamily="34" charset="-120"/>
              </a:rPr>
              <a:t> die God </a:t>
            </a:r>
            <a:r>
              <a:rPr lang="en-US" sz="1667" dirty="0" err="1">
                <a:solidFill>
                  <a:srgbClr val="1C1C2E"/>
                </a:solidFill>
                <a:latin typeface="Calibri" pitchFamily="34" charset="0"/>
                <a:cs typeface="Calibri" pitchFamily="34" charset="-120"/>
              </a:rPr>
              <a:t>aan</a:t>
            </a:r>
            <a:r>
              <a:rPr lang="en-US" sz="1667" dirty="0">
                <a:solidFill>
                  <a:srgbClr val="1C1C2E"/>
                </a:solidFill>
                <a:latin typeface="Calibri" pitchFamily="34" charset="0"/>
                <a:cs typeface="Calibri" pitchFamily="34" charset="-120"/>
              </a:rPr>
              <a:t> de Joden heft </a:t>
            </a:r>
            <a:r>
              <a:rPr lang="en-US" sz="1667" dirty="0" err="1">
                <a:solidFill>
                  <a:srgbClr val="1C1C2E"/>
                </a:solidFill>
                <a:latin typeface="Calibri" pitchFamily="34" charset="0"/>
                <a:cs typeface="Calibri" pitchFamily="34" charset="-120"/>
              </a:rPr>
              <a:t>gegeven</a:t>
            </a:r>
            <a:endParaRPr lang="en-US" sz="1667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2192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NL" sz="2400"/>
          </a:p>
        </p:txBody>
      </p:sp>
      <p:sp>
        <p:nvSpPr>
          <p:cNvPr id="3" name="Shape 1"/>
          <p:cNvSpPr/>
          <p:nvPr/>
        </p:nvSpPr>
        <p:spPr>
          <a:xfrm>
            <a:off x="0" y="6736080"/>
            <a:ext cx="12192000" cy="12192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NL" sz="2400"/>
          </a:p>
        </p:txBody>
      </p:sp>
      <p:sp>
        <p:nvSpPr>
          <p:cNvPr id="5" name="Text 3"/>
          <p:cNvSpPr/>
          <p:nvPr/>
        </p:nvSpPr>
        <p:spPr>
          <a:xfrm>
            <a:off x="365760" y="6461760"/>
            <a:ext cx="97536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Levensbeschouwing – Klas 1 – Het Jodendom</a:t>
            </a:r>
            <a:endParaRPr lang="en-US" sz="1333" dirty="0"/>
          </a:p>
        </p:txBody>
      </p:sp>
      <p:sp>
        <p:nvSpPr>
          <p:cNvPr id="6" name="Text 4"/>
          <p:cNvSpPr/>
          <p:nvPr/>
        </p:nvSpPr>
        <p:spPr>
          <a:xfrm>
            <a:off x="487680" y="243840"/>
            <a:ext cx="60960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733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Monotheïsme</a:t>
            </a:r>
            <a:endParaRPr lang="en-US" sz="3733" dirty="0"/>
          </a:p>
        </p:txBody>
      </p:sp>
      <p:sp>
        <p:nvSpPr>
          <p:cNvPr id="7" name="Text 5"/>
          <p:cNvSpPr/>
          <p:nvPr/>
        </p:nvSpPr>
        <p:spPr>
          <a:xfrm>
            <a:off x="6827520" y="243840"/>
            <a:ext cx="48768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2933" i="1" dirty="0">
                <a:solidFill>
                  <a:srgbClr val="F5E6A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één God</a:t>
            </a:r>
            <a:endParaRPr lang="en-US" sz="2933" dirty="0"/>
          </a:p>
        </p:txBody>
      </p:sp>
      <p:sp>
        <p:nvSpPr>
          <p:cNvPr id="8" name="Shape 6"/>
          <p:cNvSpPr/>
          <p:nvPr/>
        </p:nvSpPr>
        <p:spPr>
          <a:xfrm>
            <a:off x="1828800" y="1280160"/>
            <a:ext cx="8534400" cy="2865120"/>
          </a:xfrm>
          <a:prstGeom prst="rect">
            <a:avLst/>
          </a:prstGeom>
          <a:solidFill>
            <a:srgbClr val="2A5298"/>
          </a:solidFill>
          <a:ln w="19050">
            <a:solidFill>
              <a:srgbClr val="C9A227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L" sz="2400"/>
          </a:p>
        </p:txBody>
      </p:sp>
      <p:sp>
        <p:nvSpPr>
          <p:cNvPr id="9" name="Text 7"/>
          <p:cNvSpPr/>
          <p:nvPr/>
        </p:nvSpPr>
        <p:spPr>
          <a:xfrm>
            <a:off x="1889760" y="134112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733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שמע ישראל</a:t>
            </a:r>
            <a:endParaRPr lang="en-US" sz="3733" dirty="0"/>
          </a:p>
        </p:txBody>
      </p:sp>
      <p:sp>
        <p:nvSpPr>
          <p:cNvPr id="10" name="Text 8"/>
          <p:cNvSpPr/>
          <p:nvPr/>
        </p:nvSpPr>
        <p:spPr>
          <a:xfrm>
            <a:off x="1889760" y="2194560"/>
            <a:ext cx="84124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67" i="1" dirty="0">
                <a:solidFill>
                  <a:srgbClr val="F5E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Shema Yisrael</a:t>
            </a:r>
            <a:endParaRPr lang="en-US" sz="1867" dirty="0"/>
          </a:p>
        </p:txBody>
      </p:sp>
      <p:sp>
        <p:nvSpPr>
          <p:cNvPr id="11" name="Text 9"/>
          <p:cNvSpPr/>
          <p:nvPr/>
        </p:nvSpPr>
        <p:spPr>
          <a:xfrm>
            <a:off x="2072640" y="2706624"/>
            <a:ext cx="80467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67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“Hoor, Israël, de Eeuwige is onze God, de Eeuwige is één.”</a:t>
            </a:r>
            <a:endParaRPr lang="en-US" sz="1867" dirty="0"/>
          </a:p>
        </p:txBody>
      </p:sp>
      <p:sp>
        <p:nvSpPr>
          <p:cNvPr id="12" name="Shape 10"/>
          <p:cNvSpPr/>
          <p:nvPr/>
        </p:nvSpPr>
        <p:spPr>
          <a:xfrm>
            <a:off x="609600" y="4413504"/>
            <a:ext cx="3474720" cy="2011680"/>
          </a:xfrm>
          <a:prstGeom prst="rect">
            <a:avLst/>
          </a:prstGeom>
          <a:solidFill>
            <a:srgbClr val="2A5298"/>
          </a:solidFill>
          <a:ln w="1016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NL" sz="2400"/>
          </a:p>
        </p:txBody>
      </p:sp>
      <p:sp>
        <p:nvSpPr>
          <p:cNvPr id="13" name="Text 11"/>
          <p:cNvSpPr/>
          <p:nvPr/>
        </p:nvSpPr>
        <p:spPr>
          <a:xfrm>
            <a:off x="731520" y="4486656"/>
            <a:ext cx="323088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Wanneer?</a:t>
            </a:r>
            <a:endParaRPr lang="en-US" sz="1733" dirty="0"/>
          </a:p>
        </p:txBody>
      </p:sp>
      <p:sp>
        <p:nvSpPr>
          <p:cNvPr id="14" name="Text 12"/>
          <p:cNvSpPr/>
          <p:nvPr/>
        </p:nvSpPr>
        <p:spPr>
          <a:xfrm>
            <a:off x="731520" y="4998720"/>
            <a:ext cx="323088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2x per dag:</a:t>
            </a:r>
            <a:endParaRPr lang="en-US" sz="1600" dirty="0"/>
          </a:p>
          <a:p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‘s ochtends en</a:t>
            </a:r>
            <a:endParaRPr lang="en-US" sz="1600" dirty="0"/>
          </a:p>
          <a:p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‘s avonds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450080" y="4413504"/>
            <a:ext cx="3474720" cy="2011680"/>
          </a:xfrm>
          <a:prstGeom prst="rect">
            <a:avLst/>
          </a:prstGeom>
          <a:solidFill>
            <a:srgbClr val="2A5298"/>
          </a:solidFill>
          <a:ln w="1016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NL" sz="2400"/>
          </a:p>
        </p:txBody>
      </p:sp>
      <p:sp>
        <p:nvSpPr>
          <p:cNvPr id="16" name="Text 14"/>
          <p:cNvSpPr/>
          <p:nvPr/>
        </p:nvSpPr>
        <p:spPr>
          <a:xfrm>
            <a:off x="4572000" y="4486656"/>
            <a:ext cx="323088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Monotheïsme</a:t>
            </a:r>
            <a:endParaRPr lang="en-US" sz="1733" dirty="0"/>
          </a:p>
        </p:txBody>
      </p:sp>
      <p:sp>
        <p:nvSpPr>
          <p:cNvPr id="17" name="Text 15"/>
          <p:cNvSpPr/>
          <p:nvPr/>
        </p:nvSpPr>
        <p:spPr>
          <a:xfrm>
            <a:off x="4572000" y="4998720"/>
            <a:ext cx="323088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God – geen beelden,</a:t>
            </a:r>
            <a:endParaRPr lang="en-US" sz="1600" dirty="0"/>
          </a:p>
          <a:p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geen andere goden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290560" y="4413504"/>
            <a:ext cx="3474720" cy="2011680"/>
          </a:xfrm>
          <a:prstGeom prst="rect">
            <a:avLst/>
          </a:prstGeom>
          <a:solidFill>
            <a:srgbClr val="2A5298"/>
          </a:solidFill>
          <a:ln w="1016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NL" sz="2400"/>
          </a:p>
        </p:txBody>
      </p:sp>
      <p:sp>
        <p:nvSpPr>
          <p:cNvPr id="19" name="Text 17"/>
          <p:cNvSpPr/>
          <p:nvPr/>
        </p:nvSpPr>
        <p:spPr>
          <a:xfrm>
            <a:off x="8412480" y="4486656"/>
            <a:ext cx="323088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religies</a:t>
            </a:r>
            <a:endParaRPr lang="en-US" sz="1733" dirty="0"/>
          </a:p>
        </p:txBody>
      </p:sp>
      <p:sp>
        <p:nvSpPr>
          <p:cNvPr id="20" name="Text 18"/>
          <p:cNvSpPr/>
          <p:nvPr/>
        </p:nvSpPr>
        <p:spPr>
          <a:xfrm>
            <a:off x="8412480" y="4998720"/>
            <a:ext cx="323088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Jodendom → Christendom</a:t>
            </a:r>
            <a:endParaRPr lang="en-US" sz="1600" dirty="0"/>
          </a:p>
          <a:p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Islam – allemaal</a:t>
            </a:r>
            <a:endParaRPr lang="en-US" sz="1600" dirty="0"/>
          </a:p>
          <a:p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monotheïstisch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B911F-9DF6-9B7F-C6B0-CADABB634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L" dirty="0"/>
              <a:t>Opdracht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B660AD-4717-6E2A-5740-B56525C654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NL" dirty="0"/>
              <a:t>Op teams openen jullie allemaal de eerste mededeling op de LV pagina: ”opdracht Jodendom”. Hierop staan 9 vragen. Sommigen gaan over de les, anderen over de tekst over feestdagen daaronder.</a:t>
            </a:r>
          </a:p>
          <a:p>
            <a:r>
              <a:rPr lang="en-NL" dirty="0"/>
              <a:t>Je beantwoord de vragen in je schrift. </a:t>
            </a:r>
          </a:p>
          <a:p>
            <a:r>
              <a:rPr lang="en-NL" dirty="0"/>
              <a:t>Eerst werk je alleen (7 minuten), dan mag je </a:t>
            </a:r>
            <a:r>
              <a:rPr lang="en-NL" b="1" dirty="0"/>
              <a:t>als de docent dat zegt</a:t>
            </a:r>
            <a:r>
              <a:rPr lang="en-NL" dirty="0"/>
              <a:t> 3 minuten overleggen.</a:t>
            </a:r>
          </a:p>
          <a:p>
            <a:r>
              <a:rPr lang="en-NL" dirty="0"/>
              <a:t>Als je klaar bent, doe je je laptop dicht. </a:t>
            </a:r>
          </a:p>
        </p:txBody>
      </p:sp>
    </p:spTree>
    <p:extLst>
      <p:ext uri="{BB962C8B-B14F-4D97-AF65-F5344CB8AC3E}">
        <p14:creationId xmlns:p14="http://schemas.microsoft.com/office/powerpoint/2010/main" val="34535734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A319766-36DF-49BE-7D6C-31A726A517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B118511F-948B-BC68-BA19-E512B8010C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l-NL"/>
          </a:p>
        </p:txBody>
      </p:sp>
      <p:pic>
        <p:nvPicPr>
          <p:cNvPr id="10242" name="Picture 2" descr="The World’s First Commercial Sabbath Refrigerator - Culinary Depot">
            <a:extLst>
              <a:ext uri="{FF2B5EF4-FFF2-40B4-BE49-F238E27FC236}">
                <a16:creationId xmlns:a16="http://schemas.microsoft.com/office/drawing/2014/main" id="{258FCD10-FD6F-D679-1B6D-97623D0029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79" y="0"/>
            <a:ext cx="4845132" cy="27267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4" name="Picture 4" descr="A sign for a Sabbath elevator in the lobby of New York Presbyterian ...">
            <a:extLst>
              <a:ext uri="{FF2B5EF4-FFF2-40B4-BE49-F238E27FC236}">
                <a16:creationId xmlns:a16="http://schemas.microsoft.com/office/drawing/2014/main" id="{2A389771-CBB8-66BF-3D06-EE416B6F61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8908" y="0"/>
            <a:ext cx="5371419" cy="47346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6" name="Picture 6" descr="How to Host Shabbat Dinner | My Jewish Learning">
            <a:extLst>
              <a:ext uri="{FF2B5EF4-FFF2-40B4-BE49-F238E27FC236}">
                <a16:creationId xmlns:a16="http://schemas.microsoft.com/office/drawing/2014/main" id="{3E9B677E-F95F-5189-BE9B-BCDBAF0ECE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79" y="2726795"/>
            <a:ext cx="5804560" cy="3869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150785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4517</TotalTime>
  <Words>517</Words>
  <Application>Microsoft Macintosh PowerPoint</Application>
  <PresentationFormat>Widescreen</PresentationFormat>
  <Paragraphs>96</Paragraphs>
  <Slides>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Aptos</vt:lpstr>
      <vt:lpstr>Aptos Display</vt:lpstr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Opdracht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Alexander de Jeger</dc:creator>
  <cp:lastModifiedBy>Alexander de Jeger</cp:lastModifiedBy>
  <cp:revision>1</cp:revision>
  <dcterms:created xsi:type="dcterms:W3CDTF">2026-03-19T10:20:21Z</dcterms:created>
  <dcterms:modified xsi:type="dcterms:W3CDTF">2026-03-22T13:37:49Z</dcterms:modified>
</cp:coreProperties>
</file>