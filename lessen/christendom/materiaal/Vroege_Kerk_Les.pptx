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21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3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332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10833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2216672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325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443334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55416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665001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7758351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8866687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9975023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11083359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B0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Vroege Kerk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Een mediterrane schatkaarttocht — van Jeruzalem tot Milaan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9050">
            <a:solidFill>
              <a:srgbClr val="B08C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4358488" y="4160520"/>
            <a:ext cx="640080" cy="640080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309" y="4333342"/>
            <a:ext cx="294437" cy="294437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775808" y="4160520"/>
            <a:ext cx="640080" cy="640080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629" y="4333342"/>
            <a:ext cx="294437" cy="294437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193128" y="4160520"/>
            <a:ext cx="640080" cy="640080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949" y="4333342"/>
            <a:ext cx="294437" cy="29443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998568" y="4480560"/>
            <a:ext cx="777240" cy="0"/>
          </a:xfrm>
          <a:prstGeom prst="line">
            <a:avLst/>
          </a:prstGeom>
          <a:noFill/>
          <a:ln w="12700">
            <a:solidFill>
              <a:srgbClr val="B08C3F"/>
            </a:solidFill>
            <a:prstDash val="dash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24"/>
          <p:cNvSpPr/>
          <p:nvPr/>
        </p:nvSpPr>
        <p:spPr>
          <a:xfrm>
            <a:off x="6415888" y="4480560"/>
            <a:ext cx="777240" cy="0"/>
          </a:xfrm>
          <a:prstGeom prst="line">
            <a:avLst/>
          </a:prstGeom>
          <a:noFill/>
          <a:ln w="12700">
            <a:solidFill>
              <a:srgbClr val="B08C3F"/>
            </a:solidFill>
            <a:prstDash val="dash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5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313 n.Chr.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 gaan we doen?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les in vier stappen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4856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363828" y="2212848"/>
            <a:ext cx="768096" cy="768096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14" y="2420234"/>
            <a:ext cx="353324" cy="3533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736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</a:t>
            </a:r>
            <a:r>
              <a:rPr lang="en-US" sz="1550" b="1" dirty="0" err="1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Herhaling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73456" y="3749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7736" y="4937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0824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Shape 8"/>
          <p:cNvSpPr/>
          <p:nvPr/>
        </p:nvSpPr>
        <p:spPr>
          <a:xfrm>
            <a:off x="7149796" y="2258568"/>
            <a:ext cx="768096" cy="768096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182" y="2465954"/>
            <a:ext cx="353324" cy="3533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13704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· Schatkaarttocht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13704" y="4983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79496" y="1825752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4198468" y="2209800"/>
            <a:ext cx="768096" cy="768096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854" y="2417186"/>
            <a:ext cx="353324" cy="3533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62376" y="31516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Korte </a:t>
            </a:r>
            <a:r>
              <a:rPr lang="en-US" sz="1550" b="1" dirty="0" err="1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uitleg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3508096" y="3745992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462376" y="4934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080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18"/>
          <p:cNvSpPr/>
          <p:nvPr/>
        </p:nvSpPr>
        <p:spPr>
          <a:xfrm>
            <a:off x="10059772" y="2212848"/>
            <a:ext cx="768096" cy="768096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158" y="2420234"/>
            <a:ext cx="353324" cy="3533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36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· Exit ticket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23680" y="4937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Eerst even ophalen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al weet over het begin van het christendom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5168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975208" y="2240280"/>
            <a:ext cx="713232" cy="713232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80" y="243285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9608" y="2167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Jezus van Nazaret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89608" y="2651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Joodse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leraar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Galilea. Rond het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Jeruzalem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gekruisigd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door de </a:t>
            </a:r>
            <a:r>
              <a:rPr lang="en-US" sz="1300" dirty="0" err="1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Romeinen</a:t>
            </a: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6598768" y="224028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40" y="243285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2167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Opstanding &amp; Pinksteren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13168" y="2651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Christenen geloven dat Jezus opstond uit de dood. Met Pinksteren begonnen zijn leerlingen het nieuws te verspreiden.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5168" y="4114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975208" y="4480560"/>
            <a:ext cx="713232" cy="713232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780" y="467313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89608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Het Nieuwe Testament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89608" y="4892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evangeliën beschrijven Jezus' leven; het boek Handelingen en de brieven van Paulus vertellen hoe de kerk groeide.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70168" y="4050792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5"/>
          <p:cNvSpPr/>
          <p:nvPr/>
        </p:nvSpPr>
        <p:spPr>
          <a:xfrm>
            <a:off x="6598768" y="448056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40" y="4673133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3168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Van groepje naar wereldgeloof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13168" y="4892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nog geen 300 jaar groeide een kleine groep volgelingen uit tot een geloof in het hele Romeinse Rijk.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Vier woorden die je onderweg tegenkomt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je ze in de tekst? Klik op de blauwe woorden met ⓘ voor uitleg.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5168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AF0F2"/>
          </a:solidFill>
          <a:ln w="12700">
            <a:solidFill>
              <a:srgbClr val="D6E2E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975208" y="219456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80" y="238713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9608" y="21396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5F7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Apostel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89608" y="2633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'gezondene': een van de leerlingen die Jezus eropuit stuurde om zijn boodschap te verspreiden.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AF0F2"/>
          </a:solidFill>
          <a:ln w="12700">
            <a:solidFill>
              <a:srgbClr val="D6E2E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6598768" y="219456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40" y="238713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21396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5F7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513168" y="2633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Erop uittrekken om over het geloof te vertellen. Paulus maakte drie grote zendingsreizen.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5168" y="40690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AF0F2"/>
          </a:solidFill>
          <a:ln w="12700">
            <a:solidFill>
              <a:srgbClr val="D6E2E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975208" y="443484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780" y="462741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89608" y="43799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5F7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Martelaar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889608" y="48737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het Griekse 'getuige': iemand die liever sterft dan zijn geloof opgeeft.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8728" y="40690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AF0F2"/>
          </a:solidFill>
          <a:ln w="12700">
            <a:solidFill>
              <a:srgbClr val="D6E2E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5"/>
          <p:cNvSpPr/>
          <p:nvPr/>
        </p:nvSpPr>
        <p:spPr>
          <a:xfrm>
            <a:off x="6598768" y="4434840"/>
            <a:ext cx="713232" cy="713232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40" y="4627413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3168" y="43799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5F7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Edict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513168" y="48737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officieel bevel van de keizer dat in het hele </a:t>
            </a:r>
            <a:r>
              <a:rPr lang="en-US" sz="1300" dirty="0" err="1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rijk</a:t>
            </a: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geldt</a:t>
            </a: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zoals</a:t>
            </a:r>
            <a:r>
              <a:rPr lang="en-US" sz="13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 Edict van Milaan (313).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3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833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2216672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3325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43334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5416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65001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758351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8866687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9975023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11083359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 werkt de schatkaarttocht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haltes rond de Middellandse Zee — volg de gestippelde route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80160" y="1965960"/>
            <a:ext cx="658368" cy="658368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19" y="2143719"/>
            <a:ext cx="302849" cy="3028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194560" y="19476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Klik op de kaart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94960" y="1920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volgende halte door op het rode zegel te klikken. Vergrendelde haltes openen zich pas later.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80160" y="2953512"/>
            <a:ext cx="658368" cy="658368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919" y="3131271"/>
            <a:ext cx="302849" cy="30284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94560" y="29352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Lees eerst alles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394960" y="290779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Bekijk alle vier de tabbladen: inleiding, persoon, bijbeltekst en afbeelding. Daarna gaan de vragen open.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280160" y="3941064"/>
            <a:ext cx="658368" cy="658368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919" y="4118823"/>
            <a:ext cx="302849" cy="30284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94560" y="39227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Beantwoord de vragen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394960" y="38953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Meerkeuze, invullen, open vragen en sleepvragen. Fout? Dan maak je de vraag opnieuw.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280160" y="4928616"/>
            <a:ext cx="658368" cy="658368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919" y="5106375"/>
            <a:ext cx="302849" cy="30284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49103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Volg de route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394960" y="48828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voltooide halte ontgrendelt de </a:t>
            </a:r>
            <a:r>
              <a:rPr lang="en-US" sz="1300" dirty="0" err="1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</a:t>
            </a:r>
            <a:r>
              <a:rPr lang="en-US" sz="1300" dirty="0">
                <a:solidFill>
                  <a:srgbClr val="E8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van Jeruzalem helemaal tot Milaan.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Punten verdienen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loont om rustig te lezen en in één keer goed te antwoorden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4856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400404" y="2286000"/>
            <a:ext cx="694944" cy="694944"/>
          </a:xfrm>
          <a:prstGeom prst="ellipse">
            <a:avLst/>
          </a:prstGeom>
          <a:solidFill>
            <a:srgbClr val="4A7C59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038" y="2473635"/>
            <a:ext cx="319674" cy="3196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736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A7C5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27736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7736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Goed antwoord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024" y="45902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elke vraag die je goed beantwoordt.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3504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9"/>
          <p:cNvSpPr/>
          <p:nvPr/>
        </p:nvSpPr>
        <p:spPr>
          <a:xfrm>
            <a:off x="4299052" y="2286000"/>
            <a:ext cx="694944" cy="694944"/>
          </a:xfrm>
          <a:prstGeom prst="ellipse">
            <a:avLst/>
          </a:prstGeom>
          <a:solidFill>
            <a:srgbClr val="B08C3F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86" y="2473635"/>
            <a:ext cx="319674" cy="3196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6384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B08C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+5</a:t>
            </a:r>
            <a:endParaRPr lang="en-US" sz="5000" dirty="0"/>
          </a:p>
        </p:txBody>
      </p:sp>
      <p:sp>
        <p:nvSpPr>
          <p:cNvPr id="15" name="Text 11"/>
          <p:cNvSpPr/>
          <p:nvPr/>
        </p:nvSpPr>
        <p:spPr>
          <a:xfrm>
            <a:off x="3526384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26384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Snelheidsbonus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44672" y="45902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binnen 10 seconden goed antwoordt.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42152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5"/>
          <p:cNvSpPr/>
          <p:nvPr/>
        </p:nvSpPr>
        <p:spPr>
          <a:xfrm>
            <a:off x="7197700" y="2286000"/>
            <a:ext cx="694944" cy="694944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334" y="2473635"/>
            <a:ext cx="319674" cy="3196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25032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E3B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+5</a:t>
            </a:r>
            <a:endParaRPr lang="en-US" sz="5000" dirty="0"/>
          </a:p>
        </p:txBody>
      </p:sp>
      <p:sp>
        <p:nvSpPr>
          <p:cNvPr id="22" name="Text 17"/>
          <p:cNvSpPr/>
          <p:nvPr/>
        </p:nvSpPr>
        <p:spPr>
          <a:xfrm>
            <a:off x="6425032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25032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Eerste poging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43320" y="45902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het meteen in één keer goed hebt.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14080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Shape 21"/>
          <p:cNvSpPr/>
          <p:nvPr/>
        </p:nvSpPr>
        <p:spPr>
          <a:xfrm>
            <a:off x="10096348" y="2286000"/>
            <a:ext cx="694944" cy="694944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3982" y="2473635"/>
            <a:ext cx="319674" cy="3196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368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B5F7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5000" dirty="0"/>
          </a:p>
        </p:txBody>
      </p:sp>
      <p:sp>
        <p:nvSpPr>
          <p:cNvPr id="29" name="Text 23"/>
          <p:cNvSpPr/>
          <p:nvPr/>
        </p:nvSpPr>
        <p:spPr>
          <a:xfrm>
            <a:off x="932368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323680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 een nieuwe poging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341968" y="45902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 gehad en daarna goed? Dan 5 punten.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 </a:t>
            </a:r>
            <a:r>
              <a:rPr lang="en-US" sz="140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doorklikken of gokken levert weinig op. Wie de teksten echt leest, scoort het hoogst.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5F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005840"/>
            <a:ext cx="2011680" cy="2011680"/>
          </a:xfrm>
          <a:prstGeom prst="ellipse">
            <a:avLst/>
          </a:prstGeom>
          <a:solidFill>
            <a:srgbClr val="FBF7EC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20" y="1444752"/>
            <a:ext cx="1133856" cy="1133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Nu: stil zelfstandig werken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– 15 minuten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83768" y="50749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4"/>
          <p:cNvSpPr/>
          <p:nvPr/>
        </p:nvSpPr>
        <p:spPr>
          <a:xfrm>
            <a:off x="1121512" y="5349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96" y="54498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25016" y="5166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in stilte, ieder voor zich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49928" y="50749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7"/>
          <p:cNvSpPr/>
          <p:nvPr/>
        </p:nvSpPr>
        <p:spPr>
          <a:xfrm>
            <a:off x="4687672" y="5349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256" y="54498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91176" y="5166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je tocht af — zoveel haltes als je kunt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016088" y="50749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0"/>
          <p:cNvSpPr/>
          <p:nvPr/>
        </p:nvSpPr>
        <p:spPr>
          <a:xfrm>
            <a:off x="8253832" y="5349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416" y="54498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57336" y="5166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vraag? Steek je hand op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70043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332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5544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Beantwoord op papier voordat je de les verlaat — kort mag, hele zinnen.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4"/>
          <p:cNvSpPr/>
          <p:nvPr/>
        </p:nvSpPr>
        <p:spPr>
          <a:xfrm>
            <a:off x="1234440" y="2084832"/>
            <a:ext cx="768096" cy="768096"/>
          </a:xfrm>
          <a:prstGeom prst="ellipse">
            <a:avLst/>
          </a:prstGeom>
          <a:solidFill>
            <a:srgbClr val="8E3B3B"/>
          </a:solidFill>
          <a:ln/>
          <a:effectLst>
            <a:outerShdw blurRad="635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5"/>
          <p:cNvSpPr/>
          <p:nvPr/>
        </p:nvSpPr>
        <p:spPr>
          <a:xfrm>
            <a:off x="1234440" y="20665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286000" y="1984248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steden van de schatkaarttocht en vertel bij elke stad in één zin wat daar belangrijk gebeurde voor de vroege kerk.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195560" y="1947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8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ONTHOUDEN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14400" y="3374136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9"/>
          <p:cNvSpPr/>
          <p:nvPr/>
        </p:nvSpPr>
        <p:spPr>
          <a:xfrm>
            <a:off x="1234440" y="3675888"/>
            <a:ext cx="768096" cy="768096"/>
          </a:xfrm>
          <a:prstGeom prst="ellipse">
            <a:avLst/>
          </a:prstGeom>
          <a:solidFill>
            <a:srgbClr val="2B5F75"/>
          </a:solidFill>
          <a:ln/>
          <a:effectLst>
            <a:outerShdw blurRad="635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Text 10"/>
          <p:cNvSpPr/>
          <p:nvPr/>
        </p:nvSpPr>
        <p:spPr>
          <a:xfrm>
            <a:off x="1234440" y="3657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286000" y="3575304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uit waarom de kerk juist tijdens de vervolgingen bleef groeien. Gebruik de uitspraak van Tertullianus, of je eigen woorden.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19556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2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4400" y="4965192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BF7EC"/>
          </a:solidFill>
          <a:ln w="12700">
            <a:solidFill>
              <a:srgbClr val="EFE6C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4"/>
          <p:cNvSpPr/>
          <p:nvPr/>
        </p:nvSpPr>
        <p:spPr>
          <a:xfrm>
            <a:off x="1234440" y="5266944"/>
            <a:ext cx="768096" cy="768096"/>
          </a:xfrm>
          <a:prstGeom prst="ellipse">
            <a:avLst/>
          </a:prstGeom>
          <a:solidFill>
            <a:srgbClr val="B08C3F"/>
          </a:solidFill>
          <a:ln/>
          <a:effectLst>
            <a:outerShdw blurRad="635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5"/>
          <p:cNvSpPr/>
          <p:nvPr/>
        </p:nvSpPr>
        <p:spPr>
          <a:xfrm>
            <a:off x="1234440" y="524865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286000" y="5166360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het volgens jou goed of riskant dat keizer Constantijn de kerk ging steunen? Geef één argument voor je mening.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195560" y="5129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0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NADENKEN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Vroege Kerk · Levensbeschouwing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3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F4EC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Van een leeg graf...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B08C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...tot een geloof voor het hele rijk.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998568" y="3931920"/>
            <a:ext cx="2194560" cy="0"/>
          </a:xfrm>
          <a:prstGeom prst="line">
            <a:avLst/>
          </a:prstGeom>
          <a:noFill/>
          <a:ln w="19050">
            <a:solidFill>
              <a:srgbClr val="B08C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de volgende halte.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953</Words>
  <Application>Microsoft Office PowerPoint</Application>
  <PresentationFormat>Breedbeeld</PresentationFormat>
  <Paragraphs>108</Paragraphs>
  <Slides>9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Vroege Kerk — Mediterrane Schatkaarttocht</dc:title>
  <dc:subject>PptxGenJS Presentation</dc:subject>
  <dc:creator>Levensbeschouwing — Fons Vitae Lyceum</dc:creator>
  <cp:lastModifiedBy>Alexander de Jeger</cp:lastModifiedBy>
  <cp:revision>2</cp:revision>
  <dcterms:created xsi:type="dcterms:W3CDTF">2026-06-24T13:16:13Z</dcterms:created>
  <dcterms:modified xsi:type="dcterms:W3CDTF">2026-06-24T13:24:13Z</dcterms:modified>
</cp:coreProperties>
</file>